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E"/>
                </a:solidFill>
                <a:latin typeface="Calibri"/>
              </a:defRPr>
            </a:pPr>
            <a:r>
              <a:rPr sz="1300" b="0" i="0" u="none" strike="noStrike">
                <a:solidFill>
                  <a:srgbClr val="16202E"/>
                </a:solidFill>
                <a:latin typeface="Calibri"/>
              </a:rPr>
              <a:t>Golden set — 16 cases, current build</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1E7B45"/>
            </a:solidFill>
            <a:effectLst/>
          </c:spPr>
          <c:invertIfNegative val="0"/>
          <c:dLbls>
            <c:numFmt formatCode="0%" sourceLinked="0"/>
            <c:txPr>
              <a:bodyPr/>
              <a:lstStyle/>
              <a:p>
                <a:pPr>
                  <a:defRPr b="0" i="0" strike="noStrike" sz="1000" u="none">
                    <a:solidFill>
                      <a:srgbClr val="16202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Task success</c:v>
                  </c:pt>
                  <c:pt idx="1">
                    <c:v>Safety</c:v>
                  </c:pt>
                  <c:pt idx="2">
                    <c:v>Groundedness</c:v>
                  </c:pt>
                  <c:pt idx="3">
                    <c:v>Efficiency</c:v>
                  </c:pt>
                </c:lvl>
              </c:multiLvlStrCache>
            </c:multiLvlStrRef>
          </c:cat>
          <c:val>
            <c:numRef>
              <c:f>Sheet1!$B$2:$B$5</c:f>
              <c:numCache>
                <c:formatCode>General</c:formatCode>
                <c:ptCount val="4"/>
                <c:pt idx="0">
                  <c:v>1</c:v>
                </c:pt>
                <c:pt idx="1">
                  <c:v>1</c:v>
                </c:pt>
                <c:pt idx="2">
                  <c:v>1</c:v>
                </c:pt>
                <c:pt idx="3">
                  <c:v>1</c:v>
                </c:pt>
              </c:numCache>
            </c:numRef>
          </c:val>
        </c:ser>
        <c:ser>
          <c:idx val="1"/>
          <c:order val="1"/>
          <c:tx>
            <c:strRef>
              <c:f>Sheet1!$C$1</c:f>
              <c:strCache>
                <c:ptCount val="1"/>
                <c:pt idx="0">
                  <c:v>Gate threshold</c:v>
                </c:pt>
              </c:strCache>
            </c:strRef>
          </c:tx>
          <c:spPr>
            <a:solidFill>
              <a:srgbClr val="C6D0DC"/>
            </a:solidFill>
            <a:effectLst/>
          </c:spPr>
          <c:invertIfNegative val="0"/>
          <c:dLbls>
            <c:numFmt formatCode="0%" sourceLinked="0"/>
            <c:txPr>
              <a:bodyPr/>
              <a:lstStyle/>
              <a:p>
                <a:pPr>
                  <a:defRPr b="0" i="0" strike="noStrike" sz="1000" u="none">
                    <a:solidFill>
                      <a:srgbClr val="16202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Task success</c:v>
                  </c:pt>
                  <c:pt idx="1">
                    <c:v>Safety</c:v>
                  </c:pt>
                  <c:pt idx="2">
                    <c:v>Groundedness</c:v>
                  </c:pt>
                  <c:pt idx="3">
                    <c:v>Efficiency</c:v>
                  </c:pt>
                </c:lvl>
              </c:multiLvlStrCache>
            </c:multiLvlStrRef>
          </c:cat>
          <c:val>
            <c:numRef>
              <c:f>Sheet1!$C$2:$C$5</c:f>
              <c:numCache>
                <c:formatCode>General</c:formatCode>
                <c:ptCount val="4"/>
                <c:pt idx="0">
                  <c:v>0.85</c:v>
                </c:pt>
                <c:pt idx="1">
                  <c:v>1</c:v>
                </c:pt>
                <c:pt idx="2">
                  <c:v>0.95</c:v>
                </c:pt>
                <c:pt idx="3">
                  <c:v>0.9</c:v>
                </c:pt>
              </c:numCache>
            </c:numRef>
          </c:val>
        </c:ser>
        <c:dLbls>
          <c:numFmt formatCode="0%" sourceLinked="0"/>
          <c:txPr>
            <a:bodyPr/>
            <a:lstStyle/>
            <a:p>
              <a:pPr>
                <a:defRPr b="0" i="0" strike="noStrike" sz="1000" u="none">
                  <a:solidFill>
                    <a:srgbClr val="16202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B80"/>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b"/>
        <c:majorGridlines>
          <c:spPr>
            <a:ln w="12700" cap="flat">
              <a:solidFill>
                <a:srgbClr val="EDF1F6"/>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B80"/>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5C6B8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6B80"/>
                </a:solidFill>
                <a:latin typeface="Calibri"/>
              </a:defRPr>
            </a:pPr>
            <a:r>
              <a:rPr sz="1200" b="0" i="0" u="none" strike="noStrike">
                <a:solidFill>
                  <a:srgbClr val="5C6B80"/>
                </a:solidFill>
                <a:latin typeface="Calibri"/>
              </a:rPr>
              <a:t>Illustrative — same traffic mix, levers applied in order</a:t>
            </a:r>
          </a:p>
        </c:rich>
      </c:tx>
      <c:layout/>
      <c:overlay val="0"/>
    </c:title>
    <c:autoTitleDeleted val="0"/>
    <c:plotArea>
      <c:layout/>
      <c:barChart>
        <c:barDir val="col"/>
        <c:grouping val="clustered"/>
        <c:varyColors val="0"/>
        <c:ser>
          <c:idx val="0"/>
          <c:order val="0"/>
          <c:tx>
            <c:strRef>
              <c:f>Sheet1!$B$1</c:f>
              <c:strCache>
                <c:ptCount val="1"/>
                <c:pt idx="0">
                  <c:v>Cost per 1,000 turns (USD)</c:v>
                </c:pt>
              </c:strCache>
            </c:strRef>
          </c:tx>
          <c:spPr>
            <a:solidFill>
              <a:srgbClr val="E2001A"/>
            </a:solidFill>
            <a:effectLst/>
          </c:spPr>
          <c:invertIfNegative val="0"/>
          <c:dLbls>
            <c:numFmt formatCode="&quot;$&quot;0.0" sourceLinked="0"/>
            <c:txPr>
              <a:bodyPr/>
              <a:lstStyle/>
              <a:p>
                <a:pPr>
                  <a:defRPr b="0" i="0" strike="noStrike" sz="1100" u="none">
                    <a:solidFill>
                      <a:srgbClr val="16202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No levers</c:v>
                  </c:pt>
                  <c:pt idx="1">
                    <c:v>+ tier routing</c:v>
                  </c:pt>
                  <c:pt idx="2">
                    <c:v>+ semantic cache</c:v>
                  </c:pt>
                  <c:pt idx="3">
                    <c:v>+ bounded context</c:v>
                  </c:pt>
                </c:lvl>
              </c:multiLvlStrCache>
            </c:multiLvlStrRef>
          </c:cat>
          <c:val>
            <c:numRef>
              <c:f>Sheet1!$B$2:$B$5</c:f>
              <c:numCache>
                <c:formatCode>General</c:formatCode>
                <c:ptCount val="4"/>
                <c:pt idx="0">
                  <c:v>28</c:v>
                </c:pt>
                <c:pt idx="1">
                  <c:v>12.4</c:v>
                </c:pt>
                <c:pt idx="2">
                  <c:v>8.6</c:v>
                </c:pt>
                <c:pt idx="3">
                  <c:v>7.1</c:v>
                </c:pt>
              </c:numCache>
            </c:numRef>
          </c:val>
        </c:ser>
        <c:dLbls>
          <c:numFmt formatCode="&quot;$&quot;0.0" sourceLinked="0"/>
          <c:txPr>
            <a:bodyPr/>
            <a:lstStyle/>
            <a:p>
              <a:pPr>
                <a:defRPr b="0" i="0" strike="noStrike" sz="1100" u="none">
                  <a:solidFill>
                    <a:srgbClr val="16202E"/>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C6B80"/>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12700" cap="flat">
              <a:solidFill>
                <a:srgbClr val="EDF1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80"/>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 built a working reference implementation rather than a slide deck about one. Everything here runs — the agent, the gateway routing, the guardrails, the eval gate, the Terraform. This deck walks the production lifecycle and names what each tool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AI sprawl is not caused by bad engineers. It is caused by the absence of a place where these concerns can be solved once. That is what the platform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clauses, three audiences. Deliberately says nothing about a model, a framework or a vendor — those change, the promise should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is the argument. Budget before guardrails, because a tenant over budget should not cost us CPU. Guardrails before the model, because an output-only guardrail already lost. Approval before the side effect, not after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phases. Each of the next slides answers one question: what tool, doing what job, and what breaks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platform-team job in onboarding is one review with a one-day SLA, not a project. Onboarding the tenth team must cost what the second cost — that is the test of whether this is a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Build/buy: LiteLLM because it is open source (no lock-in on the most load-bearing component), genuinely multi-provider, has virtual keys and spend tracking built in, and self-hosts inside our VNet — which for Art. 9 health data is a requirement, not a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routing decision you cannot explain is one you cannot debug, and cannot defend in a cost review. The playground renders this reason chain on every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scorer families matching the four ways a turn goes wrong. Cases come from: intended happy paths, adversarial writing, sampled production traffic, and past incidents.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 prompt injection is the hard one — the malicious text arrives inside a tool result. There is no complete defence, so the strategy is layered: detect, treat tool output as data, and constrain the agent so a successful injection has nowhere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Azure Storage with blob leasing, one container per environment, private endpoint only, versioning and soft delete. Secret values never enter state — the module creates the slot and ignores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Entra ID checks the OIDC subject exactly — a different branch, environment or fork does not match and is rejected before any Azure call. Getting that wrong with a wildcard is how a fork gets production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Redaction happens at the OTel collector, not in each service — prompts and completions can contain health data and a trace backend is not an approved store for it. Doing it at the collector means the guarantee holds for every service that exports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SLO without an error budget is a wish. Guardrail coverage is the one hard objective with a zero budget, and it is achievable because it is a property of the code path rather than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GDPR alongside: Art. 9 special-category data, lawful basis 6(1)(b) and 9(2)(h), EU-only residency enforced twice — a Terraform variable validation and an OPA policy — redaction before the call, and split retention: transcripts 90 days, audit 7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OWASP LLM risks I would spend real effort on: prompt injection (especially indirect, arriving inside a tool result), excessive agency, and sensitive information disclosure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reflex I would resist in a cost incident is 'move everyone to a cheaper model'. That trades a cost problem you can see for a quality problem you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connect because they are not nine concerns. They are nine views of one question: can we trust this system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enforcement first: because you cannot make the safe path fast until you know what safe costs, and you cannot measure quality on traffic you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the demo: ten minutes in the playground — ask the agent something, watch a guardrail block an injection, approve a pharmacist handover, run the eval gate. Seeing the control work does more than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A"/>
        </a:solidFill>
      </p:bgPr>
    </p:bg>
    <p:spTree>
      <p:nvGrpSpPr>
        <p:cNvPr id="1" name=""/>
        <p:cNvGrpSpPr/>
        <p:nvPr/>
      </p:nvGrpSpPr>
      <p:grpSpPr>
        <a:xfrm>
          <a:off x="0" y="0"/>
          <a:ext cx="0" cy="0"/>
          <a:chOff x="0" y="0"/>
          <a:chExt cx="0" cy="0"/>
        </a:xfrm>
      </p:grpSpPr>
      <p:sp>
        <p:nvSpPr>
          <p:cNvPr id="2" name="Shape 0"/>
          <p:cNvSpPr/>
          <p:nvPr/>
        </p:nvSpPr>
        <p:spPr>
          <a:xfrm>
            <a:off x="10789920" y="1691640"/>
            <a:ext cx="0" cy="3657600"/>
          </a:xfrm>
          <a:prstGeom prst="line">
            <a:avLst/>
          </a:prstGeom>
          <a:noFill/>
          <a:ln w="12700">
            <a:solidFill>
              <a:srgbClr val="2B3547"/>
            </a:solidFill>
            <a:prstDash val="solid"/>
          </a:ln>
        </p:spPr>
      </p:sp>
      <p:sp>
        <p:nvSpPr>
          <p:cNvPr id="3" name="Shape 1"/>
          <p:cNvSpPr/>
          <p:nvPr/>
        </p:nvSpPr>
        <p:spPr>
          <a:xfrm>
            <a:off x="10561320" y="1234440"/>
            <a:ext cx="457200" cy="457200"/>
          </a:xfrm>
          <a:prstGeom prst="ellipse">
            <a:avLst/>
          </a:prstGeom>
          <a:solidFill>
            <a:srgbClr val="E2001A"/>
          </a:solidFill>
          <a:ln w="12700">
            <a:solidFill>
              <a:srgbClr val="E2001A"/>
            </a:solidFill>
            <a:prstDash val="solid"/>
          </a:ln>
        </p:spPr>
      </p:sp>
      <p:sp>
        <p:nvSpPr>
          <p:cNvPr id="4" name="Text 2"/>
          <p:cNvSpPr/>
          <p:nvPr/>
        </p:nvSpPr>
        <p:spPr>
          <a:xfrm>
            <a:off x="1056132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Shape 3"/>
          <p:cNvSpPr/>
          <p:nvPr/>
        </p:nvSpPr>
        <p:spPr>
          <a:xfrm>
            <a:off x="10561320" y="1947672"/>
            <a:ext cx="457200" cy="457200"/>
          </a:xfrm>
          <a:prstGeom prst="ellipse">
            <a:avLst/>
          </a:prstGeom>
          <a:solidFill>
            <a:srgbClr val="1B2230"/>
          </a:solidFill>
          <a:ln w="12700">
            <a:solidFill>
              <a:srgbClr val="1B2230"/>
            </a:solidFill>
            <a:prstDash val="solid"/>
          </a:ln>
        </p:spPr>
      </p:sp>
      <p:sp>
        <p:nvSpPr>
          <p:cNvPr id="6" name="Text 4"/>
          <p:cNvSpPr/>
          <p:nvPr/>
        </p:nvSpPr>
        <p:spPr>
          <a:xfrm>
            <a:off x="10561320" y="1947672"/>
            <a:ext cx="457200" cy="457200"/>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2</a:t>
            </a:r>
            <a:endParaRPr lang="en-US" sz="1300" dirty="0"/>
          </a:p>
        </p:txBody>
      </p:sp>
      <p:sp>
        <p:nvSpPr>
          <p:cNvPr id="7" name="Shape 5"/>
          <p:cNvSpPr/>
          <p:nvPr/>
        </p:nvSpPr>
        <p:spPr>
          <a:xfrm>
            <a:off x="10561320" y="2660904"/>
            <a:ext cx="457200" cy="457200"/>
          </a:xfrm>
          <a:prstGeom prst="ellipse">
            <a:avLst/>
          </a:prstGeom>
          <a:solidFill>
            <a:srgbClr val="1B2230"/>
          </a:solidFill>
          <a:ln w="12700">
            <a:solidFill>
              <a:srgbClr val="1B2230"/>
            </a:solidFill>
            <a:prstDash val="solid"/>
          </a:ln>
        </p:spPr>
      </p:sp>
      <p:sp>
        <p:nvSpPr>
          <p:cNvPr id="8" name="Text 6"/>
          <p:cNvSpPr/>
          <p:nvPr/>
        </p:nvSpPr>
        <p:spPr>
          <a:xfrm>
            <a:off x="10561320" y="2660904"/>
            <a:ext cx="457200" cy="457200"/>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3</a:t>
            </a:r>
            <a:endParaRPr lang="en-US" sz="1300" dirty="0"/>
          </a:p>
        </p:txBody>
      </p:sp>
      <p:sp>
        <p:nvSpPr>
          <p:cNvPr id="9" name="Shape 7"/>
          <p:cNvSpPr/>
          <p:nvPr/>
        </p:nvSpPr>
        <p:spPr>
          <a:xfrm>
            <a:off x="10561320" y="3374136"/>
            <a:ext cx="457200" cy="457200"/>
          </a:xfrm>
          <a:prstGeom prst="ellipse">
            <a:avLst/>
          </a:prstGeom>
          <a:solidFill>
            <a:srgbClr val="1B2230"/>
          </a:solidFill>
          <a:ln w="12700">
            <a:solidFill>
              <a:srgbClr val="1B2230"/>
            </a:solidFill>
            <a:prstDash val="solid"/>
          </a:ln>
        </p:spPr>
      </p:sp>
      <p:sp>
        <p:nvSpPr>
          <p:cNvPr id="10" name="Text 8"/>
          <p:cNvSpPr/>
          <p:nvPr/>
        </p:nvSpPr>
        <p:spPr>
          <a:xfrm>
            <a:off x="10561320" y="3374136"/>
            <a:ext cx="457200" cy="457200"/>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4</a:t>
            </a:r>
            <a:endParaRPr lang="en-US" sz="1300" dirty="0"/>
          </a:p>
        </p:txBody>
      </p:sp>
      <p:sp>
        <p:nvSpPr>
          <p:cNvPr id="11" name="Shape 9"/>
          <p:cNvSpPr/>
          <p:nvPr/>
        </p:nvSpPr>
        <p:spPr>
          <a:xfrm>
            <a:off x="10561320" y="4087368"/>
            <a:ext cx="457200" cy="457200"/>
          </a:xfrm>
          <a:prstGeom prst="ellipse">
            <a:avLst/>
          </a:prstGeom>
          <a:solidFill>
            <a:srgbClr val="1B2230"/>
          </a:solidFill>
          <a:ln w="12700">
            <a:solidFill>
              <a:srgbClr val="1B2230"/>
            </a:solidFill>
            <a:prstDash val="solid"/>
          </a:ln>
        </p:spPr>
      </p:sp>
      <p:sp>
        <p:nvSpPr>
          <p:cNvPr id="12" name="Text 10"/>
          <p:cNvSpPr/>
          <p:nvPr/>
        </p:nvSpPr>
        <p:spPr>
          <a:xfrm>
            <a:off x="10561320" y="4087368"/>
            <a:ext cx="457200" cy="457200"/>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5</a:t>
            </a:r>
            <a:endParaRPr lang="en-US" sz="1300" dirty="0"/>
          </a:p>
        </p:txBody>
      </p:sp>
      <p:sp>
        <p:nvSpPr>
          <p:cNvPr id="13" name="Shape 11"/>
          <p:cNvSpPr/>
          <p:nvPr/>
        </p:nvSpPr>
        <p:spPr>
          <a:xfrm>
            <a:off x="10561320" y="4800600"/>
            <a:ext cx="457200" cy="457200"/>
          </a:xfrm>
          <a:prstGeom prst="ellipse">
            <a:avLst/>
          </a:prstGeom>
          <a:solidFill>
            <a:srgbClr val="1B2230"/>
          </a:solidFill>
          <a:ln w="12700">
            <a:solidFill>
              <a:srgbClr val="1B2230"/>
            </a:solidFill>
            <a:prstDash val="solid"/>
          </a:ln>
        </p:spPr>
      </p:sp>
      <p:sp>
        <p:nvSpPr>
          <p:cNvPr id="14" name="Text 12"/>
          <p:cNvSpPr/>
          <p:nvPr/>
        </p:nvSpPr>
        <p:spPr>
          <a:xfrm>
            <a:off x="10561320" y="4800600"/>
            <a:ext cx="457200" cy="457200"/>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6</a:t>
            </a:r>
            <a:endParaRPr lang="en-US" sz="1300" dirty="0"/>
          </a:p>
        </p:txBody>
      </p:sp>
      <p:sp>
        <p:nvSpPr>
          <p:cNvPr id="15" name="Text 13"/>
          <p:cNvSpPr/>
          <p:nvPr/>
        </p:nvSpPr>
        <p:spPr>
          <a:xfrm>
            <a:off x="594360" y="1371600"/>
            <a:ext cx="7315200" cy="274320"/>
          </a:xfrm>
          <a:prstGeom prst="rect">
            <a:avLst/>
          </a:prstGeom>
          <a:noFill/>
          <a:ln/>
        </p:spPr>
        <p:txBody>
          <a:bodyPr wrap="square" lIns="0" tIns="0" rIns="0" bIns="0" rtlCol="0" anchor="ctr"/>
          <a:lstStyle/>
          <a:p>
            <a:pPr indent="0" marL="0">
              <a:buNone/>
            </a:pPr>
            <a:r>
              <a:rPr lang="en-US" sz="1200" b="1" spc="300" kern="0" dirty="0">
                <a:solidFill>
                  <a:srgbClr val="E2001A"/>
                </a:solidFill>
                <a:latin typeface="Calibri" pitchFamily="34" charset="0"/>
                <a:ea typeface="Calibri" pitchFamily="34" charset="-122"/>
                <a:cs typeface="Calibri" pitchFamily="34" charset="-120"/>
              </a:rPr>
              <a:t>REDCARE PHARMACY</a:t>
            </a:r>
            <a:endParaRPr lang="en-US" sz="1200" dirty="0"/>
          </a:p>
        </p:txBody>
      </p:sp>
      <p:sp>
        <p:nvSpPr>
          <p:cNvPr id="16" name="Text 14"/>
          <p:cNvSpPr/>
          <p:nvPr/>
        </p:nvSpPr>
        <p:spPr>
          <a:xfrm>
            <a:off x="594360" y="1783080"/>
            <a:ext cx="91440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The Agentic AI Platform</a:t>
            </a:r>
            <a:endParaRPr lang="en-US" sz="5000" dirty="0"/>
          </a:p>
        </p:txBody>
      </p:sp>
      <p:sp>
        <p:nvSpPr>
          <p:cNvPr id="17" name="Text 15"/>
          <p:cNvSpPr/>
          <p:nvPr/>
        </p:nvSpPr>
        <p:spPr>
          <a:xfrm>
            <a:off x="594360" y="2788920"/>
            <a:ext cx="8412480" cy="822960"/>
          </a:xfrm>
          <a:prstGeom prst="rect">
            <a:avLst/>
          </a:prstGeom>
          <a:noFill/>
          <a:ln/>
        </p:spPr>
        <p:txBody>
          <a:bodyPr wrap="square" lIns="0" tIns="0" rIns="0" bIns="0" rtlCol="0" anchor="ctr"/>
          <a:lstStyle/>
          <a:p>
            <a:pPr indent="0" marL="0">
              <a:lnSpc>
                <a:spcPts val="2600"/>
              </a:lnSpc>
              <a:buNone/>
            </a:pPr>
            <a:r>
              <a:rPr lang="en-US" sz="1700" dirty="0">
                <a:solidFill>
                  <a:srgbClr val="9BAABF"/>
                </a:solidFill>
                <a:latin typeface="Calibri" pitchFamily="34" charset="0"/>
                <a:ea typeface="Calibri" pitchFamily="34" charset="-122"/>
                <a:cs typeface="Calibri" pitchFamily="34" charset="-120"/>
              </a:rPr>
              <a:t>Every tool in the stack, and the job it actually does —</a:t>
            </a:r>
            <a:endParaRPr lang="en-US" sz="1700" dirty="0"/>
          </a:p>
          <a:p>
            <a:pPr indent="0" marL="0">
              <a:lnSpc>
                <a:spcPts val="2600"/>
              </a:lnSpc>
              <a:buNone/>
            </a:pPr>
            <a:r>
              <a:rPr lang="en-US" sz="1700" dirty="0">
                <a:solidFill>
                  <a:srgbClr val="9BAABF"/>
                </a:solidFill>
                <a:latin typeface="Calibri" pitchFamily="34" charset="0"/>
                <a:ea typeface="Calibri" pitchFamily="34" charset="-122"/>
                <a:cs typeface="Calibri" pitchFamily="34" charset="-120"/>
              </a:rPr>
              <a:t>from an empty repository to a governed production system.</a:t>
            </a:r>
            <a:endParaRPr lang="en-US" sz="1700" dirty="0"/>
          </a:p>
        </p:txBody>
      </p:sp>
      <p:sp>
        <p:nvSpPr>
          <p:cNvPr id="18" name="Text 16"/>
          <p:cNvSpPr/>
          <p:nvPr/>
        </p:nvSpPr>
        <p:spPr>
          <a:xfrm>
            <a:off x="594360" y="3977640"/>
            <a:ext cx="137160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19" name="Text 17"/>
          <p:cNvSpPr/>
          <p:nvPr/>
        </p:nvSpPr>
        <p:spPr>
          <a:xfrm>
            <a:off x="1892808" y="3977640"/>
            <a:ext cx="256032" cy="310896"/>
          </a:xfrm>
          <a:prstGeom prst="rect">
            <a:avLst/>
          </a:prstGeom>
          <a:noFill/>
          <a:ln/>
        </p:spPr>
        <p:txBody>
          <a:bodyPr wrap="square" lIns="0" tIns="0" rIns="0" bIns="0" rtlCol="0" anchor="ctr"/>
          <a:lstStyle/>
          <a:p>
            <a:pPr algn="ctr" indent="0" marL="0">
              <a:buNone/>
            </a:pPr>
            <a:r>
              <a:rPr lang="en-US" sz="1300" dirty="0">
                <a:solidFill>
                  <a:srgbClr val="2B3547"/>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2075688" y="3977640"/>
            <a:ext cx="1371600" cy="310896"/>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Prove</a:t>
            </a:r>
            <a:endParaRPr lang="en-US" sz="1300" dirty="0"/>
          </a:p>
        </p:txBody>
      </p:sp>
      <p:sp>
        <p:nvSpPr>
          <p:cNvPr id="21" name="Text 19"/>
          <p:cNvSpPr/>
          <p:nvPr/>
        </p:nvSpPr>
        <p:spPr>
          <a:xfrm>
            <a:off x="3374136" y="3977640"/>
            <a:ext cx="256032" cy="310896"/>
          </a:xfrm>
          <a:prstGeom prst="rect">
            <a:avLst/>
          </a:prstGeom>
          <a:noFill/>
          <a:ln/>
        </p:spPr>
        <p:txBody>
          <a:bodyPr wrap="square" lIns="0" tIns="0" rIns="0" bIns="0" rtlCol="0" anchor="ctr"/>
          <a:lstStyle/>
          <a:p>
            <a:pPr algn="ctr" indent="0" marL="0">
              <a:buNone/>
            </a:pPr>
            <a:r>
              <a:rPr lang="en-US" sz="1300" dirty="0">
                <a:solidFill>
                  <a:srgbClr val="2B3547"/>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3557016" y="3977640"/>
            <a:ext cx="1371600" cy="310896"/>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Ship</a:t>
            </a:r>
            <a:endParaRPr lang="en-US" sz="1300" dirty="0"/>
          </a:p>
        </p:txBody>
      </p:sp>
      <p:sp>
        <p:nvSpPr>
          <p:cNvPr id="23" name="Text 21"/>
          <p:cNvSpPr/>
          <p:nvPr/>
        </p:nvSpPr>
        <p:spPr>
          <a:xfrm>
            <a:off x="4855464" y="3977640"/>
            <a:ext cx="256032" cy="310896"/>
          </a:xfrm>
          <a:prstGeom prst="rect">
            <a:avLst/>
          </a:prstGeom>
          <a:noFill/>
          <a:ln/>
        </p:spPr>
        <p:txBody>
          <a:bodyPr wrap="square" lIns="0" tIns="0" rIns="0" bIns="0" rtlCol="0" anchor="ctr"/>
          <a:lstStyle/>
          <a:p>
            <a:pPr algn="ctr" indent="0" marL="0">
              <a:buNone/>
            </a:pPr>
            <a:r>
              <a:rPr lang="en-US" sz="1300" dirty="0">
                <a:solidFill>
                  <a:srgbClr val="2B3547"/>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038344" y="3977640"/>
            <a:ext cx="1371600" cy="310896"/>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Run</a:t>
            </a:r>
            <a:endParaRPr lang="en-US" sz="1300" dirty="0"/>
          </a:p>
        </p:txBody>
      </p:sp>
      <p:sp>
        <p:nvSpPr>
          <p:cNvPr id="25" name="Text 23"/>
          <p:cNvSpPr/>
          <p:nvPr/>
        </p:nvSpPr>
        <p:spPr>
          <a:xfrm>
            <a:off x="6336792" y="3977640"/>
            <a:ext cx="256032" cy="310896"/>
          </a:xfrm>
          <a:prstGeom prst="rect">
            <a:avLst/>
          </a:prstGeom>
          <a:noFill/>
          <a:ln/>
        </p:spPr>
        <p:txBody>
          <a:bodyPr wrap="square" lIns="0" tIns="0" rIns="0" bIns="0" rtlCol="0" anchor="ctr"/>
          <a:lstStyle/>
          <a:p>
            <a:pPr algn="ctr" indent="0" marL="0">
              <a:buNone/>
            </a:pPr>
            <a:r>
              <a:rPr lang="en-US" sz="1300" dirty="0">
                <a:solidFill>
                  <a:srgbClr val="2B3547"/>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6519672" y="3977640"/>
            <a:ext cx="1371600" cy="310896"/>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Govern</a:t>
            </a:r>
            <a:endParaRPr lang="en-US" sz="1300" dirty="0"/>
          </a:p>
        </p:txBody>
      </p:sp>
      <p:sp>
        <p:nvSpPr>
          <p:cNvPr id="27" name="Text 25"/>
          <p:cNvSpPr/>
          <p:nvPr/>
        </p:nvSpPr>
        <p:spPr>
          <a:xfrm>
            <a:off x="7818120" y="3977640"/>
            <a:ext cx="256032" cy="310896"/>
          </a:xfrm>
          <a:prstGeom prst="rect">
            <a:avLst/>
          </a:prstGeom>
          <a:noFill/>
          <a:ln/>
        </p:spPr>
        <p:txBody>
          <a:bodyPr wrap="square" lIns="0" tIns="0" rIns="0" bIns="0" rtlCol="0" anchor="ctr"/>
          <a:lstStyle/>
          <a:p>
            <a:pPr algn="ctr" indent="0" marL="0">
              <a:buNone/>
            </a:pPr>
            <a:r>
              <a:rPr lang="en-US" sz="1300" dirty="0">
                <a:solidFill>
                  <a:srgbClr val="2B3547"/>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8001000" y="3977640"/>
            <a:ext cx="1371600" cy="310896"/>
          </a:xfrm>
          <a:prstGeom prst="rect">
            <a:avLst/>
          </a:prstGeom>
          <a:noFill/>
          <a:ln/>
        </p:spPr>
        <p:txBody>
          <a:bodyPr wrap="square" lIns="0" tIns="0" rIns="0" bIns="0" rtlCol="0" anchor="ctr"/>
          <a:lstStyle/>
          <a:p>
            <a:pPr algn="ctr" indent="0" marL="0">
              <a:buNone/>
            </a:pPr>
            <a:r>
              <a:rPr lang="en-US" sz="1300" b="1" dirty="0">
                <a:solidFill>
                  <a:srgbClr val="9BAABF"/>
                </a:solidFill>
                <a:latin typeface="Calibri" pitchFamily="34" charset="0"/>
                <a:ea typeface="Calibri" pitchFamily="34" charset="-122"/>
                <a:cs typeface="Calibri" pitchFamily="34" charset="-120"/>
              </a:rPr>
              <a:t>Pay</a:t>
            </a:r>
            <a:endParaRPr lang="en-US" sz="1300" dirty="0"/>
          </a:p>
        </p:txBody>
      </p:sp>
      <p:sp>
        <p:nvSpPr>
          <p:cNvPr id="29" name="Shape 27"/>
          <p:cNvSpPr/>
          <p:nvPr/>
        </p:nvSpPr>
        <p:spPr>
          <a:xfrm>
            <a:off x="594360" y="3913632"/>
            <a:ext cx="8503920" cy="0"/>
          </a:xfrm>
          <a:prstGeom prst="line">
            <a:avLst/>
          </a:prstGeom>
          <a:noFill/>
          <a:ln w="12700">
            <a:solidFill>
              <a:srgbClr val="2B3547"/>
            </a:solidFill>
            <a:prstDash val="solid"/>
          </a:ln>
        </p:spPr>
      </p:sp>
      <p:sp>
        <p:nvSpPr>
          <p:cNvPr id="30" name="Text 28"/>
          <p:cNvSpPr/>
          <p:nvPr/>
        </p:nvSpPr>
        <p:spPr>
          <a:xfrm>
            <a:off x="594360" y="5394960"/>
            <a:ext cx="950976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Azure Cloud</a:t>
            </a:r>
            <a:pPr indent="0" marL="0">
              <a:buNone/>
            </a:pPr>
            <a:r>
              <a:rPr lang="en-US" sz="1300" dirty="0">
                <a:solidFill>
                  <a:srgbClr val="9BAABF"/>
                </a:solidFill>
                <a:latin typeface="Calibri" pitchFamily="34" charset="0"/>
                <a:ea typeface="Calibri" pitchFamily="34" charset="-122"/>
                <a:cs typeface="Calibri" pitchFamily="34" charset="-120"/>
              </a:rPr>
              <a:t>  ·  LiteLLM / AI Gateway  ·  Terraform  ·  GitHub Actions  ·  OpenTelemetry  ·  MLOps &amp; LLMOps</a:t>
            </a:r>
            <a:endParaRPr lang="en-US" sz="1300" dirty="0"/>
          </a:p>
        </p:txBody>
      </p:sp>
      <p:sp>
        <p:nvSpPr>
          <p:cNvPr id="31" name="Text 29"/>
          <p:cNvSpPr/>
          <p:nvPr/>
        </p:nvSpPr>
        <p:spPr>
          <a:xfrm>
            <a:off x="594360" y="5779008"/>
            <a:ext cx="7315200" cy="274320"/>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Mehreen Himani  ·  Technical round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WHY A PLATFORM</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Six months of AI with no platform</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Every team should use AI, and nobody built a place to do it. Each symptom below is a platform problem wearing a model problem's clothes.</a:t>
            </a:r>
            <a:endParaRPr lang="en-US" sz="1350" dirty="0"/>
          </a:p>
        </p:txBody>
      </p:sp>
      <p:sp>
        <p:nvSpPr>
          <p:cNvPr id="5" name="Shape 3"/>
          <p:cNvSpPr/>
          <p:nvPr/>
        </p:nvSpPr>
        <p:spPr>
          <a:xfrm>
            <a:off x="594360" y="1874520"/>
            <a:ext cx="5349240" cy="969264"/>
          </a:xfrm>
          <a:prstGeom prst="roundRect">
            <a:avLst>
              <a:gd name="adj" fmla="val 6604"/>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6" name="Shape 4"/>
          <p:cNvSpPr/>
          <p:nvPr/>
        </p:nvSpPr>
        <p:spPr>
          <a:xfrm>
            <a:off x="813816" y="2148840"/>
            <a:ext cx="365760" cy="365760"/>
          </a:xfrm>
          <a:prstGeom prst="ellipse">
            <a:avLst/>
          </a:prstGeom>
          <a:solidFill>
            <a:srgbClr val="E2001A"/>
          </a:solidFill>
          <a:ln w="12700">
            <a:solidFill>
              <a:srgbClr val="E2001A"/>
            </a:solidFill>
            <a:prstDash val="solid"/>
          </a:ln>
        </p:spPr>
      </p:sp>
      <p:sp>
        <p:nvSpPr>
          <p:cNvPr id="7" name="Text 5"/>
          <p:cNvSpPr/>
          <p:nvPr/>
        </p:nvSpPr>
        <p:spPr>
          <a:xfrm>
            <a:off x="813816"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1307592" y="2020824"/>
            <a:ext cx="4480560" cy="329184"/>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Provider keys in four repos</a:t>
            </a:r>
            <a:endParaRPr lang="en-US" sz="1400" dirty="0"/>
          </a:p>
        </p:txBody>
      </p:sp>
      <p:sp>
        <p:nvSpPr>
          <p:cNvPr id="9" name="Text 7"/>
          <p:cNvSpPr/>
          <p:nvPr/>
        </p:nvSpPr>
        <p:spPr>
          <a:xfrm>
            <a:off x="1307592" y="2377440"/>
            <a:ext cx="4480560" cy="310896"/>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No central place to get model access</a:t>
            </a:r>
            <a:endParaRPr lang="en-US" sz="1200" dirty="0"/>
          </a:p>
        </p:txBody>
      </p:sp>
      <p:sp>
        <p:nvSpPr>
          <p:cNvPr id="10" name="Shape 8"/>
          <p:cNvSpPr/>
          <p:nvPr/>
        </p:nvSpPr>
        <p:spPr>
          <a:xfrm>
            <a:off x="6217920" y="1874520"/>
            <a:ext cx="5349240" cy="969264"/>
          </a:xfrm>
          <a:prstGeom prst="roundRect">
            <a:avLst>
              <a:gd name="adj" fmla="val 6604"/>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11" name="Shape 9"/>
          <p:cNvSpPr/>
          <p:nvPr/>
        </p:nvSpPr>
        <p:spPr>
          <a:xfrm>
            <a:off x="6437376" y="2148840"/>
            <a:ext cx="365760" cy="365760"/>
          </a:xfrm>
          <a:prstGeom prst="ellipse">
            <a:avLst/>
          </a:prstGeom>
          <a:solidFill>
            <a:srgbClr val="E2001A"/>
          </a:solidFill>
          <a:ln w="12700">
            <a:solidFill>
              <a:srgbClr val="E2001A"/>
            </a:solidFill>
            <a:prstDash val="solid"/>
          </a:ln>
        </p:spPr>
      </p:sp>
      <p:sp>
        <p:nvSpPr>
          <p:cNvPr id="12" name="Text 10"/>
          <p:cNvSpPr/>
          <p:nvPr/>
        </p:nvSpPr>
        <p:spPr>
          <a:xfrm>
            <a:off x="6437376"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6931152" y="2020824"/>
            <a:ext cx="4480560" cy="329184"/>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An invoice nobody can explain</a:t>
            </a:r>
            <a:endParaRPr lang="en-US" sz="1400" dirty="0"/>
          </a:p>
        </p:txBody>
      </p:sp>
      <p:sp>
        <p:nvSpPr>
          <p:cNvPr id="14" name="Text 12"/>
          <p:cNvSpPr/>
          <p:nvPr/>
        </p:nvSpPr>
        <p:spPr>
          <a:xfrm>
            <a:off x="6931152" y="2377440"/>
            <a:ext cx="4480560" cy="310896"/>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No per-team cost attribution</a:t>
            </a:r>
            <a:endParaRPr lang="en-US" sz="1200" dirty="0"/>
          </a:p>
        </p:txBody>
      </p:sp>
      <p:sp>
        <p:nvSpPr>
          <p:cNvPr id="15" name="Shape 13"/>
          <p:cNvSpPr/>
          <p:nvPr/>
        </p:nvSpPr>
        <p:spPr>
          <a:xfrm>
            <a:off x="594360" y="3044952"/>
            <a:ext cx="5349240" cy="969264"/>
          </a:xfrm>
          <a:prstGeom prst="roundRect">
            <a:avLst>
              <a:gd name="adj" fmla="val 6604"/>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16" name="Shape 14"/>
          <p:cNvSpPr/>
          <p:nvPr/>
        </p:nvSpPr>
        <p:spPr>
          <a:xfrm>
            <a:off x="813816" y="3319272"/>
            <a:ext cx="365760" cy="365760"/>
          </a:xfrm>
          <a:prstGeom prst="ellipse">
            <a:avLst/>
          </a:prstGeom>
          <a:solidFill>
            <a:srgbClr val="E2001A"/>
          </a:solidFill>
          <a:ln w="12700">
            <a:solidFill>
              <a:srgbClr val="E2001A"/>
            </a:solidFill>
            <a:prstDash val="solid"/>
          </a:ln>
        </p:spPr>
      </p:sp>
      <p:sp>
        <p:nvSpPr>
          <p:cNvPr id="17" name="Text 15"/>
          <p:cNvSpPr/>
          <p:nvPr/>
        </p:nvSpPr>
        <p:spPr>
          <a:xfrm>
            <a:off x="813816"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307592" y="3191256"/>
            <a:ext cx="4480560" cy="329184"/>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One team's spike throttles everyone</a:t>
            </a:r>
            <a:endParaRPr lang="en-US" sz="1400" dirty="0"/>
          </a:p>
        </p:txBody>
      </p:sp>
      <p:sp>
        <p:nvSpPr>
          <p:cNvPr id="19" name="Text 17"/>
          <p:cNvSpPr/>
          <p:nvPr/>
        </p:nvSpPr>
        <p:spPr>
          <a:xfrm>
            <a:off x="1307592" y="3547872"/>
            <a:ext cx="4480560" cy="310896"/>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No per-tenant rate limits</a:t>
            </a:r>
            <a:endParaRPr lang="en-US" sz="1200" dirty="0"/>
          </a:p>
        </p:txBody>
      </p:sp>
      <p:sp>
        <p:nvSpPr>
          <p:cNvPr id="20" name="Shape 18"/>
          <p:cNvSpPr/>
          <p:nvPr/>
        </p:nvSpPr>
        <p:spPr>
          <a:xfrm>
            <a:off x="6217920" y="3044952"/>
            <a:ext cx="5349240" cy="969264"/>
          </a:xfrm>
          <a:prstGeom prst="roundRect">
            <a:avLst>
              <a:gd name="adj" fmla="val 6604"/>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1" name="Shape 19"/>
          <p:cNvSpPr/>
          <p:nvPr/>
        </p:nvSpPr>
        <p:spPr>
          <a:xfrm>
            <a:off x="6437376" y="3319272"/>
            <a:ext cx="365760" cy="365760"/>
          </a:xfrm>
          <a:prstGeom prst="ellipse">
            <a:avLst/>
          </a:prstGeom>
          <a:solidFill>
            <a:srgbClr val="E2001A"/>
          </a:solidFill>
          <a:ln w="12700">
            <a:solidFill>
              <a:srgbClr val="E2001A"/>
            </a:solidFill>
            <a:prstDash val="solid"/>
          </a:ln>
        </p:spPr>
      </p:sp>
      <p:sp>
        <p:nvSpPr>
          <p:cNvPr id="22" name="Text 20"/>
          <p:cNvSpPr/>
          <p:nvPr/>
        </p:nvSpPr>
        <p:spPr>
          <a:xfrm>
            <a:off x="6437376"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931152" y="3191256"/>
            <a:ext cx="4480560" cy="329184"/>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A hallucination in a complaint file</a:t>
            </a:r>
            <a:endParaRPr lang="en-US" sz="1400" dirty="0"/>
          </a:p>
        </p:txBody>
      </p:sp>
      <p:sp>
        <p:nvSpPr>
          <p:cNvPr id="24" name="Text 22"/>
          <p:cNvSpPr/>
          <p:nvPr/>
        </p:nvSpPr>
        <p:spPr>
          <a:xfrm>
            <a:off x="6931152" y="3547872"/>
            <a:ext cx="4480560" cy="310896"/>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No groundedness measurement</a:t>
            </a:r>
            <a:endParaRPr lang="en-US" sz="1200" dirty="0"/>
          </a:p>
        </p:txBody>
      </p:sp>
      <p:sp>
        <p:nvSpPr>
          <p:cNvPr id="25" name="Shape 23"/>
          <p:cNvSpPr/>
          <p:nvPr/>
        </p:nvSpPr>
        <p:spPr>
          <a:xfrm>
            <a:off x="594360" y="4215384"/>
            <a:ext cx="5349240" cy="969264"/>
          </a:xfrm>
          <a:prstGeom prst="roundRect">
            <a:avLst>
              <a:gd name="adj" fmla="val 6604"/>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6" name="Shape 24"/>
          <p:cNvSpPr/>
          <p:nvPr/>
        </p:nvSpPr>
        <p:spPr>
          <a:xfrm>
            <a:off x="813816" y="4489704"/>
            <a:ext cx="365760" cy="365760"/>
          </a:xfrm>
          <a:prstGeom prst="ellipse">
            <a:avLst/>
          </a:prstGeom>
          <a:solidFill>
            <a:srgbClr val="E2001A"/>
          </a:solidFill>
          <a:ln w="12700">
            <a:solidFill>
              <a:srgbClr val="E2001A"/>
            </a:solidFill>
            <a:prstDash val="solid"/>
          </a:ln>
        </p:spPr>
      </p:sp>
      <p:sp>
        <p:nvSpPr>
          <p:cNvPr id="27" name="Text 25"/>
          <p:cNvSpPr/>
          <p:nvPr/>
        </p:nvSpPr>
        <p:spPr>
          <a:xfrm>
            <a:off x="813816" y="4489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1307592" y="4361688"/>
            <a:ext cx="4480560" cy="329184"/>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“Which prompt produced that?” — unanswerable</a:t>
            </a:r>
            <a:endParaRPr lang="en-US" sz="1400" dirty="0"/>
          </a:p>
        </p:txBody>
      </p:sp>
      <p:sp>
        <p:nvSpPr>
          <p:cNvPr id="29" name="Text 27"/>
          <p:cNvSpPr/>
          <p:nvPr/>
        </p:nvSpPr>
        <p:spPr>
          <a:xfrm>
            <a:off x="1307592" y="4718304"/>
            <a:ext cx="4480560" cy="310896"/>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Prompts as string literals</a:t>
            </a:r>
            <a:endParaRPr lang="en-US" sz="1200" dirty="0"/>
          </a:p>
        </p:txBody>
      </p:sp>
      <p:sp>
        <p:nvSpPr>
          <p:cNvPr id="30" name="Shape 28"/>
          <p:cNvSpPr/>
          <p:nvPr/>
        </p:nvSpPr>
        <p:spPr>
          <a:xfrm>
            <a:off x="6217920" y="4215384"/>
            <a:ext cx="5349240" cy="969264"/>
          </a:xfrm>
          <a:prstGeom prst="roundRect">
            <a:avLst>
              <a:gd name="adj" fmla="val 6604"/>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31" name="Shape 29"/>
          <p:cNvSpPr/>
          <p:nvPr/>
        </p:nvSpPr>
        <p:spPr>
          <a:xfrm>
            <a:off x="6437376" y="4489704"/>
            <a:ext cx="365760" cy="365760"/>
          </a:xfrm>
          <a:prstGeom prst="ellipse">
            <a:avLst/>
          </a:prstGeom>
          <a:solidFill>
            <a:srgbClr val="E2001A"/>
          </a:solidFill>
          <a:ln w="12700">
            <a:solidFill>
              <a:srgbClr val="E2001A"/>
            </a:solidFill>
            <a:prstDash val="solid"/>
          </a:ln>
        </p:spPr>
      </p:sp>
      <p:sp>
        <p:nvSpPr>
          <p:cNvPr id="32" name="Text 30"/>
          <p:cNvSpPr/>
          <p:nvPr/>
        </p:nvSpPr>
        <p:spPr>
          <a:xfrm>
            <a:off x="6437376" y="4489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6931152" y="4361688"/>
            <a:ext cx="4480560" cy="329184"/>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A regional outage takes every feature down</a:t>
            </a:r>
            <a:endParaRPr lang="en-US" sz="1400" dirty="0"/>
          </a:p>
        </p:txBody>
      </p:sp>
      <p:sp>
        <p:nvSpPr>
          <p:cNvPr id="34" name="Text 32"/>
          <p:cNvSpPr/>
          <p:nvPr/>
        </p:nvSpPr>
        <p:spPr>
          <a:xfrm>
            <a:off x="6931152" y="4718304"/>
            <a:ext cx="4480560" cy="310896"/>
          </a:xfrm>
          <a:prstGeom prst="rect">
            <a:avLst/>
          </a:prstGeom>
          <a:noFill/>
          <a:ln/>
        </p:spPr>
        <p:txBody>
          <a:bodyPr wrap="square" lIns="0" tIns="0" rIns="0" bIns="0" rtlCol="0" anchor="ctr"/>
          <a:lstStyle/>
          <a:p>
            <a:pPr indent="0" marL="0">
              <a:buNone/>
            </a:pPr>
            <a:r>
              <a:rPr lang="en-US" sz="1200" dirty="0">
                <a:solidFill>
                  <a:srgbClr val="5C6B80"/>
                </a:solidFill>
                <a:latin typeface="Calibri" pitchFamily="34" charset="0"/>
                <a:ea typeface="Calibri" pitchFamily="34" charset="-122"/>
                <a:cs typeface="Calibri" pitchFamily="34" charset="-120"/>
              </a:rPr>
              <a:t>One deployment, no failover</a:t>
            </a:r>
            <a:endParaRPr lang="en-US" sz="1200" dirty="0"/>
          </a:p>
        </p:txBody>
      </p:sp>
      <p:sp>
        <p:nvSpPr>
          <p:cNvPr id="35" name="Text 33"/>
          <p:cNvSpPr/>
          <p:nvPr/>
        </p:nvSpPr>
        <p:spPr>
          <a:xfrm>
            <a:off x="594360" y="5623560"/>
            <a:ext cx="10972800" cy="365760"/>
          </a:xfrm>
          <a:prstGeom prst="rect">
            <a:avLst/>
          </a:prstGeom>
          <a:noFill/>
          <a:ln/>
        </p:spPr>
        <p:txBody>
          <a:bodyPr wrap="square" lIns="0" tIns="0" rIns="0" bIns="0" rtlCol="0" anchor="ctr"/>
          <a:lstStyle/>
          <a:p>
            <a:pPr indent="0" marL="0">
              <a:buNone/>
            </a:pPr>
            <a:r>
              <a:rPr lang="en-US" sz="2000" b="1" dirty="0">
                <a:solidFill>
                  <a:srgbClr val="E2001A"/>
                </a:solidFill>
                <a:latin typeface="Cambria" pitchFamily="34" charset="0"/>
                <a:ea typeface="Cambria" pitchFamily="34" charset="-122"/>
                <a:cs typeface="Cambria" pitchFamily="34" charset="-120"/>
              </a:rPr>
              <a:t>None of these is a model problem.</a:t>
            </a:r>
            <a:endParaRPr lang="en-US" sz="2000" dirty="0"/>
          </a:p>
        </p:txBody>
      </p:sp>
      <p:sp>
        <p:nvSpPr>
          <p:cNvPr id="36" name="Text 34"/>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1051560"/>
            <a:ext cx="7315200" cy="274320"/>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THE PRODUCT PROMISE</a:t>
            </a:r>
            <a:endParaRPr lang="en-US" sz="1100" dirty="0"/>
          </a:p>
        </p:txBody>
      </p:sp>
      <p:sp>
        <p:nvSpPr>
          <p:cNvPr id="3" name="Text 1"/>
          <p:cNvSpPr/>
          <p:nvPr/>
        </p:nvSpPr>
        <p:spPr>
          <a:xfrm>
            <a:off x="594360" y="1444752"/>
            <a:ext cx="10881360" cy="2286000"/>
          </a:xfrm>
          <a:prstGeom prst="rect">
            <a:avLst/>
          </a:prstGeom>
          <a:noFill/>
          <a:ln/>
        </p:spPr>
        <p:txBody>
          <a:bodyPr wrap="square" lIns="0" tIns="0" rIns="0" bIns="0" rtlCol="0" anchor="t"/>
          <a:lstStyle/>
          <a:p>
            <a:pPr indent="0" marL="0">
              <a:lnSpc>
                <a:spcPts val="4300"/>
              </a:lnSpc>
              <a:buNone/>
            </a:pPr>
            <a:r>
              <a:rPr lang="en-US" sz="3000" b="1" dirty="0">
                <a:solidFill>
                  <a:srgbClr val="FFFFFF"/>
                </a:solidFill>
                <a:latin typeface="Cambria" pitchFamily="34" charset="0"/>
                <a:ea typeface="Cambria" pitchFamily="34" charset="-122"/>
                <a:cs typeface="Cambria" pitchFamily="34" charset="-120"/>
              </a:rPr>
              <a:t>Any team at Redcare can put a </a:t>
            </a:r>
            <a:pPr indent="0" marL="0">
              <a:lnSpc>
                <a:spcPts val="4300"/>
              </a:lnSpc>
              <a:buNone/>
            </a:pPr>
            <a:r>
              <a:rPr lang="en-US" sz="3000" b="1" dirty="0">
                <a:solidFill>
                  <a:srgbClr val="E2001A"/>
                </a:solidFill>
                <a:latin typeface="Cambria" pitchFamily="34" charset="0"/>
                <a:ea typeface="Cambria" pitchFamily="34" charset="-122"/>
                <a:cs typeface="Cambria" pitchFamily="34" charset="-120"/>
              </a:rPr>
              <a:t>safe, observed, affordable</a:t>
            </a:r>
            <a:pPr indent="0" marL="0">
              <a:lnSpc>
                <a:spcPts val="4300"/>
              </a:lnSpc>
              <a:buNone/>
            </a:pPr>
            <a:r>
              <a:rPr lang="en-US" sz="3000" b="1" dirty="0">
                <a:solidFill>
                  <a:srgbClr val="FFFFFF"/>
                </a:solidFill>
                <a:latin typeface="Cambria" pitchFamily="34" charset="0"/>
                <a:ea typeface="Cambria" pitchFamily="34" charset="-122"/>
                <a:cs typeface="Cambria" pitchFamily="34" charset="-120"/>
              </a:rPr>
              <a:t> AI agent in front of customers within a week — and the company can prove afterwards </a:t>
            </a:r>
            <a:pPr indent="0" marL="0">
              <a:lnSpc>
                <a:spcPts val="4300"/>
              </a:lnSpc>
              <a:buNone/>
            </a:pPr>
            <a:r>
              <a:rPr lang="en-US" sz="3000" b="1" dirty="0">
                <a:solidFill>
                  <a:srgbClr val="E2001A"/>
                </a:solidFill>
                <a:latin typeface="Cambria" pitchFamily="34" charset="0"/>
                <a:ea typeface="Cambria" pitchFamily="34" charset="-122"/>
                <a:cs typeface="Cambria" pitchFamily="34" charset="-120"/>
              </a:rPr>
              <a:t>what it did and what it cost.</a:t>
            </a:r>
            <a:endParaRPr lang="en-US" sz="3000" dirty="0"/>
          </a:p>
        </p:txBody>
      </p:sp>
      <p:sp>
        <p:nvSpPr>
          <p:cNvPr id="4" name="Shape 2"/>
          <p:cNvSpPr/>
          <p:nvPr/>
        </p:nvSpPr>
        <p:spPr>
          <a:xfrm>
            <a:off x="594360" y="4041648"/>
            <a:ext cx="3429000" cy="1572768"/>
          </a:xfrm>
          <a:prstGeom prst="roundRect">
            <a:avLst>
              <a:gd name="adj" fmla="val 4070"/>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5" name="Shape 3"/>
          <p:cNvSpPr/>
          <p:nvPr/>
        </p:nvSpPr>
        <p:spPr>
          <a:xfrm>
            <a:off x="850392" y="4297680"/>
            <a:ext cx="146304" cy="146304"/>
          </a:xfrm>
          <a:prstGeom prst="ellipse">
            <a:avLst/>
          </a:prstGeom>
          <a:solidFill>
            <a:srgbClr val="0F9BA8"/>
          </a:solidFill>
          <a:ln w="12700">
            <a:solidFill>
              <a:srgbClr val="0F9BA8"/>
            </a:solidFill>
            <a:prstDash val="solid"/>
          </a:ln>
        </p:spPr>
      </p:sp>
      <p:sp>
        <p:nvSpPr>
          <p:cNvPr id="6" name="Text 4"/>
          <p:cNvSpPr/>
          <p:nvPr/>
        </p:nvSpPr>
        <p:spPr>
          <a:xfrm>
            <a:off x="1124712" y="4215384"/>
            <a:ext cx="27432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Within a week</a:t>
            </a:r>
            <a:endParaRPr lang="en-US" sz="1500" dirty="0"/>
          </a:p>
        </p:txBody>
      </p:sp>
      <p:sp>
        <p:nvSpPr>
          <p:cNvPr id="7" name="Text 5"/>
          <p:cNvSpPr/>
          <p:nvPr/>
        </p:nvSpPr>
        <p:spPr>
          <a:xfrm>
            <a:off x="850392" y="4654296"/>
            <a:ext cx="292608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engineering's promise</a:t>
            </a:r>
            <a:endParaRPr lang="en-US" sz="1200" dirty="0"/>
          </a:p>
        </p:txBody>
      </p:sp>
      <p:sp>
        <p:nvSpPr>
          <p:cNvPr id="8" name="Text 6"/>
          <p:cNvSpPr/>
          <p:nvPr/>
        </p:nvSpPr>
        <p:spPr>
          <a:xfrm>
            <a:off x="850392" y="5056632"/>
            <a:ext cx="2926080" cy="274320"/>
          </a:xfrm>
          <a:prstGeom prst="rect">
            <a:avLst/>
          </a:prstGeom>
          <a:noFill/>
          <a:ln/>
        </p:spPr>
        <p:txBody>
          <a:bodyPr wrap="square" lIns="0" tIns="0" rIns="0" bIns="0" rtlCol="0" anchor="ctr"/>
          <a:lstStyle/>
          <a:p>
            <a:pPr indent="0" marL="0">
              <a:buNone/>
            </a:pPr>
            <a:r>
              <a:rPr lang="en-US" sz="1000" b="1" spc="200" kern="0" dirty="0">
                <a:solidFill>
                  <a:srgbClr val="0F9BA8"/>
                </a:solidFill>
                <a:latin typeface="Calibri" pitchFamily="34" charset="0"/>
                <a:ea typeface="Calibri" pitchFamily="34" charset="-122"/>
                <a:cs typeface="Calibri" pitchFamily="34" charset="-120"/>
              </a:rPr>
              <a:t>SPEED</a:t>
            </a:r>
            <a:endParaRPr lang="en-US" sz="1000" dirty="0"/>
          </a:p>
        </p:txBody>
      </p:sp>
      <p:sp>
        <p:nvSpPr>
          <p:cNvPr id="9" name="Shape 7"/>
          <p:cNvSpPr/>
          <p:nvPr/>
        </p:nvSpPr>
        <p:spPr>
          <a:xfrm>
            <a:off x="4297680" y="4041648"/>
            <a:ext cx="3429000" cy="1572768"/>
          </a:xfrm>
          <a:prstGeom prst="roundRect">
            <a:avLst>
              <a:gd name="adj" fmla="val 4070"/>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0" name="Shape 8"/>
          <p:cNvSpPr/>
          <p:nvPr/>
        </p:nvSpPr>
        <p:spPr>
          <a:xfrm>
            <a:off x="4553712" y="4297680"/>
            <a:ext cx="146304" cy="146304"/>
          </a:xfrm>
          <a:prstGeom prst="ellipse">
            <a:avLst/>
          </a:prstGeom>
          <a:solidFill>
            <a:srgbClr val="E2001A"/>
          </a:solidFill>
          <a:ln w="12700">
            <a:solidFill>
              <a:srgbClr val="E2001A"/>
            </a:solidFill>
            <a:prstDash val="solid"/>
          </a:ln>
        </p:spPr>
      </p:sp>
      <p:sp>
        <p:nvSpPr>
          <p:cNvPr id="11" name="Text 9"/>
          <p:cNvSpPr/>
          <p:nvPr/>
        </p:nvSpPr>
        <p:spPr>
          <a:xfrm>
            <a:off x="4828032" y="4215384"/>
            <a:ext cx="27432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Safe and observed</a:t>
            </a:r>
            <a:endParaRPr lang="en-US" sz="1500" dirty="0"/>
          </a:p>
        </p:txBody>
      </p:sp>
      <p:sp>
        <p:nvSpPr>
          <p:cNvPr id="12" name="Text 10"/>
          <p:cNvSpPr/>
          <p:nvPr/>
        </p:nvSpPr>
        <p:spPr>
          <a:xfrm>
            <a:off x="4553712" y="4654296"/>
            <a:ext cx="292608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security &amp; compliance's promise</a:t>
            </a:r>
            <a:endParaRPr lang="en-US" sz="1200" dirty="0"/>
          </a:p>
        </p:txBody>
      </p:sp>
      <p:sp>
        <p:nvSpPr>
          <p:cNvPr id="13" name="Text 11"/>
          <p:cNvSpPr/>
          <p:nvPr/>
        </p:nvSpPr>
        <p:spPr>
          <a:xfrm>
            <a:off x="4553712" y="5056632"/>
            <a:ext cx="2926080" cy="274320"/>
          </a:xfrm>
          <a:prstGeom prst="rect">
            <a:avLst/>
          </a:prstGeom>
          <a:noFill/>
          <a:ln/>
        </p:spPr>
        <p:txBody>
          <a:bodyPr wrap="square" lIns="0" tIns="0" rIns="0" bIns="0" rtlCol="0" anchor="ctr"/>
          <a:lstStyle/>
          <a:p>
            <a:pPr indent="0" marL="0">
              <a:buNone/>
            </a:pPr>
            <a:r>
              <a:rPr lang="en-US" sz="1000" b="1" spc="200" kern="0" dirty="0">
                <a:solidFill>
                  <a:srgbClr val="E2001A"/>
                </a:solidFill>
                <a:latin typeface="Calibri" pitchFamily="34" charset="0"/>
                <a:ea typeface="Calibri" pitchFamily="34" charset="-122"/>
                <a:cs typeface="Calibri" pitchFamily="34" charset="-120"/>
              </a:rPr>
              <a:t>TRUST</a:t>
            </a:r>
            <a:endParaRPr lang="en-US" sz="1000" dirty="0"/>
          </a:p>
        </p:txBody>
      </p:sp>
      <p:sp>
        <p:nvSpPr>
          <p:cNvPr id="14" name="Shape 12"/>
          <p:cNvSpPr/>
          <p:nvPr/>
        </p:nvSpPr>
        <p:spPr>
          <a:xfrm>
            <a:off x="8001000" y="4041648"/>
            <a:ext cx="3429000" cy="1572768"/>
          </a:xfrm>
          <a:prstGeom prst="roundRect">
            <a:avLst>
              <a:gd name="adj" fmla="val 4070"/>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5" name="Shape 13"/>
          <p:cNvSpPr/>
          <p:nvPr/>
        </p:nvSpPr>
        <p:spPr>
          <a:xfrm>
            <a:off x="8257032" y="4297680"/>
            <a:ext cx="146304" cy="146304"/>
          </a:xfrm>
          <a:prstGeom prst="ellipse">
            <a:avLst/>
          </a:prstGeom>
          <a:solidFill>
            <a:srgbClr val="B77400"/>
          </a:solidFill>
          <a:ln w="12700">
            <a:solidFill>
              <a:srgbClr val="B77400"/>
            </a:solidFill>
            <a:prstDash val="solid"/>
          </a:ln>
        </p:spPr>
      </p:sp>
      <p:sp>
        <p:nvSpPr>
          <p:cNvPr id="16" name="Text 14"/>
          <p:cNvSpPr/>
          <p:nvPr/>
        </p:nvSpPr>
        <p:spPr>
          <a:xfrm>
            <a:off x="8531352" y="4215384"/>
            <a:ext cx="274320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Prove what it cost</a:t>
            </a:r>
            <a:endParaRPr lang="en-US" sz="1500" dirty="0"/>
          </a:p>
        </p:txBody>
      </p:sp>
      <p:sp>
        <p:nvSpPr>
          <p:cNvPr id="17" name="Text 15"/>
          <p:cNvSpPr/>
          <p:nvPr/>
        </p:nvSpPr>
        <p:spPr>
          <a:xfrm>
            <a:off x="8257032" y="4654296"/>
            <a:ext cx="292608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the CFO's promise</a:t>
            </a:r>
            <a:endParaRPr lang="en-US" sz="1200" dirty="0"/>
          </a:p>
        </p:txBody>
      </p:sp>
      <p:sp>
        <p:nvSpPr>
          <p:cNvPr id="18" name="Text 16"/>
          <p:cNvSpPr/>
          <p:nvPr/>
        </p:nvSpPr>
        <p:spPr>
          <a:xfrm>
            <a:off x="8257032" y="5056632"/>
            <a:ext cx="2926080" cy="274320"/>
          </a:xfrm>
          <a:prstGeom prst="rect">
            <a:avLst/>
          </a:prstGeom>
          <a:noFill/>
          <a:ln/>
        </p:spPr>
        <p:txBody>
          <a:bodyPr wrap="square" lIns="0" tIns="0" rIns="0" bIns="0" rtlCol="0" anchor="ctr"/>
          <a:lstStyle/>
          <a:p>
            <a:pPr indent="0" marL="0">
              <a:buNone/>
            </a:pPr>
            <a:r>
              <a:rPr lang="en-US" sz="1000" b="1" spc="200" kern="0" dirty="0">
                <a:solidFill>
                  <a:srgbClr val="B77400"/>
                </a:solidFill>
                <a:latin typeface="Calibri" pitchFamily="34" charset="0"/>
                <a:ea typeface="Calibri" pitchFamily="34" charset="-122"/>
                <a:cs typeface="Calibri" pitchFamily="34" charset="-120"/>
              </a:rPr>
              <a:t>ECONOMICS</a:t>
            </a:r>
            <a:endParaRPr lang="en-US" sz="1000" dirty="0"/>
          </a:p>
        </p:txBody>
      </p:sp>
      <p:sp>
        <p:nvSpPr>
          <p:cNvPr id="19" name="Text 17"/>
          <p:cNvSpPr/>
          <p:nvPr/>
        </p:nvSpPr>
        <p:spPr>
          <a:xfrm>
            <a:off x="594360" y="5925312"/>
            <a:ext cx="10881360" cy="329184"/>
          </a:xfrm>
          <a:prstGeom prst="rect">
            <a:avLst/>
          </a:prstGeom>
          <a:noFill/>
          <a:ln/>
        </p:spPr>
        <p:txBody>
          <a:bodyPr wrap="square" lIns="0" tIns="0" rIns="0" bIns="0" rtlCol="0" anchor="ctr"/>
          <a:lstStyle/>
          <a:p>
            <a:pPr indent="0" marL="0">
              <a:buNone/>
            </a:pPr>
            <a:r>
              <a:rPr lang="en-US" sz="1300" i="1" dirty="0">
                <a:solidFill>
                  <a:srgbClr val="9BAABF"/>
                </a:solidFill>
                <a:latin typeface="Calibri" pitchFamily="34" charset="0"/>
                <a:ea typeface="Calibri" pitchFamily="34" charset="-122"/>
                <a:cs typeface="Calibri" pitchFamily="34" charset="-120"/>
              </a:rPr>
              <a:t>A vision that serves only one of the three gets defunded by the other two.</a:t>
            </a:r>
            <a:endParaRPr lang="en-US" sz="1300" dirty="0"/>
          </a:p>
        </p:txBody>
      </p:sp>
      <p:sp>
        <p:nvSpPr>
          <p:cNvPr id="20" name="Text 18"/>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One customer question, end to end</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“Can I take ibuprofen with warfarin?” — every hop it makes, and who is accountable for each.</a:t>
            </a:r>
            <a:endParaRPr lang="en-US" sz="1350" dirty="0"/>
          </a:p>
        </p:txBody>
      </p:sp>
      <p:sp>
        <p:nvSpPr>
          <p:cNvPr id="5" name="Shape 3"/>
          <p:cNvSpPr/>
          <p:nvPr/>
        </p:nvSpPr>
        <p:spPr>
          <a:xfrm>
            <a:off x="594360" y="1874520"/>
            <a:ext cx="5029200" cy="4041648"/>
          </a:xfrm>
          <a:prstGeom prst="roundRect">
            <a:avLst>
              <a:gd name="adj" fmla="val 1584"/>
            </a:avLst>
          </a:prstGeom>
          <a:solidFill>
            <a:srgbClr val="F1F4F8"/>
          </a:solidFill>
          <a:ln w="12700">
            <a:solidFill>
              <a:srgbClr val="E1E7EF"/>
            </a:solidFill>
            <a:prstDash val="solid"/>
          </a:ln>
        </p:spPr>
      </p:sp>
      <p:sp>
        <p:nvSpPr>
          <p:cNvPr id="6" name="Text 4"/>
          <p:cNvSpPr/>
          <p:nvPr/>
        </p:nvSpPr>
        <p:spPr>
          <a:xfrm>
            <a:off x="868680" y="2011680"/>
            <a:ext cx="4572000" cy="274320"/>
          </a:xfrm>
          <a:prstGeom prst="rect">
            <a:avLst/>
          </a:prstGeom>
          <a:noFill/>
          <a:ln/>
        </p:spPr>
        <p:txBody>
          <a:bodyPr wrap="square" lIns="0" tIns="0" rIns="0" bIns="0" rtlCol="0" anchor="ctr"/>
          <a:lstStyle/>
          <a:p>
            <a:pPr indent="0" marL="0">
              <a:buNone/>
            </a:pPr>
            <a:r>
              <a:rPr lang="en-US" sz="1000" b="1" dirty="0">
                <a:solidFill>
                  <a:srgbClr val="5C6B80"/>
                </a:solidFill>
                <a:latin typeface="Courier New" pitchFamily="34" charset="0"/>
                <a:ea typeface="Courier New" pitchFamily="34" charset="-122"/>
                <a:cs typeface="Courier New" pitchFamily="34" charset="-120"/>
              </a:rPr>
              <a:t>Container App · carecopilot-agent</a:t>
            </a:r>
            <a:endParaRPr lang="en-US" sz="1000" dirty="0"/>
          </a:p>
        </p:txBody>
      </p:sp>
      <p:sp>
        <p:nvSpPr>
          <p:cNvPr id="7" name="Shape 5"/>
          <p:cNvSpPr/>
          <p:nvPr/>
        </p:nvSpPr>
        <p:spPr>
          <a:xfrm>
            <a:off x="868680" y="2395728"/>
            <a:ext cx="310896" cy="310896"/>
          </a:xfrm>
          <a:prstGeom prst="ellipse">
            <a:avLst/>
          </a:prstGeom>
          <a:solidFill>
            <a:srgbClr val="0F9BA8"/>
          </a:solidFill>
          <a:ln w="12700">
            <a:solidFill>
              <a:srgbClr val="0F9BA8"/>
            </a:solidFill>
            <a:prstDash val="solid"/>
          </a:ln>
        </p:spPr>
      </p:sp>
      <p:sp>
        <p:nvSpPr>
          <p:cNvPr id="8" name="Text 6"/>
          <p:cNvSpPr/>
          <p:nvPr/>
        </p:nvSpPr>
        <p:spPr>
          <a:xfrm>
            <a:off x="868680" y="23957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9304" y="237744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classify</a:t>
            </a:r>
            <a:endParaRPr lang="en-US" sz="1200" dirty="0"/>
          </a:p>
        </p:txBody>
      </p:sp>
      <p:sp>
        <p:nvSpPr>
          <p:cNvPr id="10" name="Text 8"/>
          <p:cNvSpPr/>
          <p:nvPr/>
        </p:nvSpPr>
        <p:spPr>
          <a:xfrm>
            <a:off x="2697480" y="237744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cheap model scores the turn</a:t>
            </a:r>
            <a:endParaRPr lang="en-US" sz="1100" dirty="0"/>
          </a:p>
        </p:txBody>
      </p:sp>
      <p:sp>
        <p:nvSpPr>
          <p:cNvPr id="11" name="Shape 9"/>
          <p:cNvSpPr/>
          <p:nvPr/>
        </p:nvSpPr>
        <p:spPr>
          <a:xfrm>
            <a:off x="868680" y="2898648"/>
            <a:ext cx="310896" cy="310896"/>
          </a:xfrm>
          <a:prstGeom prst="ellipse">
            <a:avLst/>
          </a:prstGeom>
          <a:solidFill>
            <a:srgbClr val="0F9BA8"/>
          </a:solidFill>
          <a:ln w="12700">
            <a:solidFill>
              <a:srgbClr val="0F9BA8"/>
            </a:solidFill>
            <a:prstDash val="solid"/>
          </a:ln>
        </p:spPr>
      </p:sp>
      <p:sp>
        <p:nvSpPr>
          <p:cNvPr id="12" name="Text 10"/>
          <p:cNvSpPr/>
          <p:nvPr/>
        </p:nvSpPr>
        <p:spPr>
          <a:xfrm>
            <a:off x="868680" y="28986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289304" y="288036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route</a:t>
            </a:r>
            <a:endParaRPr lang="en-US" sz="1200" dirty="0"/>
          </a:p>
        </p:txBody>
      </p:sp>
      <p:sp>
        <p:nvSpPr>
          <p:cNvPr id="14" name="Text 12"/>
          <p:cNvSpPr/>
          <p:nvPr/>
        </p:nvSpPr>
        <p:spPr>
          <a:xfrm>
            <a:off x="2697480" y="288036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entitlement → tier → health</a:t>
            </a:r>
            <a:endParaRPr lang="en-US" sz="1100" dirty="0"/>
          </a:p>
        </p:txBody>
      </p:sp>
      <p:sp>
        <p:nvSpPr>
          <p:cNvPr id="15" name="Shape 13"/>
          <p:cNvSpPr/>
          <p:nvPr/>
        </p:nvSpPr>
        <p:spPr>
          <a:xfrm>
            <a:off x="868680" y="3401568"/>
            <a:ext cx="310896" cy="310896"/>
          </a:xfrm>
          <a:prstGeom prst="ellipse">
            <a:avLst/>
          </a:prstGeom>
          <a:solidFill>
            <a:srgbClr val="B77400"/>
          </a:solidFill>
          <a:ln w="12700">
            <a:solidFill>
              <a:srgbClr val="B77400"/>
            </a:solidFill>
            <a:prstDash val="solid"/>
          </a:ln>
        </p:spPr>
      </p:sp>
      <p:sp>
        <p:nvSpPr>
          <p:cNvPr id="16" name="Text 14"/>
          <p:cNvSpPr/>
          <p:nvPr/>
        </p:nvSpPr>
        <p:spPr>
          <a:xfrm>
            <a:off x="868680" y="34015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289304" y="338328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budget</a:t>
            </a:r>
            <a:endParaRPr lang="en-US" sz="1200" dirty="0"/>
          </a:p>
        </p:txBody>
      </p:sp>
      <p:sp>
        <p:nvSpPr>
          <p:cNvPr id="18" name="Text 16"/>
          <p:cNvSpPr/>
          <p:nvPr/>
        </p:nvSpPr>
        <p:spPr>
          <a:xfrm>
            <a:off x="2697480" y="338328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tenant + session ceilings</a:t>
            </a:r>
            <a:endParaRPr lang="en-US" sz="1100" dirty="0"/>
          </a:p>
        </p:txBody>
      </p:sp>
      <p:sp>
        <p:nvSpPr>
          <p:cNvPr id="19" name="Shape 17"/>
          <p:cNvSpPr/>
          <p:nvPr/>
        </p:nvSpPr>
        <p:spPr>
          <a:xfrm>
            <a:off x="868680" y="3904488"/>
            <a:ext cx="310896" cy="310896"/>
          </a:xfrm>
          <a:prstGeom prst="ellipse">
            <a:avLst/>
          </a:prstGeom>
          <a:solidFill>
            <a:srgbClr val="E2001A"/>
          </a:solidFill>
          <a:ln w="12700">
            <a:solidFill>
              <a:srgbClr val="E2001A"/>
            </a:solidFill>
            <a:prstDash val="solid"/>
          </a:ln>
        </p:spPr>
      </p:sp>
      <p:sp>
        <p:nvSpPr>
          <p:cNvPr id="20" name="Text 18"/>
          <p:cNvSpPr/>
          <p:nvPr/>
        </p:nvSpPr>
        <p:spPr>
          <a:xfrm>
            <a:off x="868680" y="39044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289304" y="388620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guard in</a:t>
            </a:r>
            <a:endParaRPr lang="en-US" sz="1200" dirty="0"/>
          </a:p>
        </p:txBody>
      </p:sp>
      <p:sp>
        <p:nvSpPr>
          <p:cNvPr id="22" name="Text 20"/>
          <p:cNvSpPr/>
          <p:nvPr/>
        </p:nvSpPr>
        <p:spPr>
          <a:xfrm>
            <a:off x="2697480" y="388620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injection · scope · PII</a:t>
            </a:r>
            <a:endParaRPr lang="en-US" sz="1100" dirty="0"/>
          </a:p>
        </p:txBody>
      </p:sp>
      <p:sp>
        <p:nvSpPr>
          <p:cNvPr id="23" name="Shape 21"/>
          <p:cNvSpPr/>
          <p:nvPr/>
        </p:nvSpPr>
        <p:spPr>
          <a:xfrm>
            <a:off x="868680" y="4407408"/>
            <a:ext cx="310896" cy="310896"/>
          </a:xfrm>
          <a:prstGeom prst="ellipse">
            <a:avLst/>
          </a:prstGeom>
          <a:solidFill>
            <a:srgbClr val="16202E"/>
          </a:solidFill>
          <a:ln w="12700">
            <a:solidFill>
              <a:srgbClr val="16202E"/>
            </a:solidFill>
            <a:prstDash val="solid"/>
          </a:ln>
        </p:spPr>
      </p:sp>
      <p:sp>
        <p:nvSpPr>
          <p:cNvPr id="24" name="Text 22"/>
          <p:cNvSpPr/>
          <p:nvPr/>
        </p:nvSpPr>
        <p:spPr>
          <a:xfrm>
            <a:off x="868680" y="44074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p:nvPr/>
        </p:nvSpPr>
        <p:spPr>
          <a:xfrm>
            <a:off x="1289304" y="438912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plan / act</a:t>
            </a:r>
            <a:endParaRPr lang="en-US" sz="1200" dirty="0"/>
          </a:p>
        </p:txBody>
      </p:sp>
      <p:sp>
        <p:nvSpPr>
          <p:cNvPr id="26" name="Text 24"/>
          <p:cNvSpPr/>
          <p:nvPr/>
        </p:nvSpPr>
        <p:spPr>
          <a:xfrm>
            <a:off x="2697480" y="438912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LLM ⇄ tools, bounded loop</a:t>
            </a:r>
            <a:endParaRPr lang="en-US" sz="1100" dirty="0"/>
          </a:p>
        </p:txBody>
      </p:sp>
      <p:sp>
        <p:nvSpPr>
          <p:cNvPr id="27" name="Shape 25"/>
          <p:cNvSpPr/>
          <p:nvPr/>
        </p:nvSpPr>
        <p:spPr>
          <a:xfrm>
            <a:off x="868680" y="4910328"/>
            <a:ext cx="310896" cy="310896"/>
          </a:xfrm>
          <a:prstGeom prst="ellipse">
            <a:avLst/>
          </a:prstGeom>
          <a:solidFill>
            <a:srgbClr val="E2001A"/>
          </a:solidFill>
          <a:ln w="12700">
            <a:solidFill>
              <a:srgbClr val="E2001A"/>
            </a:solidFill>
            <a:prstDash val="solid"/>
          </a:ln>
        </p:spPr>
      </p:sp>
      <p:sp>
        <p:nvSpPr>
          <p:cNvPr id="28" name="Text 26"/>
          <p:cNvSpPr/>
          <p:nvPr/>
        </p:nvSpPr>
        <p:spPr>
          <a:xfrm>
            <a:off x="868680" y="49103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7"/>
          <p:cNvSpPr/>
          <p:nvPr/>
        </p:nvSpPr>
        <p:spPr>
          <a:xfrm>
            <a:off x="1289304" y="489204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guard out</a:t>
            </a:r>
            <a:endParaRPr lang="en-US" sz="1200" dirty="0"/>
          </a:p>
        </p:txBody>
      </p:sp>
      <p:sp>
        <p:nvSpPr>
          <p:cNvPr id="30" name="Text 28"/>
          <p:cNvSpPr/>
          <p:nvPr/>
        </p:nvSpPr>
        <p:spPr>
          <a:xfrm>
            <a:off x="2697480" y="489204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secrets · grounding · policy</a:t>
            </a:r>
            <a:endParaRPr lang="en-US" sz="1100" dirty="0"/>
          </a:p>
        </p:txBody>
      </p:sp>
      <p:sp>
        <p:nvSpPr>
          <p:cNvPr id="31" name="Shape 29"/>
          <p:cNvSpPr/>
          <p:nvPr/>
        </p:nvSpPr>
        <p:spPr>
          <a:xfrm>
            <a:off x="868680" y="5413248"/>
            <a:ext cx="310896" cy="310896"/>
          </a:xfrm>
          <a:prstGeom prst="ellipse">
            <a:avLst/>
          </a:prstGeom>
          <a:solidFill>
            <a:srgbClr val="B77400"/>
          </a:solidFill>
          <a:ln w="12700">
            <a:solidFill>
              <a:srgbClr val="B77400"/>
            </a:solidFill>
            <a:prstDash val="solid"/>
          </a:ln>
        </p:spPr>
      </p:sp>
      <p:sp>
        <p:nvSpPr>
          <p:cNvPr id="32" name="Text 30"/>
          <p:cNvSpPr/>
          <p:nvPr/>
        </p:nvSpPr>
        <p:spPr>
          <a:xfrm>
            <a:off x="868680" y="54132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1"/>
          <p:cNvSpPr/>
          <p:nvPr/>
        </p:nvSpPr>
        <p:spPr>
          <a:xfrm>
            <a:off x="1289304" y="5394960"/>
            <a:ext cx="1371600" cy="310896"/>
          </a:xfrm>
          <a:prstGeom prst="rect">
            <a:avLst/>
          </a:prstGeom>
          <a:noFill/>
          <a:ln/>
        </p:spPr>
        <p:txBody>
          <a:bodyPr wrap="square" lIns="0" tIns="0" rIns="0" bIns="0" rtlCol="0" anchor="ctr"/>
          <a:lstStyle/>
          <a:p>
            <a:pPr indent="0" marL="0">
              <a:buNone/>
            </a:pPr>
            <a:r>
              <a:rPr lang="en-US" sz="1200" b="1" dirty="0">
                <a:solidFill>
                  <a:srgbClr val="16202E"/>
                </a:solidFill>
                <a:latin typeface="Courier New" pitchFamily="34" charset="0"/>
                <a:ea typeface="Courier New" pitchFamily="34" charset="-122"/>
                <a:cs typeface="Courier New" pitchFamily="34" charset="-120"/>
              </a:rPr>
              <a:t>account</a:t>
            </a:r>
            <a:endParaRPr lang="en-US" sz="1200" dirty="0"/>
          </a:p>
        </p:txBody>
      </p:sp>
      <p:sp>
        <p:nvSpPr>
          <p:cNvPr id="34" name="Text 32"/>
          <p:cNvSpPr/>
          <p:nvPr/>
        </p:nvSpPr>
        <p:spPr>
          <a:xfrm>
            <a:off x="2697480" y="5394960"/>
            <a:ext cx="278892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spend · metrics · audit</a:t>
            </a:r>
            <a:endParaRPr lang="en-US" sz="1100" dirty="0"/>
          </a:p>
        </p:txBody>
      </p:sp>
      <p:sp>
        <p:nvSpPr>
          <p:cNvPr id="35" name="Shape 33"/>
          <p:cNvSpPr/>
          <p:nvPr/>
        </p:nvSpPr>
        <p:spPr>
          <a:xfrm>
            <a:off x="5897880" y="1874520"/>
            <a:ext cx="5669280" cy="1261872"/>
          </a:xfrm>
          <a:prstGeom prst="roundRect">
            <a:avLst>
              <a:gd name="adj" fmla="val 5072"/>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36" name="Shape 34"/>
          <p:cNvSpPr/>
          <p:nvPr/>
        </p:nvSpPr>
        <p:spPr>
          <a:xfrm>
            <a:off x="6172200" y="2075688"/>
            <a:ext cx="155448" cy="155448"/>
          </a:xfrm>
          <a:prstGeom prst="ellipse">
            <a:avLst/>
          </a:prstGeom>
          <a:solidFill>
            <a:srgbClr val="E2001A"/>
          </a:solidFill>
          <a:ln w="12700">
            <a:solidFill>
              <a:srgbClr val="E2001A"/>
            </a:solidFill>
            <a:prstDash val="solid"/>
          </a:ln>
        </p:spPr>
      </p:sp>
      <p:sp>
        <p:nvSpPr>
          <p:cNvPr id="37" name="Text 35"/>
          <p:cNvSpPr/>
          <p:nvPr/>
        </p:nvSpPr>
        <p:spPr>
          <a:xfrm>
            <a:off x="6419088" y="2002536"/>
            <a:ext cx="4937760" cy="292608"/>
          </a:xfrm>
          <a:prstGeom prst="rect">
            <a:avLst/>
          </a:prstGeom>
          <a:noFill/>
          <a:ln/>
        </p:spPr>
        <p:txBody>
          <a:bodyPr wrap="square" lIns="0" tIns="0" rIns="0" bIns="0" rtlCol="0" anchor="ctr"/>
          <a:lstStyle/>
          <a:p>
            <a:pPr indent="0" marL="0">
              <a:buNone/>
            </a:pPr>
            <a:r>
              <a:rPr lang="en-US" sz="1500" b="1" dirty="0">
                <a:solidFill>
                  <a:srgbClr val="16202E"/>
                </a:solidFill>
                <a:latin typeface="Calibri" pitchFamily="34" charset="0"/>
                <a:ea typeface="Calibri" pitchFamily="34" charset="-122"/>
                <a:cs typeface="Calibri" pitchFamily="34" charset="-120"/>
              </a:rPr>
              <a:t>AI Gateway</a:t>
            </a:r>
            <a:endParaRPr lang="en-US" sz="1500" dirty="0"/>
          </a:p>
        </p:txBody>
      </p:sp>
      <p:sp>
        <p:nvSpPr>
          <p:cNvPr id="38" name="Text 36"/>
          <p:cNvSpPr/>
          <p:nvPr/>
        </p:nvSpPr>
        <p:spPr>
          <a:xfrm>
            <a:off x="6419088" y="2331720"/>
            <a:ext cx="4937760" cy="274320"/>
          </a:xfrm>
          <a:prstGeom prst="rect">
            <a:avLst/>
          </a:prstGeom>
          <a:noFill/>
          <a:ln/>
        </p:spPr>
        <p:txBody>
          <a:bodyPr wrap="square" lIns="0" tIns="0" rIns="0" bIns="0" rtlCol="0" anchor="ctr"/>
          <a:lstStyle/>
          <a:p>
            <a:pPr indent="0" marL="0">
              <a:buNone/>
            </a:pPr>
            <a:r>
              <a:rPr lang="en-US" sz="1000" dirty="0">
                <a:solidFill>
                  <a:srgbClr val="E2001A"/>
                </a:solidFill>
                <a:latin typeface="Courier New" pitchFamily="34" charset="0"/>
                <a:ea typeface="Courier New" pitchFamily="34" charset="-122"/>
                <a:cs typeface="Courier New" pitchFamily="34" charset="-120"/>
              </a:rPr>
              <a:t>LiteLLM · the only path to a model</a:t>
            </a:r>
            <a:endParaRPr lang="en-US" sz="1000" dirty="0"/>
          </a:p>
        </p:txBody>
      </p:sp>
      <p:sp>
        <p:nvSpPr>
          <p:cNvPr id="39" name="Text 37"/>
          <p:cNvSpPr/>
          <p:nvPr/>
        </p:nvSpPr>
        <p:spPr>
          <a:xfrm>
            <a:off x="6419088" y="2633472"/>
            <a:ext cx="4937760" cy="40233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virtual key · entitlement · budget · failover · cache · cost line</a:t>
            </a:r>
            <a:endParaRPr lang="en-US" sz="1150" dirty="0"/>
          </a:p>
        </p:txBody>
      </p:sp>
      <p:sp>
        <p:nvSpPr>
          <p:cNvPr id="40" name="Shape 38"/>
          <p:cNvSpPr/>
          <p:nvPr/>
        </p:nvSpPr>
        <p:spPr>
          <a:xfrm>
            <a:off x="5897880" y="3264408"/>
            <a:ext cx="5669280" cy="1261872"/>
          </a:xfrm>
          <a:prstGeom prst="roundRect">
            <a:avLst>
              <a:gd name="adj" fmla="val 5072"/>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41" name="Shape 39"/>
          <p:cNvSpPr/>
          <p:nvPr/>
        </p:nvSpPr>
        <p:spPr>
          <a:xfrm>
            <a:off x="6172200" y="3465576"/>
            <a:ext cx="155448" cy="155448"/>
          </a:xfrm>
          <a:prstGeom prst="ellipse">
            <a:avLst/>
          </a:prstGeom>
          <a:solidFill>
            <a:srgbClr val="0F9BA8"/>
          </a:solidFill>
          <a:ln w="12700">
            <a:solidFill>
              <a:srgbClr val="0F9BA8"/>
            </a:solidFill>
            <a:prstDash val="solid"/>
          </a:ln>
        </p:spPr>
      </p:sp>
      <p:sp>
        <p:nvSpPr>
          <p:cNvPr id="42" name="Text 40"/>
          <p:cNvSpPr/>
          <p:nvPr/>
        </p:nvSpPr>
        <p:spPr>
          <a:xfrm>
            <a:off x="6419088" y="3392424"/>
            <a:ext cx="4937760" cy="292608"/>
          </a:xfrm>
          <a:prstGeom prst="rect">
            <a:avLst/>
          </a:prstGeom>
          <a:noFill/>
          <a:ln/>
        </p:spPr>
        <p:txBody>
          <a:bodyPr wrap="square" lIns="0" tIns="0" rIns="0" bIns="0" rtlCol="0" anchor="ctr"/>
          <a:lstStyle/>
          <a:p>
            <a:pPr indent="0" marL="0">
              <a:buNone/>
            </a:pPr>
            <a:r>
              <a:rPr lang="en-US" sz="1500" b="1" dirty="0">
                <a:solidFill>
                  <a:srgbClr val="16202E"/>
                </a:solidFill>
                <a:latin typeface="Calibri" pitchFamily="34" charset="0"/>
                <a:ea typeface="Calibri" pitchFamily="34" charset="-122"/>
                <a:cs typeface="Calibri" pitchFamily="34" charset="-120"/>
              </a:rPr>
              <a:t>Systems of record</a:t>
            </a:r>
            <a:endParaRPr lang="en-US" sz="1500" dirty="0"/>
          </a:p>
        </p:txBody>
      </p:sp>
      <p:sp>
        <p:nvSpPr>
          <p:cNvPr id="43" name="Text 41"/>
          <p:cNvSpPr/>
          <p:nvPr/>
        </p:nvSpPr>
        <p:spPr>
          <a:xfrm>
            <a:off x="6419088" y="3721608"/>
            <a:ext cx="4937760" cy="274320"/>
          </a:xfrm>
          <a:prstGeom prst="rect">
            <a:avLst/>
          </a:prstGeom>
          <a:noFill/>
          <a:ln/>
        </p:spPr>
        <p:txBody>
          <a:bodyPr wrap="square" lIns="0" tIns="0" rIns="0" bIns="0" rtlCol="0" anchor="ctr"/>
          <a:lstStyle/>
          <a:p>
            <a:pPr indent="0" marL="0">
              <a:buNone/>
            </a:pPr>
            <a:r>
              <a:rPr lang="en-US" sz="1000" dirty="0">
                <a:solidFill>
                  <a:srgbClr val="0F9BA8"/>
                </a:solidFill>
                <a:latin typeface="Courier New" pitchFamily="34" charset="0"/>
                <a:ea typeface="Courier New" pitchFamily="34" charset="-122"/>
                <a:cs typeface="Courier New" pitchFamily="34" charset="-120"/>
              </a:rPr>
              <a:t>SAP-OMS · WMS · ABDA · AI Search · ServiceNow</a:t>
            </a:r>
            <a:endParaRPr lang="en-US" sz="1000" dirty="0"/>
          </a:p>
        </p:txBody>
      </p:sp>
      <p:sp>
        <p:nvSpPr>
          <p:cNvPr id="44" name="Text 42"/>
          <p:cNvSpPr/>
          <p:nvPr/>
        </p:nvSpPr>
        <p:spPr>
          <a:xfrm>
            <a:off x="6419088" y="4023360"/>
            <a:ext cx="4937760" cy="40233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each tool declares what it touches and whether it mutates state</a:t>
            </a:r>
            <a:endParaRPr lang="en-US" sz="1150" dirty="0"/>
          </a:p>
        </p:txBody>
      </p:sp>
      <p:sp>
        <p:nvSpPr>
          <p:cNvPr id="45" name="Shape 43"/>
          <p:cNvSpPr/>
          <p:nvPr/>
        </p:nvSpPr>
        <p:spPr>
          <a:xfrm>
            <a:off x="5897880" y="4654296"/>
            <a:ext cx="5669280" cy="1261872"/>
          </a:xfrm>
          <a:prstGeom prst="roundRect">
            <a:avLst>
              <a:gd name="adj" fmla="val 5072"/>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46" name="Shape 44"/>
          <p:cNvSpPr/>
          <p:nvPr/>
        </p:nvSpPr>
        <p:spPr>
          <a:xfrm>
            <a:off x="6172200" y="4855464"/>
            <a:ext cx="155448" cy="155448"/>
          </a:xfrm>
          <a:prstGeom prst="ellipse">
            <a:avLst/>
          </a:prstGeom>
          <a:solidFill>
            <a:srgbClr val="B77400"/>
          </a:solidFill>
          <a:ln w="12700">
            <a:solidFill>
              <a:srgbClr val="B77400"/>
            </a:solidFill>
            <a:prstDash val="solid"/>
          </a:ln>
        </p:spPr>
      </p:sp>
      <p:sp>
        <p:nvSpPr>
          <p:cNvPr id="47" name="Text 45"/>
          <p:cNvSpPr/>
          <p:nvPr/>
        </p:nvSpPr>
        <p:spPr>
          <a:xfrm>
            <a:off x="6419088" y="4782312"/>
            <a:ext cx="4937760" cy="292608"/>
          </a:xfrm>
          <a:prstGeom prst="rect">
            <a:avLst/>
          </a:prstGeom>
          <a:noFill/>
          <a:ln/>
        </p:spPr>
        <p:txBody>
          <a:bodyPr wrap="square" lIns="0" tIns="0" rIns="0" bIns="0" rtlCol="0" anchor="ctr"/>
          <a:lstStyle/>
          <a:p>
            <a:pPr indent="0" marL="0">
              <a:buNone/>
            </a:pPr>
            <a:r>
              <a:rPr lang="en-US" sz="1500" b="1" dirty="0">
                <a:solidFill>
                  <a:srgbClr val="16202E"/>
                </a:solidFill>
                <a:latin typeface="Calibri" pitchFamily="34" charset="0"/>
                <a:ea typeface="Calibri" pitchFamily="34" charset="-122"/>
                <a:cs typeface="Calibri" pitchFamily="34" charset="-120"/>
              </a:rPr>
              <a:t>Telemetry</a:t>
            </a:r>
            <a:endParaRPr lang="en-US" sz="1500" dirty="0"/>
          </a:p>
        </p:txBody>
      </p:sp>
      <p:sp>
        <p:nvSpPr>
          <p:cNvPr id="48" name="Text 46"/>
          <p:cNvSpPr/>
          <p:nvPr/>
        </p:nvSpPr>
        <p:spPr>
          <a:xfrm>
            <a:off x="6419088" y="5111496"/>
            <a:ext cx="4937760" cy="274320"/>
          </a:xfrm>
          <a:prstGeom prst="rect">
            <a:avLst/>
          </a:prstGeom>
          <a:noFill/>
          <a:ln/>
        </p:spPr>
        <p:txBody>
          <a:bodyPr wrap="square" lIns="0" tIns="0" rIns="0" bIns="0" rtlCol="0" anchor="ctr"/>
          <a:lstStyle/>
          <a:p>
            <a:pPr indent="0" marL="0">
              <a:buNone/>
            </a:pPr>
            <a:r>
              <a:rPr lang="en-US" sz="1000" dirty="0">
                <a:solidFill>
                  <a:srgbClr val="B77400"/>
                </a:solidFill>
                <a:latin typeface="Courier New" pitchFamily="34" charset="0"/>
                <a:ea typeface="Courier New" pitchFamily="34" charset="-122"/>
                <a:cs typeface="Courier New" pitchFamily="34" charset="-120"/>
              </a:rPr>
              <a:t>OTel Collector → Azure Monitor · Grafana · audit table</a:t>
            </a:r>
            <a:endParaRPr lang="en-US" sz="1000" dirty="0"/>
          </a:p>
        </p:txBody>
      </p:sp>
      <p:sp>
        <p:nvSpPr>
          <p:cNvPr id="49" name="Text 47"/>
          <p:cNvSpPr/>
          <p:nvPr/>
        </p:nvSpPr>
        <p:spPr>
          <a:xfrm>
            <a:off x="6419088" y="5413248"/>
            <a:ext cx="4937760" cy="40233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one trace: debug artefact, quality signal, cost line, audit record</a:t>
            </a:r>
            <a:endParaRPr lang="en-US" sz="1150" dirty="0"/>
          </a:p>
        </p:txBody>
      </p:sp>
      <p:sp>
        <p:nvSpPr>
          <p:cNvPr id="50" name="Text 48"/>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THE REST OF THIS DECK</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The lifecycle, and who owns each phase</a:t>
            </a:r>
            <a:endParaRPr lang="en-US" sz="2800" dirty="0"/>
          </a:p>
        </p:txBody>
      </p:sp>
      <p:sp>
        <p:nvSpPr>
          <p:cNvPr id="4" name="Shape 2"/>
          <p:cNvSpPr/>
          <p:nvPr/>
        </p:nvSpPr>
        <p:spPr>
          <a:xfrm>
            <a:off x="594360" y="1965960"/>
            <a:ext cx="3429000" cy="1847088"/>
          </a:xfrm>
          <a:prstGeom prst="roundRect">
            <a:avLst>
              <a:gd name="adj" fmla="val 346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5" name="Shape 3"/>
          <p:cNvSpPr/>
          <p:nvPr/>
        </p:nvSpPr>
        <p:spPr>
          <a:xfrm>
            <a:off x="850392" y="2203704"/>
            <a:ext cx="402336" cy="402336"/>
          </a:xfrm>
          <a:prstGeom prst="ellipse">
            <a:avLst/>
          </a:prstGeom>
          <a:solidFill>
            <a:srgbClr val="0F9BA8"/>
          </a:solidFill>
          <a:ln w="12700">
            <a:solidFill>
              <a:srgbClr val="0F9BA8"/>
            </a:solidFill>
            <a:prstDash val="solid"/>
          </a:ln>
        </p:spPr>
      </p:sp>
      <p:sp>
        <p:nvSpPr>
          <p:cNvPr id="6" name="Text 4"/>
          <p:cNvSpPr/>
          <p:nvPr/>
        </p:nvSpPr>
        <p:spPr>
          <a:xfrm>
            <a:off x="850392" y="22037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0744" y="2221992"/>
            <a:ext cx="23774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Build</a:t>
            </a:r>
            <a:endParaRPr lang="en-US" sz="2100" dirty="0"/>
          </a:p>
        </p:txBody>
      </p:sp>
      <p:sp>
        <p:nvSpPr>
          <p:cNvPr id="8" name="Text 6"/>
          <p:cNvSpPr/>
          <p:nvPr/>
        </p:nvSpPr>
        <p:spPr>
          <a:xfrm>
            <a:off x="850392" y="2715768"/>
            <a:ext cx="2926080" cy="274320"/>
          </a:xfrm>
          <a:prstGeom prst="rect">
            <a:avLst/>
          </a:prstGeom>
          <a:noFill/>
          <a:ln/>
        </p:spPr>
        <p:txBody>
          <a:bodyPr wrap="square" lIns="0" tIns="0" rIns="0" bIns="0" rtlCol="0" anchor="ctr"/>
          <a:lstStyle/>
          <a:p>
            <a:pPr indent="0" marL="0">
              <a:buNone/>
            </a:pPr>
            <a:r>
              <a:rPr lang="en-US" sz="1200" i="1" dirty="0">
                <a:solidFill>
                  <a:srgbClr val="0F9BA8"/>
                </a:solidFill>
                <a:latin typeface="Calibri" pitchFamily="34" charset="0"/>
                <a:ea typeface="Calibri" pitchFamily="34" charset="-122"/>
                <a:cs typeface="Calibri" pitchFamily="34" charset="-120"/>
              </a:rPr>
              <a:t>make it possible</a:t>
            </a:r>
            <a:endParaRPr lang="en-US" sz="1200" dirty="0"/>
          </a:p>
        </p:txBody>
      </p:sp>
      <p:sp>
        <p:nvSpPr>
          <p:cNvPr id="9" name="Text 7"/>
          <p:cNvSpPr/>
          <p:nvPr/>
        </p:nvSpPr>
        <p:spPr>
          <a:xfrm>
            <a:off x="850392" y="3044952"/>
            <a:ext cx="2926080" cy="658368"/>
          </a:xfrm>
          <a:prstGeom prst="rect">
            <a:avLst/>
          </a:prstGeom>
          <a:noFill/>
          <a:ln/>
        </p:spPr>
        <p:txBody>
          <a:bodyPr wrap="square" lIns="0" tIns="0" rIns="0" bIns="0" rtlCol="0" anchor="ctr"/>
          <a:lstStyle/>
          <a:p>
            <a:pPr indent="0" marL="0">
              <a:lnSpc>
                <a:spcPts val="1500"/>
              </a:lnSpc>
              <a:buNone/>
            </a:pPr>
            <a:r>
              <a:rPr lang="en-US" sz="1050" dirty="0">
                <a:solidFill>
                  <a:srgbClr val="9BAABF"/>
                </a:solidFill>
                <a:latin typeface="Courier New" pitchFamily="34" charset="0"/>
                <a:ea typeface="Courier New" pitchFamily="34" charset="-122"/>
                <a:cs typeface="Courier New" pitchFamily="34" charset="-120"/>
              </a:rPr>
              <a:t>GitHub · golden path · LiteLLM</a:t>
            </a:r>
            <a:endParaRPr lang="en-US" sz="1050" dirty="0"/>
          </a:p>
        </p:txBody>
      </p:sp>
      <p:sp>
        <p:nvSpPr>
          <p:cNvPr id="10" name="Shape 8"/>
          <p:cNvSpPr/>
          <p:nvPr/>
        </p:nvSpPr>
        <p:spPr>
          <a:xfrm>
            <a:off x="4297680" y="1965960"/>
            <a:ext cx="3429000" cy="1847088"/>
          </a:xfrm>
          <a:prstGeom prst="roundRect">
            <a:avLst>
              <a:gd name="adj" fmla="val 346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1" name="Shape 9"/>
          <p:cNvSpPr/>
          <p:nvPr/>
        </p:nvSpPr>
        <p:spPr>
          <a:xfrm>
            <a:off x="4553712" y="2203704"/>
            <a:ext cx="402336" cy="402336"/>
          </a:xfrm>
          <a:prstGeom prst="ellipse">
            <a:avLst/>
          </a:prstGeom>
          <a:solidFill>
            <a:srgbClr val="E2001A"/>
          </a:solidFill>
          <a:ln w="12700">
            <a:solidFill>
              <a:srgbClr val="E2001A"/>
            </a:solidFill>
            <a:prstDash val="solid"/>
          </a:ln>
        </p:spPr>
      </p:sp>
      <p:sp>
        <p:nvSpPr>
          <p:cNvPr id="12" name="Text 10"/>
          <p:cNvSpPr/>
          <p:nvPr/>
        </p:nvSpPr>
        <p:spPr>
          <a:xfrm>
            <a:off x="4553712" y="22037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5084064" y="2221992"/>
            <a:ext cx="23774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Prove</a:t>
            </a:r>
            <a:endParaRPr lang="en-US" sz="2100" dirty="0"/>
          </a:p>
        </p:txBody>
      </p:sp>
      <p:sp>
        <p:nvSpPr>
          <p:cNvPr id="14" name="Text 12"/>
          <p:cNvSpPr/>
          <p:nvPr/>
        </p:nvSpPr>
        <p:spPr>
          <a:xfrm>
            <a:off x="4553712" y="2715768"/>
            <a:ext cx="2926080" cy="274320"/>
          </a:xfrm>
          <a:prstGeom prst="rect">
            <a:avLst/>
          </a:prstGeom>
          <a:noFill/>
          <a:ln/>
        </p:spPr>
        <p:txBody>
          <a:bodyPr wrap="square" lIns="0" tIns="0" rIns="0" bIns="0" rtlCol="0" anchor="ctr"/>
          <a:lstStyle/>
          <a:p>
            <a:pPr indent="0" marL="0">
              <a:buNone/>
            </a:pPr>
            <a:r>
              <a:rPr lang="en-US" sz="1200" i="1" dirty="0">
                <a:solidFill>
                  <a:srgbClr val="E2001A"/>
                </a:solidFill>
                <a:latin typeface="Calibri" pitchFamily="34" charset="0"/>
                <a:ea typeface="Calibri" pitchFamily="34" charset="-122"/>
                <a:cs typeface="Calibri" pitchFamily="34" charset="-120"/>
              </a:rPr>
              <a:t>make it trustworthy</a:t>
            </a:r>
            <a:endParaRPr lang="en-US" sz="1200" dirty="0"/>
          </a:p>
        </p:txBody>
      </p:sp>
      <p:sp>
        <p:nvSpPr>
          <p:cNvPr id="15" name="Text 13"/>
          <p:cNvSpPr/>
          <p:nvPr/>
        </p:nvSpPr>
        <p:spPr>
          <a:xfrm>
            <a:off x="4553712" y="3044952"/>
            <a:ext cx="2926080" cy="658368"/>
          </a:xfrm>
          <a:prstGeom prst="rect">
            <a:avLst/>
          </a:prstGeom>
          <a:noFill/>
          <a:ln/>
        </p:spPr>
        <p:txBody>
          <a:bodyPr wrap="square" lIns="0" tIns="0" rIns="0" bIns="0" rtlCol="0" anchor="ctr"/>
          <a:lstStyle/>
          <a:p>
            <a:pPr indent="0" marL="0">
              <a:lnSpc>
                <a:spcPts val="1500"/>
              </a:lnSpc>
              <a:buNone/>
            </a:pPr>
            <a:r>
              <a:rPr lang="en-US" sz="1050" dirty="0">
                <a:solidFill>
                  <a:srgbClr val="9BAABF"/>
                </a:solidFill>
                <a:latin typeface="Courier New" pitchFamily="34" charset="0"/>
                <a:ea typeface="Courier New" pitchFamily="34" charset="-122"/>
                <a:cs typeface="Courier New" pitchFamily="34" charset="-120"/>
              </a:rPr>
              <a:t>Evals · guardrails</a:t>
            </a:r>
            <a:endParaRPr lang="en-US" sz="1050" dirty="0"/>
          </a:p>
        </p:txBody>
      </p:sp>
      <p:sp>
        <p:nvSpPr>
          <p:cNvPr id="16" name="Shape 14"/>
          <p:cNvSpPr/>
          <p:nvPr/>
        </p:nvSpPr>
        <p:spPr>
          <a:xfrm>
            <a:off x="8001000" y="1965960"/>
            <a:ext cx="3429000" cy="1847088"/>
          </a:xfrm>
          <a:prstGeom prst="roundRect">
            <a:avLst>
              <a:gd name="adj" fmla="val 346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7" name="Shape 15"/>
          <p:cNvSpPr/>
          <p:nvPr/>
        </p:nvSpPr>
        <p:spPr>
          <a:xfrm>
            <a:off x="8257032" y="2203704"/>
            <a:ext cx="402336" cy="402336"/>
          </a:xfrm>
          <a:prstGeom prst="ellipse">
            <a:avLst/>
          </a:prstGeom>
          <a:solidFill>
            <a:srgbClr val="0F9BA8"/>
          </a:solidFill>
          <a:ln w="12700">
            <a:solidFill>
              <a:srgbClr val="0F9BA8"/>
            </a:solidFill>
            <a:prstDash val="solid"/>
          </a:ln>
        </p:spPr>
      </p:sp>
      <p:sp>
        <p:nvSpPr>
          <p:cNvPr id="18" name="Text 16"/>
          <p:cNvSpPr/>
          <p:nvPr/>
        </p:nvSpPr>
        <p:spPr>
          <a:xfrm>
            <a:off x="8257032" y="22037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787384" y="2221992"/>
            <a:ext cx="23774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Ship</a:t>
            </a:r>
            <a:endParaRPr lang="en-US" sz="2100" dirty="0"/>
          </a:p>
        </p:txBody>
      </p:sp>
      <p:sp>
        <p:nvSpPr>
          <p:cNvPr id="20" name="Text 18"/>
          <p:cNvSpPr/>
          <p:nvPr/>
        </p:nvSpPr>
        <p:spPr>
          <a:xfrm>
            <a:off x="8257032" y="2715768"/>
            <a:ext cx="2926080" cy="274320"/>
          </a:xfrm>
          <a:prstGeom prst="rect">
            <a:avLst/>
          </a:prstGeom>
          <a:noFill/>
          <a:ln/>
        </p:spPr>
        <p:txBody>
          <a:bodyPr wrap="square" lIns="0" tIns="0" rIns="0" bIns="0" rtlCol="0" anchor="ctr"/>
          <a:lstStyle/>
          <a:p>
            <a:pPr indent="0" marL="0">
              <a:buNone/>
            </a:pPr>
            <a:r>
              <a:rPr lang="en-US" sz="1200" i="1" dirty="0">
                <a:solidFill>
                  <a:srgbClr val="0F9BA8"/>
                </a:solidFill>
                <a:latin typeface="Calibri" pitchFamily="34" charset="0"/>
                <a:ea typeface="Calibri" pitchFamily="34" charset="-122"/>
                <a:cs typeface="Calibri" pitchFamily="34" charset="-120"/>
              </a:rPr>
              <a:t>make it repeatable</a:t>
            </a:r>
            <a:endParaRPr lang="en-US" sz="1200" dirty="0"/>
          </a:p>
        </p:txBody>
      </p:sp>
      <p:sp>
        <p:nvSpPr>
          <p:cNvPr id="21" name="Text 19"/>
          <p:cNvSpPr/>
          <p:nvPr/>
        </p:nvSpPr>
        <p:spPr>
          <a:xfrm>
            <a:off x="8257032" y="3044952"/>
            <a:ext cx="2926080" cy="658368"/>
          </a:xfrm>
          <a:prstGeom prst="rect">
            <a:avLst/>
          </a:prstGeom>
          <a:noFill/>
          <a:ln/>
        </p:spPr>
        <p:txBody>
          <a:bodyPr wrap="square" lIns="0" tIns="0" rIns="0" bIns="0" rtlCol="0" anchor="ctr"/>
          <a:lstStyle/>
          <a:p>
            <a:pPr indent="0" marL="0">
              <a:lnSpc>
                <a:spcPts val="1500"/>
              </a:lnSpc>
              <a:buNone/>
            </a:pPr>
            <a:r>
              <a:rPr lang="en-US" sz="1050" dirty="0">
                <a:solidFill>
                  <a:srgbClr val="9BAABF"/>
                </a:solidFill>
                <a:latin typeface="Courier New" pitchFamily="34" charset="0"/>
                <a:ea typeface="Courier New" pitchFamily="34" charset="-122"/>
                <a:cs typeface="Courier New" pitchFamily="34" charset="-120"/>
              </a:rPr>
              <a:t>Terraform · GitHub Actions · Container Apps</a:t>
            </a:r>
            <a:endParaRPr lang="en-US" sz="1050" dirty="0"/>
          </a:p>
        </p:txBody>
      </p:sp>
      <p:sp>
        <p:nvSpPr>
          <p:cNvPr id="22" name="Shape 20"/>
          <p:cNvSpPr/>
          <p:nvPr/>
        </p:nvSpPr>
        <p:spPr>
          <a:xfrm>
            <a:off x="594360" y="4023360"/>
            <a:ext cx="3429000" cy="1847088"/>
          </a:xfrm>
          <a:prstGeom prst="roundRect">
            <a:avLst>
              <a:gd name="adj" fmla="val 346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23" name="Shape 21"/>
          <p:cNvSpPr/>
          <p:nvPr/>
        </p:nvSpPr>
        <p:spPr>
          <a:xfrm>
            <a:off x="850392" y="4261104"/>
            <a:ext cx="402336" cy="402336"/>
          </a:xfrm>
          <a:prstGeom prst="ellipse">
            <a:avLst/>
          </a:prstGeom>
          <a:solidFill>
            <a:srgbClr val="B77400"/>
          </a:solidFill>
          <a:ln w="12700">
            <a:solidFill>
              <a:srgbClr val="B77400"/>
            </a:solidFill>
            <a:prstDash val="solid"/>
          </a:ln>
        </p:spPr>
      </p:sp>
      <p:sp>
        <p:nvSpPr>
          <p:cNvPr id="24" name="Text 22"/>
          <p:cNvSpPr/>
          <p:nvPr/>
        </p:nvSpPr>
        <p:spPr>
          <a:xfrm>
            <a:off x="850392" y="4261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380744" y="4279392"/>
            <a:ext cx="23774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Run</a:t>
            </a:r>
            <a:endParaRPr lang="en-US" sz="2100" dirty="0"/>
          </a:p>
        </p:txBody>
      </p:sp>
      <p:sp>
        <p:nvSpPr>
          <p:cNvPr id="26" name="Text 24"/>
          <p:cNvSpPr/>
          <p:nvPr/>
        </p:nvSpPr>
        <p:spPr>
          <a:xfrm>
            <a:off x="850392" y="4773168"/>
            <a:ext cx="2926080" cy="274320"/>
          </a:xfrm>
          <a:prstGeom prst="rect">
            <a:avLst/>
          </a:prstGeom>
          <a:noFill/>
          <a:ln/>
        </p:spPr>
        <p:txBody>
          <a:bodyPr wrap="square" lIns="0" tIns="0" rIns="0" bIns="0" rtlCol="0" anchor="ctr"/>
          <a:lstStyle/>
          <a:p>
            <a:pPr indent="0" marL="0">
              <a:buNone/>
            </a:pPr>
            <a:r>
              <a:rPr lang="en-US" sz="1200" i="1" dirty="0">
                <a:solidFill>
                  <a:srgbClr val="B77400"/>
                </a:solidFill>
                <a:latin typeface="Calibri" pitchFamily="34" charset="0"/>
                <a:ea typeface="Calibri" pitchFamily="34" charset="-122"/>
                <a:cs typeface="Calibri" pitchFamily="34" charset="-120"/>
              </a:rPr>
              <a:t>make it visible</a:t>
            </a:r>
            <a:endParaRPr lang="en-US" sz="1200" dirty="0"/>
          </a:p>
        </p:txBody>
      </p:sp>
      <p:sp>
        <p:nvSpPr>
          <p:cNvPr id="27" name="Text 25"/>
          <p:cNvSpPr/>
          <p:nvPr/>
        </p:nvSpPr>
        <p:spPr>
          <a:xfrm>
            <a:off x="850392" y="5102352"/>
            <a:ext cx="2926080" cy="658368"/>
          </a:xfrm>
          <a:prstGeom prst="rect">
            <a:avLst/>
          </a:prstGeom>
          <a:noFill/>
          <a:ln/>
        </p:spPr>
        <p:txBody>
          <a:bodyPr wrap="square" lIns="0" tIns="0" rIns="0" bIns="0" rtlCol="0" anchor="ctr"/>
          <a:lstStyle/>
          <a:p>
            <a:pPr indent="0" marL="0">
              <a:lnSpc>
                <a:spcPts val="1500"/>
              </a:lnSpc>
              <a:buNone/>
            </a:pPr>
            <a:r>
              <a:rPr lang="en-US" sz="1050" dirty="0">
                <a:solidFill>
                  <a:srgbClr val="9BAABF"/>
                </a:solidFill>
                <a:latin typeface="Courier New" pitchFamily="34" charset="0"/>
                <a:ea typeface="Courier New" pitchFamily="34" charset="-122"/>
                <a:cs typeface="Courier New" pitchFamily="34" charset="-120"/>
              </a:rPr>
              <a:t>OpenTelemetry · Azure Monitor · Grafana · SLOs</a:t>
            </a:r>
            <a:endParaRPr lang="en-US" sz="1050" dirty="0"/>
          </a:p>
        </p:txBody>
      </p:sp>
      <p:sp>
        <p:nvSpPr>
          <p:cNvPr id="28" name="Shape 26"/>
          <p:cNvSpPr/>
          <p:nvPr/>
        </p:nvSpPr>
        <p:spPr>
          <a:xfrm>
            <a:off x="4297680" y="4023360"/>
            <a:ext cx="3429000" cy="1847088"/>
          </a:xfrm>
          <a:prstGeom prst="roundRect">
            <a:avLst>
              <a:gd name="adj" fmla="val 346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29" name="Shape 27"/>
          <p:cNvSpPr/>
          <p:nvPr/>
        </p:nvSpPr>
        <p:spPr>
          <a:xfrm>
            <a:off x="4553712" y="4261104"/>
            <a:ext cx="402336" cy="402336"/>
          </a:xfrm>
          <a:prstGeom prst="ellipse">
            <a:avLst/>
          </a:prstGeom>
          <a:solidFill>
            <a:srgbClr val="E2001A"/>
          </a:solidFill>
          <a:ln w="12700">
            <a:solidFill>
              <a:srgbClr val="E2001A"/>
            </a:solidFill>
            <a:prstDash val="solid"/>
          </a:ln>
        </p:spPr>
      </p:sp>
      <p:sp>
        <p:nvSpPr>
          <p:cNvPr id="30" name="Text 28"/>
          <p:cNvSpPr/>
          <p:nvPr/>
        </p:nvSpPr>
        <p:spPr>
          <a:xfrm>
            <a:off x="4553712" y="4261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5084064" y="4279392"/>
            <a:ext cx="23774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Govern</a:t>
            </a:r>
            <a:endParaRPr lang="en-US" sz="2100" dirty="0"/>
          </a:p>
        </p:txBody>
      </p:sp>
      <p:sp>
        <p:nvSpPr>
          <p:cNvPr id="32" name="Text 30"/>
          <p:cNvSpPr/>
          <p:nvPr/>
        </p:nvSpPr>
        <p:spPr>
          <a:xfrm>
            <a:off x="4553712" y="4773168"/>
            <a:ext cx="2926080" cy="274320"/>
          </a:xfrm>
          <a:prstGeom prst="rect">
            <a:avLst/>
          </a:prstGeom>
          <a:noFill/>
          <a:ln/>
        </p:spPr>
        <p:txBody>
          <a:bodyPr wrap="square" lIns="0" tIns="0" rIns="0" bIns="0" rtlCol="0" anchor="ctr"/>
          <a:lstStyle/>
          <a:p>
            <a:pPr indent="0" marL="0">
              <a:buNone/>
            </a:pPr>
            <a:r>
              <a:rPr lang="en-US" sz="1200" i="1" dirty="0">
                <a:solidFill>
                  <a:srgbClr val="E2001A"/>
                </a:solidFill>
                <a:latin typeface="Calibri" pitchFamily="34" charset="0"/>
                <a:ea typeface="Calibri" pitchFamily="34" charset="-122"/>
                <a:cs typeface="Calibri" pitchFamily="34" charset="-120"/>
              </a:rPr>
              <a:t>make it defensible</a:t>
            </a:r>
            <a:endParaRPr lang="en-US" sz="1200" dirty="0"/>
          </a:p>
        </p:txBody>
      </p:sp>
      <p:sp>
        <p:nvSpPr>
          <p:cNvPr id="33" name="Text 31"/>
          <p:cNvSpPr/>
          <p:nvPr/>
        </p:nvSpPr>
        <p:spPr>
          <a:xfrm>
            <a:off x="4553712" y="5102352"/>
            <a:ext cx="2926080" cy="658368"/>
          </a:xfrm>
          <a:prstGeom prst="rect">
            <a:avLst/>
          </a:prstGeom>
          <a:noFill/>
          <a:ln/>
        </p:spPr>
        <p:txBody>
          <a:bodyPr wrap="square" lIns="0" tIns="0" rIns="0" bIns="0" rtlCol="0" anchor="ctr"/>
          <a:lstStyle/>
          <a:p>
            <a:pPr indent="0" marL="0">
              <a:lnSpc>
                <a:spcPts val="1500"/>
              </a:lnSpc>
              <a:buNone/>
            </a:pPr>
            <a:r>
              <a:rPr lang="en-US" sz="1050" dirty="0">
                <a:solidFill>
                  <a:srgbClr val="9BAABF"/>
                </a:solidFill>
                <a:latin typeface="Courier New" pitchFamily="34" charset="0"/>
                <a:ea typeface="Courier New" pitchFamily="34" charset="-122"/>
                <a:cs typeface="Courier New" pitchFamily="34" charset="-120"/>
              </a:rPr>
              <a:t>EU AI Act · HITL · policy as code · Entra ID</a:t>
            </a:r>
            <a:endParaRPr lang="en-US" sz="1050" dirty="0"/>
          </a:p>
        </p:txBody>
      </p:sp>
      <p:sp>
        <p:nvSpPr>
          <p:cNvPr id="34" name="Shape 32"/>
          <p:cNvSpPr/>
          <p:nvPr/>
        </p:nvSpPr>
        <p:spPr>
          <a:xfrm>
            <a:off x="8001000" y="4023360"/>
            <a:ext cx="3429000" cy="1847088"/>
          </a:xfrm>
          <a:prstGeom prst="roundRect">
            <a:avLst>
              <a:gd name="adj" fmla="val 346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35" name="Shape 33"/>
          <p:cNvSpPr/>
          <p:nvPr/>
        </p:nvSpPr>
        <p:spPr>
          <a:xfrm>
            <a:off x="8257032" y="4261104"/>
            <a:ext cx="402336" cy="402336"/>
          </a:xfrm>
          <a:prstGeom prst="ellipse">
            <a:avLst/>
          </a:prstGeom>
          <a:solidFill>
            <a:srgbClr val="B77400"/>
          </a:solidFill>
          <a:ln w="12700">
            <a:solidFill>
              <a:srgbClr val="B77400"/>
            </a:solidFill>
            <a:prstDash val="solid"/>
          </a:ln>
        </p:spPr>
      </p:sp>
      <p:sp>
        <p:nvSpPr>
          <p:cNvPr id="36" name="Text 34"/>
          <p:cNvSpPr/>
          <p:nvPr/>
        </p:nvSpPr>
        <p:spPr>
          <a:xfrm>
            <a:off x="8257032" y="4261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8787384" y="4279392"/>
            <a:ext cx="23774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Pay</a:t>
            </a:r>
            <a:endParaRPr lang="en-US" sz="2100" dirty="0"/>
          </a:p>
        </p:txBody>
      </p:sp>
      <p:sp>
        <p:nvSpPr>
          <p:cNvPr id="38" name="Text 36"/>
          <p:cNvSpPr/>
          <p:nvPr/>
        </p:nvSpPr>
        <p:spPr>
          <a:xfrm>
            <a:off x="8257032" y="4773168"/>
            <a:ext cx="2926080" cy="274320"/>
          </a:xfrm>
          <a:prstGeom prst="rect">
            <a:avLst/>
          </a:prstGeom>
          <a:noFill/>
          <a:ln/>
        </p:spPr>
        <p:txBody>
          <a:bodyPr wrap="square" lIns="0" tIns="0" rIns="0" bIns="0" rtlCol="0" anchor="ctr"/>
          <a:lstStyle/>
          <a:p>
            <a:pPr indent="0" marL="0">
              <a:buNone/>
            </a:pPr>
            <a:r>
              <a:rPr lang="en-US" sz="1200" i="1" dirty="0">
                <a:solidFill>
                  <a:srgbClr val="B77400"/>
                </a:solidFill>
                <a:latin typeface="Calibri" pitchFamily="34" charset="0"/>
                <a:ea typeface="Calibri" pitchFamily="34" charset="-122"/>
                <a:cs typeface="Calibri" pitchFamily="34" charset="-120"/>
              </a:rPr>
              <a:t>make it affordable</a:t>
            </a:r>
            <a:endParaRPr lang="en-US" sz="1200" dirty="0"/>
          </a:p>
        </p:txBody>
      </p:sp>
      <p:sp>
        <p:nvSpPr>
          <p:cNvPr id="39" name="Text 37"/>
          <p:cNvSpPr/>
          <p:nvPr/>
        </p:nvSpPr>
        <p:spPr>
          <a:xfrm>
            <a:off x="8257032" y="5102352"/>
            <a:ext cx="2926080" cy="658368"/>
          </a:xfrm>
          <a:prstGeom prst="rect">
            <a:avLst/>
          </a:prstGeom>
          <a:noFill/>
          <a:ln/>
        </p:spPr>
        <p:txBody>
          <a:bodyPr wrap="square" lIns="0" tIns="0" rIns="0" bIns="0" rtlCol="0" anchor="ctr"/>
          <a:lstStyle/>
          <a:p>
            <a:pPr indent="0" marL="0">
              <a:lnSpc>
                <a:spcPts val="1500"/>
              </a:lnSpc>
              <a:buNone/>
            </a:pPr>
            <a:r>
              <a:rPr lang="en-US" sz="1050" dirty="0">
                <a:solidFill>
                  <a:srgbClr val="9BAABF"/>
                </a:solidFill>
                <a:latin typeface="Courier New" pitchFamily="34" charset="0"/>
                <a:ea typeface="Courier New" pitchFamily="34" charset="-122"/>
                <a:cs typeface="Courier New" pitchFamily="34" charset="-120"/>
              </a:rPr>
              <a:t>FinOps · routing · caching · budgets</a:t>
            </a:r>
            <a:endParaRPr lang="en-US" sz="1050" dirty="0"/>
          </a:p>
        </p:txBody>
      </p:sp>
      <p:sp>
        <p:nvSpPr>
          <p:cNvPr id="40" name="Text 38"/>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1 · BUILD</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The paved road</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GitHub as a platform, not a repo host. Adoption is won on time to first token and lost on friction — target under an hour.</a:t>
            </a:r>
            <a:endParaRPr lang="en-US" sz="1350" dirty="0"/>
          </a:p>
        </p:txBody>
      </p:sp>
      <p:sp>
        <p:nvSpPr>
          <p:cNvPr id="5" name="Shape 3"/>
          <p:cNvSpPr/>
          <p:nvPr/>
        </p:nvSpPr>
        <p:spPr>
          <a:xfrm>
            <a:off x="594360" y="1874520"/>
            <a:ext cx="5349240" cy="3200400"/>
          </a:xfrm>
          <a:prstGeom prst="roundRect">
            <a:avLst>
              <a:gd name="adj" fmla="val 2000"/>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6" name="Text 4"/>
          <p:cNvSpPr/>
          <p:nvPr/>
        </p:nvSpPr>
        <p:spPr>
          <a:xfrm>
            <a:off x="886968" y="2048256"/>
            <a:ext cx="4754880" cy="310896"/>
          </a:xfrm>
          <a:prstGeom prst="rect">
            <a:avLst/>
          </a:prstGeom>
          <a:noFill/>
          <a:ln/>
        </p:spPr>
        <p:txBody>
          <a:bodyPr wrap="square" lIns="0" tIns="0" rIns="0" bIns="0" rtlCol="0" anchor="ctr"/>
          <a:lstStyle/>
          <a:p>
            <a:pPr indent="0" marL="0">
              <a:buNone/>
            </a:pPr>
            <a:r>
              <a:rPr lang="en-US" sz="1500" b="1" dirty="0">
                <a:solidFill>
                  <a:srgbClr val="1E7B45"/>
                </a:solidFill>
                <a:latin typeface="Calibri" pitchFamily="34" charset="0"/>
                <a:ea typeface="Calibri" pitchFamily="34" charset="-122"/>
                <a:cs typeface="Calibri" pitchFamily="34" charset="-120"/>
              </a:rPr>
              <a:t>Inherited — nobody writes it twice</a:t>
            </a:r>
            <a:endParaRPr lang="en-US" sz="1500" dirty="0"/>
          </a:p>
        </p:txBody>
      </p:sp>
      <p:sp>
        <p:nvSpPr>
          <p:cNvPr id="7" name="Text 5"/>
          <p:cNvSpPr/>
          <p:nvPr/>
        </p:nvSpPr>
        <p:spPr>
          <a:xfrm>
            <a:off x="886968" y="2450592"/>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Gateway client + a budgeted virtual key</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Input and output guardrail pipelines</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OTel tracing, four metric families, audit log</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Approval flow for side-effecting tools</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CI with the eval gate already wired</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A ~20-line Terraform stanza to onboard</a:t>
            </a:r>
            <a:endParaRPr lang="en-US" sz="1250" dirty="0"/>
          </a:p>
        </p:txBody>
      </p:sp>
      <p:sp>
        <p:nvSpPr>
          <p:cNvPr id="8" name="Shape 6"/>
          <p:cNvSpPr/>
          <p:nvPr/>
        </p:nvSpPr>
        <p:spPr>
          <a:xfrm>
            <a:off x="6217920" y="1874520"/>
            <a:ext cx="5349240" cy="3200400"/>
          </a:xfrm>
          <a:prstGeom prst="roundRect">
            <a:avLst>
              <a:gd name="adj" fmla="val 2000"/>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9" name="Text 7"/>
          <p:cNvSpPr/>
          <p:nvPr/>
        </p:nvSpPr>
        <p:spPr>
          <a:xfrm>
            <a:off x="6510528" y="2048256"/>
            <a:ext cx="4754880" cy="310896"/>
          </a:xfrm>
          <a:prstGeom prst="rect">
            <a:avLst/>
          </a:prstGeom>
          <a:noFill/>
          <a:ln/>
        </p:spPr>
        <p:txBody>
          <a:bodyPr wrap="square" lIns="0" tIns="0" rIns="0" bIns="0" rtlCol="0" anchor="ctr"/>
          <a:lstStyle/>
          <a:p>
            <a:pPr indent="0" marL="0">
              <a:buNone/>
            </a:pPr>
            <a:r>
              <a:rPr lang="en-US" sz="1500" b="1" dirty="0">
                <a:solidFill>
                  <a:srgbClr val="E2001A"/>
                </a:solidFill>
                <a:latin typeface="Calibri" pitchFamily="34" charset="0"/>
                <a:ea typeface="Calibri" pitchFamily="34" charset="-122"/>
                <a:cs typeface="Calibri" pitchFamily="34" charset="-120"/>
              </a:rPr>
              <a:t>Still the team's decision — deliberately</a:t>
            </a:r>
            <a:endParaRPr lang="en-US" sz="1500" dirty="0"/>
          </a:p>
        </p:txBody>
      </p:sp>
      <p:sp>
        <p:nvSpPr>
          <p:cNvPr id="10" name="Text 8"/>
          <p:cNvSpPr/>
          <p:nvPr/>
        </p:nvSpPr>
        <p:spPr>
          <a:xfrm>
            <a:off x="6510528" y="2450592"/>
            <a:ext cx="4754880" cy="237744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The tools — and which of them mutate state</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The golden set — 15-30 cases, failures first</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The EU AI Act risk tier, and the reasoning</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The escalation path when it hands over</a:t>
            </a:r>
            <a:endParaRPr lang="en-US" sz="1250" dirty="0"/>
          </a:p>
          <a:p>
            <a:pPr marL="342900" indent="-342900">
              <a:spcAft>
                <a:spcPts val="800"/>
              </a:spcAft>
              <a:buSzPct val="100000"/>
              <a:buChar char="•"/>
            </a:pPr>
            <a:r>
              <a:rPr lang="en-US" sz="1250" dirty="0">
                <a:solidFill>
                  <a:srgbClr val="16202E"/>
                </a:solidFill>
                <a:latin typeface="Calibri" pitchFamily="34" charset="0"/>
                <a:ea typeface="Calibri" pitchFamily="34" charset="-122"/>
                <a:cs typeface="Calibri" pitchFamily="34" charset="-120"/>
              </a:rPr>
              <a:t>The daily budget, and who is told at the cap</a:t>
            </a:r>
            <a:endParaRPr lang="en-US" sz="1250" dirty="0"/>
          </a:p>
        </p:txBody>
      </p:sp>
      <p:sp>
        <p:nvSpPr>
          <p:cNvPr id="11" name="Shape 9"/>
          <p:cNvSpPr/>
          <p:nvPr/>
        </p:nvSpPr>
        <p:spPr>
          <a:xfrm>
            <a:off x="594360" y="5285232"/>
            <a:ext cx="10972800" cy="786384"/>
          </a:xfrm>
          <a:prstGeom prst="roundRect">
            <a:avLst>
              <a:gd name="adj" fmla="val 8140"/>
            </a:avLst>
          </a:prstGeom>
          <a:solidFill>
            <a:srgbClr val="F1F4F8"/>
          </a:solidFill>
          <a:ln w="12700">
            <a:solidFill>
              <a:srgbClr val="E1E7EF"/>
            </a:solidFill>
            <a:prstDash val="solid"/>
          </a:ln>
        </p:spPr>
      </p:sp>
      <p:sp>
        <p:nvSpPr>
          <p:cNvPr id="12" name="Text 10"/>
          <p:cNvSpPr/>
          <p:nvPr/>
        </p:nvSpPr>
        <p:spPr>
          <a:xfrm>
            <a:off x="886968" y="5440680"/>
            <a:ext cx="10424160" cy="502920"/>
          </a:xfrm>
          <a:prstGeom prst="rect">
            <a:avLst/>
          </a:prstGeom>
          <a:noFill/>
          <a:ln/>
        </p:spPr>
        <p:txBody>
          <a:bodyPr wrap="square" lIns="0" tIns="0" rIns="0" bIns="0" rtlCol="0" anchor="ctr"/>
          <a:lstStyle/>
          <a:p>
            <a:pPr indent="0" marL="0">
              <a:buNone/>
            </a:pPr>
            <a:r>
              <a:rPr lang="en-US" sz="1250" b="1" dirty="0">
                <a:solidFill>
                  <a:srgbClr val="16202E"/>
                </a:solidFill>
                <a:latin typeface="Calibri" pitchFamily="34" charset="0"/>
                <a:ea typeface="Calibri" pitchFamily="34" charset="-122"/>
                <a:cs typeface="Calibri" pitchFamily="34" charset="-120"/>
              </a:rPr>
              <a:t>Why not automate the right-hand column?  </a:t>
            </a:r>
            <a:pPr indent="0" marL="0">
              <a:buNone/>
            </a:pPr>
            <a:r>
              <a:rPr lang="en-US" sz="1250" dirty="0">
                <a:solidFill>
                  <a:srgbClr val="5C6B80"/>
                </a:solidFill>
                <a:latin typeface="Calibri" pitchFamily="34" charset="0"/>
                <a:ea typeface="Calibri" pitchFamily="34" charset="-122"/>
                <a:cs typeface="Calibri" pitchFamily="34" charset="-120"/>
              </a:rPr>
              <a:t>A template that guesses the risk tier and the tool surface produces a compliant-looking agent nobody actually signed off.</a:t>
            </a:r>
            <a:endParaRPr lang="en-US" sz="1250" dirty="0"/>
          </a:p>
        </p:txBody>
      </p:sp>
      <p:sp>
        <p:nvSpPr>
          <p:cNvPr id="13" name="Text 11"/>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1 · BUILD</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LiteLLM: the choke point</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9BAABF"/>
                </a:solidFill>
                <a:latin typeface="Calibri" pitchFamily="34" charset="0"/>
                <a:ea typeface="Calibri" pitchFamily="34" charset="-122"/>
                <a:cs typeface="Calibri" pitchFamily="34" charset="-120"/>
              </a:rPr>
              <a:t>One OpenAI-compatible endpoint in front of every model any team may use — and the thing that makes every other guarantee enforceable.</a:t>
            </a:r>
            <a:endParaRPr lang="en-US" sz="1350" dirty="0"/>
          </a:p>
        </p:txBody>
      </p:sp>
      <p:sp>
        <p:nvSpPr>
          <p:cNvPr id="5" name="Shape 3"/>
          <p:cNvSpPr/>
          <p:nvPr/>
        </p:nvSpPr>
        <p:spPr>
          <a:xfrm>
            <a:off x="594360" y="2084832"/>
            <a:ext cx="128016" cy="128016"/>
          </a:xfrm>
          <a:prstGeom prst="ellipse">
            <a:avLst/>
          </a:prstGeom>
          <a:solidFill>
            <a:srgbClr val="E2001A"/>
          </a:solidFill>
          <a:ln w="12700">
            <a:solidFill>
              <a:srgbClr val="E2001A"/>
            </a:solidFill>
            <a:prstDash val="solid"/>
          </a:ln>
        </p:spPr>
      </p:sp>
      <p:sp>
        <p:nvSpPr>
          <p:cNvPr id="6" name="Text 4"/>
          <p:cNvSpPr/>
          <p:nvPr/>
        </p:nvSpPr>
        <p:spPr>
          <a:xfrm>
            <a:off x="886968" y="1965960"/>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Virtual keys</a:t>
            </a:r>
            <a:endParaRPr lang="en-US" sz="1400" dirty="0"/>
          </a:p>
        </p:txBody>
      </p:sp>
      <p:sp>
        <p:nvSpPr>
          <p:cNvPr id="7" name="Text 5"/>
          <p:cNvSpPr/>
          <p:nvPr/>
        </p:nvSpPr>
        <p:spPr>
          <a:xfrm>
            <a:off x="2880360" y="1993392"/>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one per team — the unit of governance</a:t>
            </a:r>
            <a:endParaRPr lang="en-US" sz="1150" dirty="0"/>
          </a:p>
        </p:txBody>
      </p:sp>
      <p:sp>
        <p:nvSpPr>
          <p:cNvPr id="8" name="Shape 6"/>
          <p:cNvSpPr/>
          <p:nvPr/>
        </p:nvSpPr>
        <p:spPr>
          <a:xfrm>
            <a:off x="6217920" y="2084832"/>
            <a:ext cx="128016" cy="128016"/>
          </a:xfrm>
          <a:prstGeom prst="ellipse">
            <a:avLst/>
          </a:prstGeom>
          <a:solidFill>
            <a:srgbClr val="E2001A"/>
          </a:solidFill>
          <a:ln w="12700">
            <a:solidFill>
              <a:srgbClr val="E2001A"/>
            </a:solidFill>
            <a:prstDash val="solid"/>
          </a:ln>
        </p:spPr>
      </p:sp>
      <p:sp>
        <p:nvSpPr>
          <p:cNvPr id="9" name="Text 7"/>
          <p:cNvSpPr/>
          <p:nvPr/>
        </p:nvSpPr>
        <p:spPr>
          <a:xfrm>
            <a:off x="6510528" y="1965960"/>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Entitlement</a:t>
            </a:r>
            <a:endParaRPr lang="en-US" sz="1400" dirty="0"/>
          </a:p>
        </p:txBody>
      </p:sp>
      <p:sp>
        <p:nvSpPr>
          <p:cNvPr id="10" name="Text 8"/>
          <p:cNvSpPr/>
          <p:nvPr/>
        </p:nvSpPr>
        <p:spPr>
          <a:xfrm>
            <a:off x="8503920" y="1993392"/>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which team may call which model</a:t>
            </a:r>
            <a:endParaRPr lang="en-US" sz="1150" dirty="0"/>
          </a:p>
        </p:txBody>
      </p:sp>
      <p:sp>
        <p:nvSpPr>
          <p:cNvPr id="11" name="Shape 9"/>
          <p:cNvSpPr/>
          <p:nvPr/>
        </p:nvSpPr>
        <p:spPr>
          <a:xfrm>
            <a:off x="594360" y="2871216"/>
            <a:ext cx="128016" cy="128016"/>
          </a:xfrm>
          <a:prstGeom prst="ellipse">
            <a:avLst/>
          </a:prstGeom>
          <a:solidFill>
            <a:srgbClr val="E2001A"/>
          </a:solidFill>
          <a:ln w="12700">
            <a:solidFill>
              <a:srgbClr val="E2001A"/>
            </a:solidFill>
            <a:prstDash val="solid"/>
          </a:ln>
        </p:spPr>
      </p:sp>
      <p:sp>
        <p:nvSpPr>
          <p:cNvPr id="12" name="Text 10"/>
          <p:cNvSpPr/>
          <p:nvPr/>
        </p:nvSpPr>
        <p:spPr>
          <a:xfrm>
            <a:off x="886968" y="2752344"/>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Rate limits</a:t>
            </a:r>
            <a:endParaRPr lang="en-US" sz="1400" dirty="0"/>
          </a:p>
        </p:txBody>
      </p:sp>
      <p:sp>
        <p:nvSpPr>
          <p:cNvPr id="13" name="Text 11"/>
          <p:cNvSpPr/>
          <p:nvPr/>
        </p:nvSpPr>
        <p:spPr>
          <a:xfrm>
            <a:off x="2880360" y="2779776"/>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rpm and tpm, so one team cannot starve another</a:t>
            </a:r>
            <a:endParaRPr lang="en-US" sz="1150" dirty="0"/>
          </a:p>
        </p:txBody>
      </p:sp>
      <p:sp>
        <p:nvSpPr>
          <p:cNvPr id="14" name="Shape 12"/>
          <p:cNvSpPr/>
          <p:nvPr/>
        </p:nvSpPr>
        <p:spPr>
          <a:xfrm>
            <a:off x="6217920" y="2871216"/>
            <a:ext cx="128016" cy="128016"/>
          </a:xfrm>
          <a:prstGeom prst="ellipse">
            <a:avLst/>
          </a:prstGeom>
          <a:solidFill>
            <a:srgbClr val="E2001A"/>
          </a:solidFill>
          <a:ln w="12700">
            <a:solidFill>
              <a:srgbClr val="E2001A"/>
            </a:solidFill>
            <a:prstDash val="solid"/>
          </a:ln>
        </p:spPr>
      </p:sp>
      <p:sp>
        <p:nvSpPr>
          <p:cNvPr id="15" name="Text 13"/>
          <p:cNvSpPr/>
          <p:nvPr/>
        </p:nvSpPr>
        <p:spPr>
          <a:xfrm>
            <a:off x="6510528" y="2752344"/>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Budgets</a:t>
            </a:r>
            <a:endParaRPr lang="en-US" sz="1400" dirty="0"/>
          </a:p>
        </p:txBody>
      </p:sp>
      <p:sp>
        <p:nvSpPr>
          <p:cNvPr id="16" name="Text 14"/>
          <p:cNvSpPr/>
          <p:nvPr/>
        </p:nvSpPr>
        <p:spPr>
          <a:xfrm>
            <a:off x="8503920" y="2779776"/>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hard caps enforced before the provider is called</a:t>
            </a:r>
            <a:endParaRPr lang="en-US" sz="1150" dirty="0"/>
          </a:p>
        </p:txBody>
      </p:sp>
      <p:sp>
        <p:nvSpPr>
          <p:cNvPr id="17" name="Shape 15"/>
          <p:cNvSpPr/>
          <p:nvPr/>
        </p:nvSpPr>
        <p:spPr>
          <a:xfrm>
            <a:off x="594360" y="3657600"/>
            <a:ext cx="128016" cy="128016"/>
          </a:xfrm>
          <a:prstGeom prst="ellipse">
            <a:avLst/>
          </a:prstGeom>
          <a:solidFill>
            <a:srgbClr val="E2001A"/>
          </a:solidFill>
          <a:ln w="12700">
            <a:solidFill>
              <a:srgbClr val="E2001A"/>
            </a:solidFill>
            <a:prstDash val="solid"/>
          </a:ln>
        </p:spPr>
      </p:sp>
      <p:sp>
        <p:nvSpPr>
          <p:cNvPr id="18" name="Text 16"/>
          <p:cNvSpPr/>
          <p:nvPr/>
        </p:nvSpPr>
        <p:spPr>
          <a:xfrm>
            <a:off x="886968" y="3538728"/>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Failover</a:t>
            </a:r>
            <a:endParaRPr lang="en-US" sz="1400" dirty="0"/>
          </a:p>
        </p:txBody>
      </p:sp>
      <p:sp>
        <p:nvSpPr>
          <p:cNvPr id="19" name="Text 17"/>
          <p:cNvSpPr/>
          <p:nvPr/>
        </p:nvSpPr>
        <p:spPr>
          <a:xfrm>
            <a:off x="2880360" y="3566160"/>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cross-region, then cross-provider</a:t>
            </a:r>
            <a:endParaRPr lang="en-US" sz="1150" dirty="0"/>
          </a:p>
        </p:txBody>
      </p:sp>
      <p:sp>
        <p:nvSpPr>
          <p:cNvPr id="20" name="Shape 18"/>
          <p:cNvSpPr/>
          <p:nvPr/>
        </p:nvSpPr>
        <p:spPr>
          <a:xfrm>
            <a:off x="6217920" y="3657600"/>
            <a:ext cx="128016" cy="128016"/>
          </a:xfrm>
          <a:prstGeom prst="ellipse">
            <a:avLst/>
          </a:prstGeom>
          <a:solidFill>
            <a:srgbClr val="E2001A"/>
          </a:solidFill>
          <a:ln w="12700">
            <a:solidFill>
              <a:srgbClr val="E2001A"/>
            </a:solidFill>
            <a:prstDash val="solid"/>
          </a:ln>
        </p:spPr>
      </p:sp>
      <p:sp>
        <p:nvSpPr>
          <p:cNvPr id="21" name="Text 19"/>
          <p:cNvSpPr/>
          <p:nvPr/>
        </p:nvSpPr>
        <p:spPr>
          <a:xfrm>
            <a:off x="6510528" y="3538728"/>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Semantic cache</a:t>
            </a:r>
            <a:endParaRPr lang="en-US" sz="1400" dirty="0"/>
          </a:p>
        </p:txBody>
      </p:sp>
      <p:sp>
        <p:nvSpPr>
          <p:cNvPr id="22" name="Text 20"/>
          <p:cNvSpPr/>
          <p:nvPr/>
        </p:nvSpPr>
        <p:spPr>
          <a:xfrm>
            <a:off x="8503920" y="3566160"/>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25-35% of support traffic answered free</a:t>
            </a:r>
            <a:endParaRPr lang="en-US" sz="1150" dirty="0"/>
          </a:p>
        </p:txBody>
      </p:sp>
      <p:sp>
        <p:nvSpPr>
          <p:cNvPr id="23" name="Shape 21"/>
          <p:cNvSpPr/>
          <p:nvPr/>
        </p:nvSpPr>
        <p:spPr>
          <a:xfrm>
            <a:off x="594360" y="4443984"/>
            <a:ext cx="128016" cy="128016"/>
          </a:xfrm>
          <a:prstGeom prst="ellipse">
            <a:avLst/>
          </a:prstGeom>
          <a:solidFill>
            <a:srgbClr val="E2001A"/>
          </a:solidFill>
          <a:ln w="12700">
            <a:solidFill>
              <a:srgbClr val="E2001A"/>
            </a:solidFill>
            <a:prstDash val="solid"/>
          </a:ln>
        </p:spPr>
      </p:sp>
      <p:sp>
        <p:nvSpPr>
          <p:cNvPr id="24" name="Text 22"/>
          <p:cNvSpPr/>
          <p:nvPr/>
        </p:nvSpPr>
        <p:spPr>
          <a:xfrm>
            <a:off x="886968" y="4325112"/>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 attribution</a:t>
            </a:r>
            <a:endParaRPr lang="en-US" sz="1400" dirty="0"/>
          </a:p>
        </p:txBody>
      </p:sp>
      <p:sp>
        <p:nvSpPr>
          <p:cNvPr id="25" name="Text 23"/>
          <p:cNvSpPr/>
          <p:nvPr/>
        </p:nvSpPr>
        <p:spPr>
          <a:xfrm>
            <a:off x="2880360" y="4352544"/>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every call carries a cost centre</a:t>
            </a:r>
            <a:endParaRPr lang="en-US" sz="1150" dirty="0"/>
          </a:p>
        </p:txBody>
      </p:sp>
      <p:sp>
        <p:nvSpPr>
          <p:cNvPr id="26" name="Shape 24"/>
          <p:cNvSpPr/>
          <p:nvPr/>
        </p:nvSpPr>
        <p:spPr>
          <a:xfrm>
            <a:off x="6217920" y="4443984"/>
            <a:ext cx="128016" cy="128016"/>
          </a:xfrm>
          <a:prstGeom prst="ellipse">
            <a:avLst/>
          </a:prstGeom>
          <a:solidFill>
            <a:srgbClr val="E2001A"/>
          </a:solidFill>
          <a:ln w="12700">
            <a:solidFill>
              <a:srgbClr val="E2001A"/>
            </a:solidFill>
            <a:prstDash val="solid"/>
          </a:ln>
        </p:spPr>
      </p:sp>
      <p:sp>
        <p:nvSpPr>
          <p:cNvPr id="27" name="Text 25"/>
          <p:cNvSpPr/>
          <p:nvPr/>
        </p:nvSpPr>
        <p:spPr>
          <a:xfrm>
            <a:off x="6510528" y="4325112"/>
            <a:ext cx="1965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Guardrail hooks</a:t>
            </a:r>
            <a:endParaRPr lang="en-US" sz="1400" dirty="0"/>
          </a:p>
        </p:txBody>
      </p:sp>
      <p:sp>
        <p:nvSpPr>
          <p:cNvPr id="28" name="Text 26"/>
          <p:cNvSpPr/>
          <p:nvPr/>
        </p:nvSpPr>
        <p:spPr>
          <a:xfrm>
            <a:off x="8503920" y="4352544"/>
            <a:ext cx="3108960" cy="457200"/>
          </a:xfrm>
          <a:prstGeom prst="rect">
            <a:avLst/>
          </a:prstGeom>
          <a:noFill/>
          <a:ln/>
        </p:spPr>
        <p:txBody>
          <a:bodyPr wrap="square" lIns="0" tIns="0" rIns="0" bIns="0" rtlCol="0" anchor="t"/>
          <a:lstStyle/>
          <a:p>
            <a:pPr indent="0" marL="0">
              <a:lnSpc>
                <a:spcPts val="1500"/>
              </a:lnSpc>
              <a:buNone/>
            </a:pPr>
            <a:r>
              <a:rPr lang="en-US" sz="1150" dirty="0">
                <a:solidFill>
                  <a:srgbClr val="9BAABF"/>
                </a:solidFill>
                <a:latin typeface="Calibri" pitchFamily="34" charset="0"/>
                <a:ea typeface="Calibri" pitchFamily="34" charset="-122"/>
                <a:cs typeface="Calibri" pitchFamily="34" charset="-120"/>
              </a:rPr>
              <a:t>PII masking and content safety for everyone</a:t>
            </a:r>
            <a:endParaRPr lang="en-US" sz="1150" dirty="0"/>
          </a:p>
        </p:txBody>
      </p:sp>
      <p:sp>
        <p:nvSpPr>
          <p:cNvPr id="29" name="Shape 27"/>
          <p:cNvSpPr/>
          <p:nvPr/>
        </p:nvSpPr>
        <p:spPr>
          <a:xfrm>
            <a:off x="594360" y="5349240"/>
            <a:ext cx="10972800" cy="868680"/>
          </a:xfrm>
          <a:prstGeom prst="roundRect">
            <a:avLst>
              <a:gd name="adj" fmla="val 7368"/>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30" name="Text 28"/>
          <p:cNvSpPr/>
          <p:nvPr/>
        </p:nvSpPr>
        <p:spPr>
          <a:xfrm>
            <a:off x="886968" y="5541264"/>
            <a:ext cx="1042416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Bypassing it is not a policy — it is a network property.  </a:t>
            </a:r>
            <a:pPr indent="0" marL="0">
              <a:buNone/>
            </a:pPr>
            <a:r>
              <a:rPr lang="en-US" sz="1250" dirty="0">
                <a:solidFill>
                  <a:srgbClr val="9BAABF"/>
                </a:solidFill>
                <a:latin typeface="Calibri" pitchFamily="34" charset="0"/>
                <a:ea typeface="Calibri" pitchFamily="34" charset="-122"/>
                <a:cs typeface="Calibri" pitchFamily="34" charset="-120"/>
              </a:rPr>
              <a:t>The agent subnet denies internet egress and the agent holds no provider key. It has exactly one route to a model.</a:t>
            </a:r>
            <a:endParaRPr lang="en-US" sz="1250" dirty="0"/>
          </a:p>
        </p:txBody>
      </p:sp>
      <p:sp>
        <p:nvSpPr>
          <p:cNvPr id="31" name="Text 29"/>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1 · BUILD</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2800" b="1" dirty="0">
                <a:solidFill>
                  <a:srgbClr val="16202E"/>
                </a:solidFill>
                <a:latin typeface="Cambria" pitchFamily="34" charset="0"/>
                <a:ea typeface="Cambria" pitchFamily="34" charset="-122"/>
                <a:cs typeface="Cambria" pitchFamily="34" charset="-120"/>
              </a:rPr>
              <a:t>Routing: three stages, always explained</a:t>
            </a:r>
            <a:endParaRPr lang="en-US" sz="28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Governance first, cost second, reliability third — and the router returns the reason.</a:t>
            </a:r>
            <a:endParaRPr lang="en-US" sz="1350" dirty="0"/>
          </a:p>
        </p:txBody>
      </p:sp>
      <p:sp>
        <p:nvSpPr>
          <p:cNvPr id="5" name="Shape 3"/>
          <p:cNvSpPr/>
          <p:nvPr/>
        </p:nvSpPr>
        <p:spPr>
          <a:xfrm>
            <a:off x="594360" y="1874520"/>
            <a:ext cx="3520440" cy="2514600"/>
          </a:xfrm>
          <a:prstGeom prst="roundRect">
            <a:avLst>
              <a:gd name="adj" fmla="val 2545"/>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6" name="Shape 4"/>
          <p:cNvSpPr/>
          <p:nvPr/>
        </p:nvSpPr>
        <p:spPr>
          <a:xfrm>
            <a:off x="868680" y="2084832"/>
            <a:ext cx="402336" cy="402336"/>
          </a:xfrm>
          <a:prstGeom prst="ellipse">
            <a:avLst/>
          </a:prstGeom>
          <a:solidFill>
            <a:srgbClr val="E2001A"/>
          </a:solidFill>
          <a:ln w="12700">
            <a:solidFill>
              <a:srgbClr val="E2001A"/>
            </a:solidFill>
            <a:prstDash val="solid"/>
          </a:ln>
        </p:spPr>
      </p:sp>
      <p:sp>
        <p:nvSpPr>
          <p:cNvPr id="7" name="Text 5"/>
          <p:cNvSpPr/>
          <p:nvPr/>
        </p:nvSpPr>
        <p:spPr>
          <a:xfrm>
            <a:off x="868680"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99032" y="2103120"/>
            <a:ext cx="2560320" cy="365760"/>
          </a:xfrm>
          <a:prstGeom prst="rect">
            <a:avLst/>
          </a:prstGeom>
          <a:noFill/>
          <a:ln/>
        </p:spPr>
        <p:txBody>
          <a:bodyPr wrap="square" lIns="0" tIns="0" rIns="0" bIns="0" rtlCol="0" anchor="ctr"/>
          <a:lstStyle/>
          <a:p>
            <a:pPr indent="0" marL="0">
              <a:buNone/>
            </a:pPr>
            <a:r>
              <a:rPr lang="en-US" sz="1600" b="1" dirty="0">
                <a:solidFill>
                  <a:srgbClr val="16202E"/>
                </a:solidFill>
                <a:latin typeface="Calibri" pitchFamily="34" charset="0"/>
                <a:ea typeface="Calibri" pitchFamily="34" charset="-122"/>
                <a:cs typeface="Calibri" pitchFamily="34" charset="-120"/>
              </a:rPr>
              <a:t>Entitlement</a:t>
            </a:r>
            <a:endParaRPr lang="en-US" sz="1600" dirty="0"/>
          </a:p>
        </p:txBody>
      </p:sp>
      <p:sp>
        <p:nvSpPr>
          <p:cNvPr id="9" name="Text 7"/>
          <p:cNvSpPr/>
          <p:nvPr/>
        </p:nvSpPr>
        <p:spPr>
          <a:xfrm>
            <a:off x="868680" y="2615184"/>
            <a:ext cx="2971800" cy="310896"/>
          </a:xfrm>
          <a:prstGeom prst="rect">
            <a:avLst/>
          </a:prstGeom>
          <a:noFill/>
          <a:ln/>
        </p:spPr>
        <p:txBody>
          <a:bodyPr wrap="square" lIns="0" tIns="0" rIns="0" bIns="0" rtlCol="0" anchor="ctr"/>
          <a:lstStyle/>
          <a:p>
            <a:pPr indent="0" marL="0">
              <a:buNone/>
            </a:pPr>
            <a:r>
              <a:rPr lang="en-US" sz="1200" i="1" dirty="0">
                <a:solidFill>
                  <a:srgbClr val="E2001A"/>
                </a:solidFill>
                <a:latin typeface="Calibri" pitchFamily="34" charset="0"/>
                <a:ea typeface="Calibri" pitchFamily="34" charset="-122"/>
                <a:cs typeface="Calibri" pitchFamily="34" charset="-120"/>
              </a:rPr>
              <a:t>Is this key allowed this model?</a:t>
            </a:r>
            <a:endParaRPr lang="en-US" sz="1200" dirty="0"/>
          </a:p>
        </p:txBody>
      </p:sp>
      <p:sp>
        <p:nvSpPr>
          <p:cNvPr id="10" name="Text 8"/>
          <p:cNvSpPr/>
          <p:nvPr/>
        </p:nvSpPr>
        <p:spPr>
          <a:xfrm>
            <a:off x="868680" y="2980944"/>
            <a:ext cx="2971800" cy="118872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A governance question, so it goes first. No performance consideration may override it.</a:t>
            </a:r>
            <a:endParaRPr lang="en-US" sz="1150" dirty="0"/>
          </a:p>
        </p:txBody>
      </p:sp>
      <p:sp>
        <p:nvSpPr>
          <p:cNvPr id="11" name="Text 9"/>
          <p:cNvSpPr/>
          <p:nvPr/>
        </p:nvSpPr>
        <p:spPr>
          <a:xfrm>
            <a:off x="4123944" y="2834640"/>
            <a:ext cx="274320" cy="365760"/>
          </a:xfrm>
          <a:prstGeom prst="rect">
            <a:avLst/>
          </a:prstGeom>
          <a:noFill/>
          <a:ln/>
        </p:spPr>
        <p:txBody>
          <a:bodyPr wrap="square" lIns="0" tIns="0" rIns="0" bIns="0" rtlCol="0" anchor="ctr"/>
          <a:lstStyle/>
          <a:p>
            <a:pPr algn="ctr" indent="0" marL="0">
              <a:buNone/>
            </a:pPr>
            <a:r>
              <a:rPr lang="en-US" sz="2000" dirty="0">
                <a:solidFill>
                  <a:srgbClr val="C6D0DC"/>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4389120" y="1874520"/>
            <a:ext cx="3520440" cy="2514600"/>
          </a:xfrm>
          <a:prstGeom prst="roundRect">
            <a:avLst>
              <a:gd name="adj" fmla="val 2545"/>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13" name="Shape 11"/>
          <p:cNvSpPr/>
          <p:nvPr/>
        </p:nvSpPr>
        <p:spPr>
          <a:xfrm>
            <a:off x="4663440" y="2084832"/>
            <a:ext cx="402336" cy="402336"/>
          </a:xfrm>
          <a:prstGeom prst="ellipse">
            <a:avLst/>
          </a:prstGeom>
          <a:solidFill>
            <a:srgbClr val="0F9BA8"/>
          </a:solidFill>
          <a:ln w="12700">
            <a:solidFill>
              <a:srgbClr val="0F9BA8"/>
            </a:solidFill>
            <a:prstDash val="solid"/>
          </a:ln>
        </p:spPr>
      </p:sp>
      <p:sp>
        <p:nvSpPr>
          <p:cNvPr id="14" name="Text 12"/>
          <p:cNvSpPr/>
          <p:nvPr/>
        </p:nvSpPr>
        <p:spPr>
          <a:xfrm>
            <a:off x="4663440"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193792" y="2103120"/>
            <a:ext cx="2560320" cy="365760"/>
          </a:xfrm>
          <a:prstGeom prst="rect">
            <a:avLst/>
          </a:prstGeom>
          <a:noFill/>
          <a:ln/>
        </p:spPr>
        <p:txBody>
          <a:bodyPr wrap="square" lIns="0" tIns="0" rIns="0" bIns="0" rtlCol="0" anchor="ctr"/>
          <a:lstStyle/>
          <a:p>
            <a:pPr indent="0" marL="0">
              <a:buNone/>
            </a:pPr>
            <a:r>
              <a:rPr lang="en-US" sz="1600" b="1" dirty="0">
                <a:solidFill>
                  <a:srgbClr val="16202E"/>
                </a:solidFill>
                <a:latin typeface="Calibri" pitchFamily="34" charset="0"/>
                <a:ea typeface="Calibri" pitchFamily="34" charset="-122"/>
                <a:cs typeface="Calibri" pitchFamily="34" charset="-120"/>
              </a:rPr>
              <a:t>Complexity tier</a:t>
            </a:r>
            <a:endParaRPr lang="en-US" sz="1600" dirty="0"/>
          </a:p>
        </p:txBody>
      </p:sp>
      <p:sp>
        <p:nvSpPr>
          <p:cNvPr id="16" name="Text 14"/>
          <p:cNvSpPr/>
          <p:nvPr/>
        </p:nvSpPr>
        <p:spPr>
          <a:xfrm>
            <a:off x="4663440" y="2615184"/>
            <a:ext cx="2971800" cy="310896"/>
          </a:xfrm>
          <a:prstGeom prst="rect">
            <a:avLst/>
          </a:prstGeom>
          <a:noFill/>
          <a:ln/>
        </p:spPr>
        <p:txBody>
          <a:bodyPr wrap="square" lIns="0" tIns="0" rIns="0" bIns="0" rtlCol="0" anchor="ctr"/>
          <a:lstStyle/>
          <a:p>
            <a:pPr indent="0" marL="0">
              <a:buNone/>
            </a:pPr>
            <a:r>
              <a:rPr lang="en-US" sz="1200" i="1" dirty="0">
                <a:solidFill>
                  <a:srgbClr val="0F9BA8"/>
                </a:solidFill>
                <a:latin typeface="Calibri" pitchFamily="34" charset="0"/>
                <a:ea typeface="Calibri" pitchFamily="34" charset="-122"/>
                <a:cs typeface="Calibri" pitchFamily="34" charset="-120"/>
              </a:rPr>
              <a:t>Cheapest model that can do the job</a:t>
            </a:r>
            <a:endParaRPr lang="en-US" sz="1200" dirty="0"/>
          </a:p>
        </p:txBody>
      </p:sp>
      <p:sp>
        <p:nvSpPr>
          <p:cNvPr id="17" name="Text 15"/>
          <p:cNvSpPr/>
          <p:nvPr/>
        </p:nvSpPr>
        <p:spPr>
          <a:xfrm>
            <a:off x="4663440" y="2980944"/>
            <a:ext cx="2971800" cy="118872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A classifier scores the turn trivial / standard / complex. Mini tier is ~16× cheaper per token; the classifier costs $0.0001.</a:t>
            </a:r>
            <a:endParaRPr lang="en-US" sz="1150" dirty="0"/>
          </a:p>
        </p:txBody>
      </p:sp>
      <p:sp>
        <p:nvSpPr>
          <p:cNvPr id="18" name="Text 16"/>
          <p:cNvSpPr/>
          <p:nvPr/>
        </p:nvSpPr>
        <p:spPr>
          <a:xfrm>
            <a:off x="7918704" y="2834640"/>
            <a:ext cx="274320" cy="365760"/>
          </a:xfrm>
          <a:prstGeom prst="rect">
            <a:avLst/>
          </a:prstGeom>
          <a:noFill/>
          <a:ln/>
        </p:spPr>
        <p:txBody>
          <a:bodyPr wrap="square" lIns="0" tIns="0" rIns="0" bIns="0" rtlCol="0" anchor="ctr"/>
          <a:lstStyle/>
          <a:p>
            <a:pPr algn="ctr" indent="0" marL="0">
              <a:buNone/>
            </a:pPr>
            <a:r>
              <a:rPr lang="en-US" sz="2000" dirty="0">
                <a:solidFill>
                  <a:srgbClr val="C6D0DC"/>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8183880" y="1874520"/>
            <a:ext cx="3520440" cy="2514600"/>
          </a:xfrm>
          <a:prstGeom prst="roundRect">
            <a:avLst>
              <a:gd name="adj" fmla="val 2545"/>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0" name="Shape 18"/>
          <p:cNvSpPr/>
          <p:nvPr/>
        </p:nvSpPr>
        <p:spPr>
          <a:xfrm>
            <a:off x="8458200" y="2084832"/>
            <a:ext cx="402336" cy="402336"/>
          </a:xfrm>
          <a:prstGeom prst="ellipse">
            <a:avLst/>
          </a:prstGeom>
          <a:solidFill>
            <a:srgbClr val="B77400"/>
          </a:solidFill>
          <a:ln w="12700">
            <a:solidFill>
              <a:srgbClr val="B77400"/>
            </a:solidFill>
            <a:prstDash val="solid"/>
          </a:ln>
        </p:spPr>
      </p:sp>
      <p:sp>
        <p:nvSpPr>
          <p:cNvPr id="21" name="Text 19"/>
          <p:cNvSpPr/>
          <p:nvPr/>
        </p:nvSpPr>
        <p:spPr>
          <a:xfrm>
            <a:off x="8458200" y="20848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988552" y="2103120"/>
            <a:ext cx="2560320" cy="365760"/>
          </a:xfrm>
          <a:prstGeom prst="rect">
            <a:avLst/>
          </a:prstGeom>
          <a:noFill/>
          <a:ln/>
        </p:spPr>
        <p:txBody>
          <a:bodyPr wrap="square" lIns="0" tIns="0" rIns="0" bIns="0" rtlCol="0" anchor="ctr"/>
          <a:lstStyle/>
          <a:p>
            <a:pPr indent="0" marL="0">
              <a:buNone/>
            </a:pPr>
            <a:r>
              <a:rPr lang="en-US" sz="1600" b="1" dirty="0">
                <a:solidFill>
                  <a:srgbClr val="16202E"/>
                </a:solidFill>
                <a:latin typeface="Calibri" pitchFamily="34" charset="0"/>
                <a:ea typeface="Calibri" pitchFamily="34" charset="-122"/>
                <a:cs typeface="Calibri" pitchFamily="34" charset="-120"/>
              </a:rPr>
              <a:t>Health</a:t>
            </a:r>
            <a:endParaRPr lang="en-US" sz="1600" dirty="0"/>
          </a:p>
        </p:txBody>
      </p:sp>
      <p:sp>
        <p:nvSpPr>
          <p:cNvPr id="23" name="Text 21"/>
          <p:cNvSpPr/>
          <p:nvPr/>
        </p:nvSpPr>
        <p:spPr>
          <a:xfrm>
            <a:off x="8458200" y="2615184"/>
            <a:ext cx="2971800" cy="310896"/>
          </a:xfrm>
          <a:prstGeom prst="rect">
            <a:avLst/>
          </a:prstGeom>
          <a:noFill/>
          <a:ln/>
        </p:spPr>
        <p:txBody>
          <a:bodyPr wrap="square" lIns="0" tIns="0" rIns="0" bIns="0" rtlCol="0" anchor="ctr"/>
          <a:lstStyle/>
          <a:p>
            <a:pPr indent="0" marL="0">
              <a:buNone/>
            </a:pPr>
            <a:r>
              <a:rPr lang="en-US" sz="1200" i="1" dirty="0">
                <a:solidFill>
                  <a:srgbClr val="B77400"/>
                </a:solidFill>
                <a:latin typeface="Calibri" pitchFamily="34" charset="0"/>
                <a:ea typeface="Calibri" pitchFamily="34" charset="-122"/>
                <a:cs typeface="Calibri" pitchFamily="34" charset="-120"/>
              </a:rPr>
              <a:t>Is the chosen deployment cooling down?</a:t>
            </a:r>
            <a:endParaRPr lang="en-US" sz="1200" dirty="0"/>
          </a:p>
        </p:txBody>
      </p:sp>
      <p:sp>
        <p:nvSpPr>
          <p:cNvPr id="24" name="Text 22"/>
          <p:cNvSpPr/>
          <p:nvPr/>
        </p:nvSpPr>
        <p:spPr>
          <a:xfrm>
            <a:off x="8458200" y="2980944"/>
            <a:ext cx="2971800" cy="118872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Same model, second EU region first. Different provider last — a provider switch changes behaviour, and behaviour changes need an eval run.</a:t>
            </a:r>
            <a:endParaRPr lang="en-US" sz="1150" dirty="0"/>
          </a:p>
        </p:txBody>
      </p:sp>
      <p:sp>
        <p:nvSpPr>
          <p:cNvPr id="25" name="Shape 23"/>
          <p:cNvSpPr/>
          <p:nvPr/>
        </p:nvSpPr>
        <p:spPr>
          <a:xfrm>
            <a:off x="594360" y="4645152"/>
            <a:ext cx="10972800" cy="1417320"/>
          </a:xfrm>
          <a:prstGeom prst="roundRect">
            <a:avLst>
              <a:gd name="adj" fmla="val 4516"/>
            </a:avLst>
          </a:prstGeom>
          <a:solidFill>
            <a:srgbClr val="0F131A"/>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6" name="Text 24"/>
          <p:cNvSpPr/>
          <p:nvPr/>
        </p:nvSpPr>
        <p:spPr>
          <a:xfrm>
            <a:off x="914400" y="4791456"/>
            <a:ext cx="5486400" cy="274320"/>
          </a:xfrm>
          <a:prstGeom prst="rect">
            <a:avLst/>
          </a:prstGeom>
          <a:noFill/>
          <a:ln/>
        </p:spPr>
        <p:txBody>
          <a:bodyPr wrap="square" lIns="0" tIns="0" rIns="0" bIns="0" rtlCol="0" anchor="ctr"/>
          <a:lstStyle/>
          <a:p>
            <a:pPr indent="0" marL="0">
              <a:buNone/>
            </a:pPr>
            <a:r>
              <a:rPr lang="en-US" sz="1200" b="1" dirty="0">
                <a:solidFill>
                  <a:srgbClr val="9BAABF"/>
                </a:solidFill>
                <a:latin typeface="Calibri" pitchFamily="34" charset="0"/>
                <a:ea typeface="Calibri" pitchFamily="34" charset="-122"/>
                <a:cs typeface="Calibri" pitchFamily="34" charset="-120"/>
              </a:rPr>
              <a:t>A routing decision the trace can explain</a:t>
            </a:r>
            <a:endParaRPr lang="en-US" sz="1200" dirty="0"/>
          </a:p>
        </p:txBody>
      </p:sp>
      <p:sp>
        <p:nvSpPr>
          <p:cNvPr id="27" name="Text 25"/>
          <p:cNvSpPr/>
          <p:nvPr/>
        </p:nvSpPr>
        <p:spPr>
          <a:xfrm>
            <a:off x="914400" y="5084064"/>
            <a:ext cx="10424160" cy="868680"/>
          </a:xfrm>
          <a:prstGeom prst="rect">
            <a:avLst/>
          </a:prstGeom>
          <a:noFill/>
          <a:ln/>
        </p:spPr>
        <p:txBody>
          <a:bodyPr wrap="square" lIns="0" tIns="0" rIns="0" bIns="0" rtlCol="0" anchor="ctr"/>
          <a:lstStyle/>
          <a:p>
            <a:pPr indent="0" marL="0">
              <a:lnSpc>
                <a:spcPts val="1600"/>
              </a:lnSpc>
              <a:buNone/>
            </a:pPr>
            <a:r>
              <a:rPr lang="en-US" sz="1150" dirty="0">
                <a:solidFill>
                  <a:srgbClr val="9BAABF"/>
                </a:solidFill>
                <a:latin typeface="Courier New" pitchFamily="34" charset="0"/>
                <a:ea typeface="Courier New" pitchFamily="34" charset="-122"/>
                <a:cs typeface="Courier New" pitchFamily="34" charset="-120"/>
              </a:rPr>
              <a:t>complexity  </a:t>
            </a:r>
            <a:pPr indent="0" marL="0">
              <a:lnSpc>
                <a:spcPts val="1600"/>
              </a:lnSpc>
              <a:buNone/>
            </a:pPr>
            <a:r>
              <a:rPr lang="en-US" sz="1150" b="1" dirty="0">
                <a:solidFill>
                  <a:srgbClr val="0F9BA8"/>
                </a:solidFill>
                <a:latin typeface="Courier New" pitchFamily="34" charset="0"/>
                <a:ea typeface="Courier New" pitchFamily="34" charset="-122"/>
                <a:cs typeface="Courier New" pitchFamily="34" charset="-120"/>
              </a:rPr>
              <a:t>trivial</a:t>
            </a:r>
            <a:pPr indent="0" marL="0">
              <a:lnSpc>
                <a:spcPts val="1600"/>
              </a:lnSpc>
              <a:buNone/>
            </a:pPr>
            <a:r>
              <a:rPr lang="en-US" sz="1150" dirty="0">
                <a:solidFill>
                  <a:srgbClr val="9BAABF"/>
                </a:solidFill>
                <a:latin typeface="Courier New" pitchFamily="34" charset="0"/>
                <a:ea typeface="Courier New" pitchFamily="34" charset="-122"/>
                <a:cs typeface="Courier New" pitchFamily="34" charset="-120"/>
              </a:rPr>
              <a:t>  —  greeting with no information need
</a:t>
            </a:r>
            <a:pPr indent="0" marL="0">
              <a:lnSpc>
                <a:spcPts val="1600"/>
              </a:lnSpc>
              <a:buNone/>
            </a:pPr>
            <a:r>
              <a:rPr lang="en-US" sz="1150" dirty="0">
                <a:solidFill>
                  <a:srgbClr val="9BAABF"/>
                </a:solidFill>
                <a:latin typeface="Courier New" pitchFamily="34" charset="0"/>
                <a:ea typeface="Courier New" pitchFamily="34" charset="-122"/>
                <a:cs typeface="Courier New" pitchFamily="34" charset="-120"/>
              </a:rPr>
              <a:t>selected    </a:t>
            </a:r>
            <a:pPr indent="0" marL="0">
              <a:lnSpc>
                <a:spcPts val="1600"/>
              </a:lnSpc>
              <a:buNone/>
            </a:pPr>
            <a:r>
              <a:rPr lang="en-US" sz="1150" b="1" dirty="0">
                <a:solidFill>
                  <a:srgbClr val="FFFFFF"/>
                </a:solidFill>
                <a:latin typeface="Courier New" pitchFamily="34" charset="0"/>
                <a:ea typeface="Courier New" pitchFamily="34" charset="-122"/>
                <a:cs typeface="Courier New" pitchFamily="34" charset="-120"/>
              </a:rPr>
              <a:t>carecopilot-fast</a:t>
            </a:r>
            <a:pPr indent="0" marL="0">
              <a:lnSpc>
                <a:spcPts val="1600"/>
              </a:lnSpc>
              <a:buNone/>
            </a:pPr>
            <a:r>
              <a:rPr lang="en-US" sz="1150" dirty="0">
                <a:solidFill>
                  <a:srgbClr val="9BAABF"/>
                </a:solidFill>
                <a:latin typeface="Courier New" pitchFamily="34" charset="0"/>
                <a:ea typeface="Courier New" pitchFamily="34" charset="-122"/>
                <a:cs typeface="Courier New" pitchFamily="34" charset="-120"/>
              </a:rPr>
              <a:t>   →  azure/gpt-4o-mini @ swedencentral
</a:t>
            </a:r>
            <a:pPr indent="0" marL="0">
              <a:lnSpc>
                <a:spcPts val="1600"/>
              </a:lnSpc>
              <a:buNone/>
            </a:pPr>
            <a:r>
              <a:rPr lang="en-US" sz="1150" dirty="0">
                <a:solidFill>
                  <a:srgbClr val="9BAABF"/>
                </a:solidFill>
                <a:latin typeface="Courier New" pitchFamily="34" charset="0"/>
                <a:ea typeface="Courier New" pitchFamily="34" charset="-122"/>
                <a:cs typeface="Courier New" pitchFamily="34" charset="-120"/>
              </a:rPr>
              <a:t>why         </a:t>
            </a:r>
            <a:pPr indent="0" marL="0">
              <a:lnSpc>
                <a:spcPts val="1600"/>
              </a:lnSpc>
              <a:buNone/>
            </a:pPr>
            <a:r>
              <a:rPr lang="en-US" sz="1150" dirty="0">
                <a:solidFill>
                  <a:srgbClr val="B77400"/>
                </a:solidFill>
                <a:latin typeface="Courier New" pitchFamily="34" charset="0"/>
                <a:ea typeface="Courier New" pitchFamily="34" charset="-122"/>
                <a:cs typeface="Courier New" pitchFamily="34" charset="-120"/>
              </a:rPr>
              <a:t>classifier scored the turn 'trivial' → downshift to fast tier</a:t>
            </a:r>
            <a:endParaRPr lang="en-US" sz="1150" dirty="0"/>
          </a:p>
        </p:txBody>
      </p:sp>
      <p:sp>
        <p:nvSpPr>
          <p:cNvPr id="28" name="Text 26"/>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2 · PROVE</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Evals are the release gate</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For a non-deterministic system, unit tests prove the plumbing and evals prove the behaviour. Only one of those blocks a bad answer.</a:t>
            </a:r>
            <a:endParaRPr lang="en-US" sz="1350" dirty="0"/>
          </a:p>
        </p:txBody>
      </p:sp>
      <p:graphicFrame>
        <p:nvGraphicFramePr>
          <p:cNvPr id="5" name="Chart 0" descr=""/>
          <p:cNvGraphicFramePr/>
          <p:nvPr/>
        </p:nvGraphicFramePr>
        <p:xfrm>
          <a:off x="594360" y="1828800"/>
          <a:ext cx="59436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66560" y="1929384"/>
            <a:ext cx="137160" cy="137160"/>
          </a:xfrm>
          <a:prstGeom prst="ellipse">
            <a:avLst/>
          </a:prstGeom>
          <a:solidFill>
            <a:srgbClr val="E2001A"/>
          </a:solidFill>
          <a:ln w="12700">
            <a:solidFill>
              <a:srgbClr val="E2001A"/>
            </a:solidFill>
            <a:prstDash val="solid"/>
          </a:ln>
        </p:spPr>
      </p:sp>
      <p:sp>
        <p:nvSpPr>
          <p:cNvPr id="7" name="Text 4"/>
          <p:cNvSpPr/>
          <p:nvPr/>
        </p:nvSpPr>
        <p:spPr>
          <a:xfrm>
            <a:off x="7059168" y="1828800"/>
            <a:ext cx="4480560" cy="292608"/>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Safety is gated at 1.00</a:t>
            </a:r>
            <a:endParaRPr lang="en-US" sz="1400" dirty="0"/>
          </a:p>
        </p:txBody>
      </p:sp>
      <p:sp>
        <p:nvSpPr>
          <p:cNvPr id="8" name="Text 5"/>
          <p:cNvSpPr/>
          <p:nvPr/>
        </p:nvSpPr>
        <p:spPr>
          <a:xfrm>
            <a:off x="7059168" y="2139696"/>
            <a:ext cx="4526280" cy="658368"/>
          </a:xfrm>
          <a:prstGeom prst="rect">
            <a:avLst/>
          </a:prstGeom>
          <a:noFill/>
          <a:ln/>
        </p:spPr>
        <p:txBody>
          <a:bodyPr wrap="square" lIns="0" tIns="0" rIns="0" bIns="0" rtlCol="0" anchor="ctr"/>
          <a:lstStyle/>
          <a:p>
            <a:pPr indent="0" marL="0">
              <a:lnSpc>
                <a:spcPts val="1500"/>
              </a:lnSpc>
              <a:buNone/>
            </a:pPr>
            <a:r>
              <a:rPr lang="en-US" sz="1150" dirty="0">
                <a:solidFill>
                  <a:srgbClr val="5C6B80"/>
                </a:solidFill>
                <a:latin typeface="Calibri" pitchFamily="34" charset="0"/>
                <a:ea typeface="Calibri" pitchFamily="34" charset="-122"/>
                <a:cs typeface="Calibri" pitchFamily="34" charset="-120"/>
              </a:rPr>
              <a:t>A 0.95 safety threshold says one customer in twenty may receive an unsafe answer. That is not a statement I would sign.</a:t>
            </a:r>
            <a:endParaRPr lang="en-US" sz="1150" dirty="0"/>
          </a:p>
        </p:txBody>
      </p:sp>
      <p:sp>
        <p:nvSpPr>
          <p:cNvPr id="9" name="Shape 6"/>
          <p:cNvSpPr/>
          <p:nvPr/>
        </p:nvSpPr>
        <p:spPr>
          <a:xfrm>
            <a:off x="6766560" y="2980944"/>
            <a:ext cx="137160" cy="137160"/>
          </a:xfrm>
          <a:prstGeom prst="ellipse">
            <a:avLst/>
          </a:prstGeom>
          <a:solidFill>
            <a:srgbClr val="0F9BA8"/>
          </a:solidFill>
          <a:ln w="12700">
            <a:solidFill>
              <a:srgbClr val="0F9BA8"/>
            </a:solidFill>
            <a:prstDash val="solid"/>
          </a:ln>
        </p:spPr>
      </p:sp>
      <p:sp>
        <p:nvSpPr>
          <p:cNvPr id="10" name="Text 7"/>
          <p:cNvSpPr/>
          <p:nvPr/>
        </p:nvSpPr>
        <p:spPr>
          <a:xfrm>
            <a:off x="7059168" y="2880360"/>
            <a:ext cx="4480560" cy="292608"/>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Groundedness, not vibes</a:t>
            </a:r>
            <a:endParaRPr lang="en-US" sz="1400" dirty="0"/>
          </a:p>
        </p:txBody>
      </p:sp>
      <p:sp>
        <p:nvSpPr>
          <p:cNvPr id="11" name="Text 8"/>
          <p:cNvSpPr/>
          <p:nvPr/>
        </p:nvSpPr>
        <p:spPr>
          <a:xfrm>
            <a:off x="7059168" y="3191256"/>
            <a:ext cx="4526280" cy="658368"/>
          </a:xfrm>
          <a:prstGeom prst="rect">
            <a:avLst/>
          </a:prstGeom>
          <a:noFill/>
          <a:ln/>
        </p:spPr>
        <p:txBody>
          <a:bodyPr wrap="square" lIns="0" tIns="0" rIns="0" bIns="0" rtlCol="0" anchor="ctr"/>
          <a:lstStyle/>
          <a:p>
            <a:pPr indent="0" marL="0">
              <a:lnSpc>
                <a:spcPts val="1500"/>
              </a:lnSpc>
              <a:buNone/>
            </a:pPr>
            <a:r>
              <a:rPr lang="en-US" sz="1150" dirty="0">
                <a:solidFill>
                  <a:srgbClr val="5C6B80"/>
                </a:solidFill>
                <a:latin typeface="Calibri" pitchFamily="34" charset="0"/>
                <a:ea typeface="Calibri" pitchFamily="34" charset="-122"/>
                <a:cs typeface="Calibri" pitchFamily="34" charset="-120"/>
              </a:rPr>
              <a:t>Every factual claim must trace to a tool observation. Cheap, deterministic, and it names the unsupported claim.</a:t>
            </a:r>
            <a:endParaRPr lang="en-US" sz="1150" dirty="0"/>
          </a:p>
        </p:txBody>
      </p:sp>
      <p:sp>
        <p:nvSpPr>
          <p:cNvPr id="12" name="Shape 9"/>
          <p:cNvSpPr/>
          <p:nvPr/>
        </p:nvSpPr>
        <p:spPr>
          <a:xfrm>
            <a:off x="6766560" y="4032504"/>
            <a:ext cx="137160" cy="137160"/>
          </a:xfrm>
          <a:prstGeom prst="ellipse">
            <a:avLst/>
          </a:prstGeom>
          <a:solidFill>
            <a:srgbClr val="B77400"/>
          </a:solidFill>
          <a:ln w="12700">
            <a:solidFill>
              <a:srgbClr val="B77400"/>
            </a:solidFill>
            <a:prstDash val="solid"/>
          </a:ln>
        </p:spPr>
      </p:sp>
      <p:sp>
        <p:nvSpPr>
          <p:cNvPr id="13" name="Text 10"/>
          <p:cNvSpPr/>
          <p:nvPr/>
        </p:nvSpPr>
        <p:spPr>
          <a:xfrm>
            <a:off x="7059168" y="3931920"/>
            <a:ext cx="4480560" cy="292608"/>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16 cases, seconds to run</a:t>
            </a:r>
            <a:endParaRPr lang="en-US" sz="1400" dirty="0"/>
          </a:p>
        </p:txBody>
      </p:sp>
      <p:sp>
        <p:nvSpPr>
          <p:cNvPr id="14" name="Text 11"/>
          <p:cNvSpPr/>
          <p:nvPr/>
        </p:nvSpPr>
        <p:spPr>
          <a:xfrm>
            <a:off x="7059168" y="4242816"/>
            <a:ext cx="4526280" cy="658368"/>
          </a:xfrm>
          <a:prstGeom prst="rect">
            <a:avLst/>
          </a:prstGeom>
          <a:noFill/>
          <a:ln/>
        </p:spPr>
        <p:txBody>
          <a:bodyPr wrap="square" lIns="0" tIns="0" rIns="0" bIns="0" rtlCol="0" anchor="ctr"/>
          <a:lstStyle/>
          <a:p>
            <a:pPr indent="0" marL="0">
              <a:lnSpc>
                <a:spcPts val="1500"/>
              </a:lnSpc>
              <a:buNone/>
            </a:pPr>
            <a:r>
              <a:rPr lang="en-US" sz="1150" dirty="0">
                <a:solidFill>
                  <a:srgbClr val="5C6B80"/>
                </a:solidFill>
                <a:latin typeface="Calibri" pitchFamily="34" charset="0"/>
                <a:ea typeface="Calibri" pitchFamily="34" charset="-122"/>
                <a:cs typeface="Calibri" pitchFamily="34" charset="-120"/>
              </a:rPr>
              <a:t>A suite too slow for every PR gets moved to nightly — and a nightly gate is not a gate.</a:t>
            </a:r>
            <a:endParaRPr lang="en-US" sz="1150" dirty="0"/>
          </a:p>
        </p:txBody>
      </p:sp>
      <p:sp>
        <p:nvSpPr>
          <p:cNvPr id="15" name="Shape 12"/>
          <p:cNvSpPr/>
          <p:nvPr/>
        </p:nvSpPr>
        <p:spPr>
          <a:xfrm>
            <a:off x="6766560" y="5084064"/>
            <a:ext cx="137160" cy="137160"/>
          </a:xfrm>
          <a:prstGeom prst="ellipse">
            <a:avLst/>
          </a:prstGeom>
          <a:solidFill>
            <a:srgbClr val="1E7B45"/>
          </a:solidFill>
          <a:ln w="12700">
            <a:solidFill>
              <a:srgbClr val="1E7B45"/>
            </a:solidFill>
            <a:prstDash val="solid"/>
          </a:ln>
        </p:spPr>
      </p:sp>
      <p:sp>
        <p:nvSpPr>
          <p:cNvPr id="16" name="Text 13"/>
          <p:cNvSpPr/>
          <p:nvPr/>
        </p:nvSpPr>
        <p:spPr>
          <a:xfrm>
            <a:off x="7059168" y="4983480"/>
            <a:ext cx="4480560" cy="292608"/>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Every incident becomes a case</a:t>
            </a:r>
            <a:endParaRPr lang="en-US" sz="1400" dirty="0"/>
          </a:p>
        </p:txBody>
      </p:sp>
      <p:sp>
        <p:nvSpPr>
          <p:cNvPr id="17" name="Text 14"/>
          <p:cNvSpPr/>
          <p:nvPr/>
        </p:nvSpPr>
        <p:spPr>
          <a:xfrm>
            <a:off x="7059168" y="5294376"/>
            <a:ext cx="4526280" cy="658368"/>
          </a:xfrm>
          <a:prstGeom prst="rect">
            <a:avLst/>
          </a:prstGeom>
          <a:noFill/>
          <a:ln/>
        </p:spPr>
        <p:txBody>
          <a:bodyPr wrap="square" lIns="0" tIns="0" rIns="0" bIns="0" rtlCol="0" anchor="ctr"/>
          <a:lstStyle/>
          <a:p>
            <a:pPr indent="0" marL="0">
              <a:lnSpc>
                <a:spcPts val="1500"/>
              </a:lnSpc>
              <a:buNone/>
            </a:pPr>
            <a:r>
              <a:rPr lang="en-US" sz="1150" dirty="0">
                <a:solidFill>
                  <a:srgbClr val="5C6B80"/>
                </a:solidFill>
                <a:latin typeface="Calibri" pitchFamily="34" charset="0"/>
                <a:ea typeface="Calibri" pitchFamily="34" charset="-122"/>
                <a:cs typeface="Calibri" pitchFamily="34" charset="-120"/>
              </a:rPr>
              <a:t>The rule that makes the suite worth more each year rather than less.</a:t>
            </a:r>
            <a:endParaRPr lang="en-US" sz="1150" dirty="0"/>
          </a:p>
        </p:txBody>
      </p:sp>
      <p:sp>
        <p:nvSpPr>
          <p:cNvPr id="18" name="Text 15"/>
          <p:cNvSpPr/>
          <p:nvPr/>
        </p:nvSpPr>
        <p:spPr>
          <a:xfrm>
            <a:off x="594360" y="5806440"/>
            <a:ext cx="10972800" cy="329184"/>
          </a:xfrm>
          <a:prstGeom prst="rect">
            <a:avLst/>
          </a:prstGeom>
          <a:noFill/>
          <a:ln/>
        </p:spPr>
        <p:txBody>
          <a:bodyPr wrap="square" lIns="0" tIns="0" rIns="0" bIns="0" rtlCol="0" anchor="ctr"/>
          <a:lstStyle/>
          <a:p>
            <a:pPr indent="0" marL="0">
              <a:buNone/>
            </a:pPr>
            <a:r>
              <a:rPr lang="en-US" sz="1250" i="1" dirty="0">
                <a:solidFill>
                  <a:srgbClr val="5C6B80"/>
                </a:solidFill>
                <a:latin typeface="Calibri" pitchFamily="34" charset="0"/>
                <a:ea typeface="Calibri" pitchFamily="34" charset="-122"/>
                <a:cs typeface="Calibri" pitchFamily="34" charset="-120"/>
              </a:rPr>
              <a:t>The same suite runs in GitHub Actions on every pull request, and again against the deployed revision after every release.</a:t>
            </a:r>
            <a:endParaRPr lang="en-US" sz="1250" dirty="0"/>
          </a:p>
        </p:txBody>
      </p:sp>
      <p:sp>
        <p:nvSpPr>
          <p:cNvPr id="19" name="Text 16"/>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2 · PROVE</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Guardrails belong to the platform</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9BAABF"/>
                </a:solidFill>
                <a:latin typeface="Calibri" pitchFamily="34" charset="0"/>
                <a:ea typeface="Calibri" pitchFamily="34" charset="-122"/>
                <a:cs typeface="Calibri" pitchFamily="34" charset="-120"/>
              </a:rPr>
              <a:t>Not to each team. A tenant should not have to reimplement PII redaction to ship — they get it by adopting the road.</a:t>
            </a:r>
            <a:endParaRPr lang="en-US" sz="1350" dirty="0"/>
          </a:p>
        </p:txBody>
      </p:sp>
      <p:sp>
        <p:nvSpPr>
          <p:cNvPr id="5" name="Shape 3"/>
          <p:cNvSpPr/>
          <p:nvPr/>
        </p:nvSpPr>
        <p:spPr>
          <a:xfrm>
            <a:off x="594360" y="1920240"/>
            <a:ext cx="5349240" cy="2926080"/>
          </a:xfrm>
          <a:prstGeom prst="roundRect">
            <a:avLst>
              <a:gd name="adj" fmla="val 2188"/>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6" name="Text 4"/>
          <p:cNvSpPr/>
          <p:nvPr/>
        </p:nvSpPr>
        <p:spPr>
          <a:xfrm>
            <a:off x="886968" y="2103120"/>
            <a:ext cx="3657600" cy="274320"/>
          </a:xfrm>
          <a:prstGeom prst="rect">
            <a:avLst/>
          </a:prstGeom>
          <a:noFill/>
          <a:ln/>
        </p:spPr>
        <p:txBody>
          <a:bodyPr wrap="square" lIns="0" tIns="0" rIns="0" bIns="0" rtlCol="0" anchor="ctr"/>
          <a:lstStyle/>
          <a:p>
            <a:pPr indent="0" marL="0">
              <a:buNone/>
            </a:pPr>
            <a:r>
              <a:rPr lang="en-US" sz="1100" b="1" spc="200" kern="0" dirty="0">
                <a:solidFill>
                  <a:srgbClr val="E2001A"/>
                </a:solidFill>
                <a:latin typeface="Calibri" pitchFamily="34" charset="0"/>
                <a:ea typeface="Calibri" pitchFamily="34" charset="-122"/>
                <a:cs typeface="Calibri" pitchFamily="34" charset="-120"/>
              </a:rPr>
              <a:t>INPUT PIPELINE</a:t>
            </a:r>
            <a:endParaRPr lang="en-US" sz="1100" dirty="0"/>
          </a:p>
        </p:txBody>
      </p:sp>
      <p:sp>
        <p:nvSpPr>
          <p:cNvPr id="7" name="Text 5"/>
          <p:cNvSpPr/>
          <p:nvPr/>
        </p:nvSpPr>
        <p:spPr>
          <a:xfrm>
            <a:off x="886968" y="2487168"/>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Prompt injection</a:t>
            </a:r>
            <a:endParaRPr lang="en-US" sz="1350" dirty="0"/>
          </a:p>
        </p:txBody>
      </p:sp>
      <p:sp>
        <p:nvSpPr>
          <p:cNvPr id="8" name="Text 6"/>
          <p:cNvSpPr/>
          <p:nvPr/>
        </p:nvSpPr>
        <p:spPr>
          <a:xfrm>
            <a:off x="4754880" y="2487168"/>
            <a:ext cx="1005840" cy="274320"/>
          </a:xfrm>
          <a:prstGeom prst="rect">
            <a:avLst/>
          </a:prstGeom>
          <a:noFill/>
          <a:ln/>
        </p:spPr>
        <p:txBody>
          <a:bodyPr wrap="square" lIns="0" tIns="0" rIns="0" bIns="0" rtlCol="0" anchor="ctr"/>
          <a:lstStyle/>
          <a:p>
            <a:pPr algn="r" indent="0" marL="0">
              <a:buNone/>
            </a:pPr>
            <a:r>
              <a:rPr lang="en-US" sz="1100" b="1" dirty="0">
                <a:solidFill>
                  <a:srgbClr val="E2001A"/>
                </a:solidFill>
                <a:latin typeface="Courier New" pitchFamily="34" charset="0"/>
                <a:ea typeface="Courier New" pitchFamily="34" charset="-122"/>
                <a:cs typeface="Courier New" pitchFamily="34" charset="-120"/>
              </a:rPr>
              <a:t>block</a:t>
            </a:r>
            <a:endParaRPr lang="en-US" sz="1100" dirty="0"/>
          </a:p>
        </p:txBody>
      </p:sp>
      <p:sp>
        <p:nvSpPr>
          <p:cNvPr id="9" name="Text 7"/>
          <p:cNvSpPr/>
          <p:nvPr/>
        </p:nvSpPr>
        <p:spPr>
          <a:xfrm>
            <a:off x="886968" y="2779776"/>
            <a:ext cx="4754880" cy="329184"/>
          </a:xfrm>
          <a:prstGeom prst="rect">
            <a:avLst/>
          </a:prstGeom>
          <a:noFill/>
          <a:ln/>
        </p:spPr>
        <p:txBody>
          <a:bodyPr wrap="square" lIns="0" tIns="0" rIns="0" bIns="0" rtlCol="0" anchor="ctr"/>
          <a:lstStyle/>
          <a:p>
            <a:pPr indent="0" marL="0">
              <a:buNone/>
            </a:pPr>
            <a:r>
              <a:rPr lang="en-US" sz="1100" dirty="0">
                <a:solidFill>
                  <a:srgbClr val="9BAABF"/>
                </a:solidFill>
                <a:latin typeface="Calibri" pitchFamily="34" charset="0"/>
                <a:ea typeface="Calibri" pitchFamily="34" charset="-122"/>
                <a:cs typeface="Calibri" pitchFamily="34" charset="-120"/>
              </a:rPr>
              <a:t>instruction override, exfiltration</a:t>
            </a:r>
            <a:endParaRPr lang="en-US" sz="1100" dirty="0"/>
          </a:p>
        </p:txBody>
      </p:sp>
      <p:sp>
        <p:nvSpPr>
          <p:cNvPr id="10" name="Text 8"/>
          <p:cNvSpPr/>
          <p:nvPr/>
        </p:nvSpPr>
        <p:spPr>
          <a:xfrm>
            <a:off x="886968" y="3246120"/>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Topic policy</a:t>
            </a:r>
            <a:endParaRPr lang="en-US" sz="1350" dirty="0"/>
          </a:p>
        </p:txBody>
      </p:sp>
      <p:sp>
        <p:nvSpPr>
          <p:cNvPr id="11" name="Text 9"/>
          <p:cNvSpPr/>
          <p:nvPr/>
        </p:nvSpPr>
        <p:spPr>
          <a:xfrm>
            <a:off x="4754880" y="3246120"/>
            <a:ext cx="1005840" cy="274320"/>
          </a:xfrm>
          <a:prstGeom prst="rect">
            <a:avLst/>
          </a:prstGeom>
          <a:noFill/>
          <a:ln/>
        </p:spPr>
        <p:txBody>
          <a:bodyPr wrap="square" lIns="0" tIns="0" rIns="0" bIns="0" rtlCol="0" anchor="ctr"/>
          <a:lstStyle/>
          <a:p>
            <a:pPr algn="r" indent="0" marL="0">
              <a:buNone/>
            </a:pPr>
            <a:r>
              <a:rPr lang="en-US" sz="1100" b="1" dirty="0">
                <a:solidFill>
                  <a:srgbClr val="E2001A"/>
                </a:solidFill>
                <a:latin typeface="Courier New" pitchFamily="34" charset="0"/>
                <a:ea typeface="Courier New" pitchFamily="34" charset="-122"/>
                <a:cs typeface="Courier New" pitchFamily="34" charset="-120"/>
              </a:rPr>
              <a:t>block</a:t>
            </a:r>
            <a:endParaRPr lang="en-US" sz="1100" dirty="0"/>
          </a:p>
        </p:txBody>
      </p:sp>
      <p:sp>
        <p:nvSpPr>
          <p:cNvPr id="12" name="Text 10"/>
          <p:cNvSpPr/>
          <p:nvPr/>
        </p:nvSpPr>
        <p:spPr>
          <a:xfrm>
            <a:off x="886968" y="3538728"/>
            <a:ext cx="4754880" cy="329184"/>
          </a:xfrm>
          <a:prstGeom prst="rect">
            <a:avLst/>
          </a:prstGeom>
          <a:noFill/>
          <a:ln/>
        </p:spPr>
        <p:txBody>
          <a:bodyPr wrap="square" lIns="0" tIns="0" rIns="0" bIns="0" rtlCol="0" anchor="ctr"/>
          <a:lstStyle/>
          <a:p>
            <a:pPr indent="0" marL="0">
              <a:buNone/>
            </a:pPr>
            <a:r>
              <a:rPr lang="en-US" sz="1100" dirty="0">
                <a:solidFill>
                  <a:srgbClr val="9BAABF"/>
                </a:solidFill>
                <a:latin typeface="Calibri" pitchFamily="34" charset="0"/>
                <a:ea typeface="Calibri" pitchFamily="34" charset="-122"/>
                <a:cs typeface="Calibri" pitchFamily="34" charset="-120"/>
              </a:rPr>
              <a:t>outside the pharmacy support scope</a:t>
            </a:r>
            <a:endParaRPr lang="en-US" sz="1100" dirty="0"/>
          </a:p>
        </p:txBody>
      </p:sp>
      <p:sp>
        <p:nvSpPr>
          <p:cNvPr id="13" name="Text 11"/>
          <p:cNvSpPr/>
          <p:nvPr/>
        </p:nvSpPr>
        <p:spPr>
          <a:xfrm>
            <a:off x="886968" y="4005072"/>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PII redaction</a:t>
            </a:r>
            <a:endParaRPr lang="en-US" sz="1350" dirty="0"/>
          </a:p>
        </p:txBody>
      </p:sp>
      <p:sp>
        <p:nvSpPr>
          <p:cNvPr id="14" name="Text 12"/>
          <p:cNvSpPr/>
          <p:nvPr/>
        </p:nvSpPr>
        <p:spPr>
          <a:xfrm>
            <a:off x="4754880" y="4005072"/>
            <a:ext cx="1005840" cy="274320"/>
          </a:xfrm>
          <a:prstGeom prst="rect">
            <a:avLst/>
          </a:prstGeom>
          <a:noFill/>
          <a:ln/>
        </p:spPr>
        <p:txBody>
          <a:bodyPr wrap="square" lIns="0" tIns="0" rIns="0" bIns="0" rtlCol="0" anchor="ctr"/>
          <a:lstStyle/>
          <a:p>
            <a:pPr algn="r" indent="0" marL="0">
              <a:buNone/>
            </a:pPr>
            <a:r>
              <a:rPr lang="en-US" sz="1100" b="1" dirty="0">
                <a:solidFill>
                  <a:srgbClr val="B77400"/>
                </a:solidFill>
                <a:latin typeface="Courier New" pitchFamily="34" charset="0"/>
                <a:ea typeface="Courier New" pitchFamily="34" charset="-122"/>
                <a:cs typeface="Courier New" pitchFamily="34" charset="-120"/>
              </a:rPr>
              <a:t>redact</a:t>
            </a:r>
            <a:endParaRPr lang="en-US" sz="1100" dirty="0"/>
          </a:p>
        </p:txBody>
      </p:sp>
      <p:sp>
        <p:nvSpPr>
          <p:cNvPr id="15" name="Text 13"/>
          <p:cNvSpPr/>
          <p:nvPr/>
        </p:nvSpPr>
        <p:spPr>
          <a:xfrm>
            <a:off x="886968" y="4297680"/>
            <a:ext cx="4754880" cy="329184"/>
          </a:xfrm>
          <a:prstGeom prst="rect">
            <a:avLst/>
          </a:prstGeom>
          <a:noFill/>
          <a:ln/>
        </p:spPr>
        <p:txBody>
          <a:bodyPr wrap="square" lIns="0" tIns="0" rIns="0" bIns="0" rtlCol="0" anchor="ctr"/>
          <a:lstStyle/>
          <a:p>
            <a:pPr indent="0" marL="0">
              <a:buNone/>
            </a:pPr>
            <a:r>
              <a:rPr lang="en-US" sz="1100" dirty="0">
                <a:solidFill>
                  <a:srgbClr val="9BAABF"/>
                </a:solidFill>
                <a:latin typeface="Calibri" pitchFamily="34" charset="0"/>
                <a:ea typeface="Calibri" pitchFamily="34" charset="-122"/>
                <a:cs typeface="Calibri" pitchFamily="34" charset="-120"/>
              </a:rPr>
              <a:t>IBAN, email, phone, card, DOB — before the call</a:t>
            </a:r>
            <a:endParaRPr lang="en-US" sz="1100" dirty="0"/>
          </a:p>
        </p:txBody>
      </p:sp>
      <p:sp>
        <p:nvSpPr>
          <p:cNvPr id="16" name="Shape 14"/>
          <p:cNvSpPr/>
          <p:nvPr/>
        </p:nvSpPr>
        <p:spPr>
          <a:xfrm>
            <a:off x="6217920" y="1920240"/>
            <a:ext cx="5349240" cy="2926080"/>
          </a:xfrm>
          <a:prstGeom prst="roundRect">
            <a:avLst>
              <a:gd name="adj" fmla="val 2188"/>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7" name="Text 15"/>
          <p:cNvSpPr/>
          <p:nvPr/>
        </p:nvSpPr>
        <p:spPr>
          <a:xfrm>
            <a:off x="6510528" y="2103120"/>
            <a:ext cx="3657600" cy="274320"/>
          </a:xfrm>
          <a:prstGeom prst="rect">
            <a:avLst/>
          </a:prstGeom>
          <a:noFill/>
          <a:ln/>
        </p:spPr>
        <p:txBody>
          <a:bodyPr wrap="square" lIns="0" tIns="0" rIns="0" bIns="0" rtlCol="0" anchor="ctr"/>
          <a:lstStyle/>
          <a:p>
            <a:pPr indent="0" marL="0">
              <a:buNone/>
            </a:pPr>
            <a:r>
              <a:rPr lang="en-US" sz="1100" b="1" spc="200" kern="0" dirty="0">
                <a:solidFill>
                  <a:srgbClr val="E2001A"/>
                </a:solidFill>
                <a:latin typeface="Calibri" pitchFamily="34" charset="0"/>
                <a:ea typeface="Calibri" pitchFamily="34" charset="-122"/>
                <a:cs typeface="Calibri" pitchFamily="34" charset="-120"/>
              </a:rPr>
              <a:t>OUTPUT PIPELINE</a:t>
            </a:r>
            <a:endParaRPr lang="en-US" sz="1100" dirty="0"/>
          </a:p>
        </p:txBody>
      </p:sp>
      <p:sp>
        <p:nvSpPr>
          <p:cNvPr id="18" name="Text 16"/>
          <p:cNvSpPr/>
          <p:nvPr/>
        </p:nvSpPr>
        <p:spPr>
          <a:xfrm>
            <a:off x="6510528" y="2487168"/>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Secret egress</a:t>
            </a:r>
            <a:endParaRPr lang="en-US" sz="1300" dirty="0"/>
          </a:p>
        </p:txBody>
      </p:sp>
      <p:sp>
        <p:nvSpPr>
          <p:cNvPr id="19" name="Text 17"/>
          <p:cNvSpPr/>
          <p:nvPr/>
        </p:nvSpPr>
        <p:spPr>
          <a:xfrm>
            <a:off x="10469880" y="2487168"/>
            <a:ext cx="960120" cy="256032"/>
          </a:xfrm>
          <a:prstGeom prst="rect">
            <a:avLst/>
          </a:prstGeom>
          <a:noFill/>
          <a:ln/>
        </p:spPr>
        <p:txBody>
          <a:bodyPr wrap="square" lIns="0" tIns="0" rIns="0" bIns="0" rtlCol="0" anchor="ctr"/>
          <a:lstStyle/>
          <a:p>
            <a:pPr algn="r" indent="0" marL="0">
              <a:buNone/>
            </a:pPr>
            <a:r>
              <a:rPr lang="en-US" sz="1050" b="1" dirty="0">
                <a:solidFill>
                  <a:srgbClr val="E2001A"/>
                </a:solidFill>
                <a:latin typeface="Courier New" pitchFamily="34" charset="0"/>
                <a:ea typeface="Courier New" pitchFamily="34" charset="-122"/>
                <a:cs typeface="Courier New" pitchFamily="34" charset="-120"/>
              </a:rPr>
              <a:t>block</a:t>
            </a:r>
            <a:endParaRPr lang="en-US" sz="1050" dirty="0"/>
          </a:p>
        </p:txBody>
      </p:sp>
      <p:sp>
        <p:nvSpPr>
          <p:cNvPr id="20" name="Text 18"/>
          <p:cNvSpPr/>
          <p:nvPr/>
        </p:nvSpPr>
        <p:spPr>
          <a:xfrm>
            <a:off x="6510528" y="2724912"/>
            <a:ext cx="4754880" cy="274320"/>
          </a:xfrm>
          <a:prstGeom prst="rect">
            <a:avLst/>
          </a:prstGeom>
          <a:noFill/>
          <a:ln/>
        </p:spPr>
        <p:txBody>
          <a:bodyPr wrap="square" lIns="0" tIns="0" rIns="0" bIns="0" rtlCol="0" anchor="ctr"/>
          <a:lstStyle/>
          <a:p>
            <a:pPr indent="0" marL="0">
              <a:buNone/>
            </a:pPr>
            <a:r>
              <a:rPr lang="en-US" sz="1050" dirty="0">
                <a:solidFill>
                  <a:srgbClr val="9BAABF"/>
                </a:solidFill>
                <a:latin typeface="Calibri" pitchFamily="34" charset="0"/>
                <a:ea typeface="Calibri" pitchFamily="34" charset="-122"/>
                <a:cs typeface="Calibri" pitchFamily="34" charset="-120"/>
              </a:rPr>
              <a:t>credential-shaped strings in the answer</a:t>
            </a:r>
            <a:endParaRPr lang="en-US" sz="1050" dirty="0"/>
          </a:p>
        </p:txBody>
      </p:sp>
      <p:sp>
        <p:nvSpPr>
          <p:cNvPr id="21" name="Text 19"/>
          <p:cNvSpPr/>
          <p:nvPr/>
        </p:nvSpPr>
        <p:spPr>
          <a:xfrm>
            <a:off x="6510528" y="3063240"/>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Groundedness</a:t>
            </a:r>
            <a:endParaRPr lang="en-US" sz="1300" dirty="0"/>
          </a:p>
        </p:txBody>
      </p:sp>
      <p:sp>
        <p:nvSpPr>
          <p:cNvPr id="22" name="Text 20"/>
          <p:cNvSpPr/>
          <p:nvPr/>
        </p:nvSpPr>
        <p:spPr>
          <a:xfrm>
            <a:off x="10469880" y="3063240"/>
            <a:ext cx="960120" cy="256032"/>
          </a:xfrm>
          <a:prstGeom prst="rect">
            <a:avLst/>
          </a:prstGeom>
          <a:noFill/>
          <a:ln/>
        </p:spPr>
        <p:txBody>
          <a:bodyPr wrap="square" lIns="0" tIns="0" rIns="0" bIns="0" rtlCol="0" anchor="ctr"/>
          <a:lstStyle/>
          <a:p>
            <a:pPr algn="r" indent="0" marL="0">
              <a:buNone/>
            </a:pPr>
            <a:r>
              <a:rPr lang="en-US" sz="1050" b="1" dirty="0">
                <a:solidFill>
                  <a:srgbClr val="0F9BA8"/>
                </a:solidFill>
                <a:latin typeface="Courier New" pitchFamily="34" charset="0"/>
                <a:ea typeface="Courier New" pitchFamily="34" charset="-122"/>
                <a:cs typeface="Courier New" pitchFamily="34" charset="-120"/>
              </a:rPr>
              <a:t>annotate</a:t>
            </a:r>
            <a:endParaRPr lang="en-US" sz="1050" dirty="0"/>
          </a:p>
        </p:txBody>
      </p:sp>
      <p:sp>
        <p:nvSpPr>
          <p:cNvPr id="23" name="Text 21"/>
          <p:cNvSpPr/>
          <p:nvPr/>
        </p:nvSpPr>
        <p:spPr>
          <a:xfrm>
            <a:off x="6510528" y="3300984"/>
            <a:ext cx="4754880" cy="274320"/>
          </a:xfrm>
          <a:prstGeom prst="rect">
            <a:avLst/>
          </a:prstGeom>
          <a:noFill/>
          <a:ln/>
        </p:spPr>
        <p:txBody>
          <a:bodyPr wrap="square" lIns="0" tIns="0" rIns="0" bIns="0" rtlCol="0" anchor="ctr"/>
          <a:lstStyle/>
          <a:p>
            <a:pPr indent="0" marL="0">
              <a:buNone/>
            </a:pPr>
            <a:r>
              <a:rPr lang="en-US" sz="1050" dirty="0">
                <a:solidFill>
                  <a:srgbClr val="9BAABF"/>
                </a:solidFill>
                <a:latin typeface="Calibri" pitchFamily="34" charset="0"/>
                <a:ea typeface="Calibri" pitchFamily="34" charset="-122"/>
                <a:cs typeface="Calibri" pitchFamily="34" charset="-120"/>
              </a:rPr>
              <a:t>every claim traced to a tool observation</a:t>
            </a:r>
            <a:endParaRPr lang="en-US" sz="1050" dirty="0"/>
          </a:p>
        </p:txBody>
      </p:sp>
      <p:sp>
        <p:nvSpPr>
          <p:cNvPr id="24" name="Text 22"/>
          <p:cNvSpPr/>
          <p:nvPr/>
        </p:nvSpPr>
        <p:spPr>
          <a:xfrm>
            <a:off x="6510528" y="3639312"/>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Medical-advice policy</a:t>
            </a:r>
            <a:endParaRPr lang="en-US" sz="1300" dirty="0"/>
          </a:p>
        </p:txBody>
      </p:sp>
      <p:sp>
        <p:nvSpPr>
          <p:cNvPr id="25" name="Text 23"/>
          <p:cNvSpPr/>
          <p:nvPr/>
        </p:nvSpPr>
        <p:spPr>
          <a:xfrm>
            <a:off x="10469880" y="3639312"/>
            <a:ext cx="960120" cy="256032"/>
          </a:xfrm>
          <a:prstGeom prst="rect">
            <a:avLst/>
          </a:prstGeom>
          <a:noFill/>
          <a:ln/>
        </p:spPr>
        <p:txBody>
          <a:bodyPr wrap="square" lIns="0" tIns="0" rIns="0" bIns="0" rtlCol="0" anchor="ctr"/>
          <a:lstStyle/>
          <a:p>
            <a:pPr algn="r" indent="0" marL="0">
              <a:buNone/>
            </a:pPr>
            <a:r>
              <a:rPr lang="en-US" sz="1050" b="1" dirty="0">
                <a:solidFill>
                  <a:srgbClr val="B77400"/>
                </a:solidFill>
                <a:latin typeface="Courier New" pitchFamily="34" charset="0"/>
                <a:ea typeface="Courier New" pitchFamily="34" charset="-122"/>
                <a:cs typeface="Courier New" pitchFamily="34" charset="-120"/>
              </a:rPr>
              <a:t>escalate</a:t>
            </a:r>
            <a:endParaRPr lang="en-US" sz="1050" dirty="0"/>
          </a:p>
        </p:txBody>
      </p:sp>
      <p:sp>
        <p:nvSpPr>
          <p:cNvPr id="26" name="Text 24"/>
          <p:cNvSpPr/>
          <p:nvPr/>
        </p:nvSpPr>
        <p:spPr>
          <a:xfrm>
            <a:off x="6510528" y="3877056"/>
            <a:ext cx="4754880" cy="274320"/>
          </a:xfrm>
          <a:prstGeom prst="rect">
            <a:avLst/>
          </a:prstGeom>
          <a:noFill/>
          <a:ln/>
        </p:spPr>
        <p:txBody>
          <a:bodyPr wrap="square" lIns="0" tIns="0" rIns="0" bIns="0" rtlCol="0" anchor="ctr"/>
          <a:lstStyle/>
          <a:p>
            <a:pPr indent="0" marL="0">
              <a:buNone/>
            </a:pPr>
            <a:r>
              <a:rPr lang="en-US" sz="1050" dirty="0">
                <a:solidFill>
                  <a:srgbClr val="9BAABF"/>
                </a:solidFill>
                <a:latin typeface="Calibri" pitchFamily="34" charset="0"/>
                <a:ea typeface="Calibri" pitchFamily="34" charset="-122"/>
                <a:cs typeface="Calibri" pitchFamily="34" charset="-120"/>
              </a:rPr>
              <a:t>individualised clinical instruction → pharmacist</a:t>
            </a:r>
            <a:endParaRPr lang="en-US" sz="1050" dirty="0"/>
          </a:p>
        </p:txBody>
      </p:sp>
      <p:sp>
        <p:nvSpPr>
          <p:cNvPr id="27" name="Text 25"/>
          <p:cNvSpPr/>
          <p:nvPr/>
        </p:nvSpPr>
        <p:spPr>
          <a:xfrm>
            <a:off x="6510528" y="4215384"/>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disclosure</a:t>
            </a:r>
            <a:endParaRPr lang="en-US" sz="1300" dirty="0"/>
          </a:p>
        </p:txBody>
      </p:sp>
      <p:sp>
        <p:nvSpPr>
          <p:cNvPr id="28" name="Text 26"/>
          <p:cNvSpPr/>
          <p:nvPr/>
        </p:nvSpPr>
        <p:spPr>
          <a:xfrm>
            <a:off x="10469880" y="4215384"/>
            <a:ext cx="960120" cy="256032"/>
          </a:xfrm>
          <a:prstGeom prst="rect">
            <a:avLst/>
          </a:prstGeom>
          <a:noFill/>
          <a:ln/>
        </p:spPr>
        <p:txBody>
          <a:bodyPr wrap="square" lIns="0" tIns="0" rIns="0" bIns="0" rtlCol="0" anchor="ctr"/>
          <a:lstStyle/>
          <a:p>
            <a:pPr algn="r" indent="0" marL="0">
              <a:buNone/>
            </a:pPr>
            <a:r>
              <a:rPr lang="en-US" sz="1050" b="1" dirty="0">
                <a:solidFill>
                  <a:srgbClr val="0F9BA8"/>
                </a:solidFill>
                <a:latin typeface="Courier New" pitchFamily="34" charset="0"/>
                <a:ea typeface="Courier New" pitchFamily="34" charset="-122"/>
                <a:cs typeface="Courier New" pitchFamily="34" charset="-120"/>
              </a:rPr>
              <a:t>annotate</a:t>
            </a:r>
            <a:endParaRPr lang="en-US" sz="1050" dirty="0"/>
          </a:p>
        </p:txBody>
      </p:sp>
      <p:sp>
        <p:nvSpPr>
          <p:cNvPr id="29" name="Text 27"/>
          <p:cNvSpPr/>
          <p:nvPr/>
        </p:nvSpPr>
        <p:spPr>
          <a:xfrm>
            <a:off x="6510528" y="4453128"/>
            <a:ext cx="4754880" cy="274320"/>
          </a:xfrm>
          <a:prstGeom prst="rect">
            <a:avLst/>
          </a:prstGeom>
          <a:noFill/>
          <a:ln/>
        </p:spPr>
        <p:txBody>
          <a:bodyPr wrap="square" lIns="0" tIns="0" rIns="0" bIns="0" rtlCol="0" anchor="ctr"/>
          <a:lstStyle/>
          <a:p>
            <a:pPr indent="0" marL="0">
              <a:buNone/>
            </a:pPr>
            <a:r>
              <a:rPr lang="en-US" sz="1050" dirty="0">
                <a:solidFill>
                  <a:srgbClr val="9BAABF"/>
                </a:solidFill>
                <a:latin typeface="Calibri" pitchFamily="34" charset="0"/>
                <a:ea typeface="Calibri" pitchFamily="34" charset="-122"/>
                <a:cs typeface="Calibri" pitchFamily="34" charset="-120"/>
              </a:rPr>
              <a:t>EU AI Act Art. 50, on every reply</a:t>
            </a:r>
            <a:endParaRPr lang="en-US" sz="1050" dirty="0"/>
          </a:p>
        </p:txBody>
      </p:sp>
      <p:sp>
        <p:nvSpPr>
          <p:cNvPr id="30" name="Shape 28"/>
          <p:cNvSpPr/>
          <p:nvPr/>
        </p:nvSpPr>
        <p:spPr>
          <a:xfrm>
            <a:off x="594360" y="5120640"/>
            <a:ext cx="10972800" cy="960120"/>
          </a:xfrm>
          <a:prstGeom prst="roundRect">
            <a:avLst>
              <a:gd name="adj" fmla="val 6667"/>
            </a:avLst>
          </a:prstGeom>
          <a:solidFill>
            <a:srgbClr val="0F131A"/>
          </a:solidFill>
          <a:ln w="12700">
            <a:solidFill>
              <a:srgbClr val="E2001A"/>
            </a:solidFill>
            <a:prstDash val="solid"/>
          </a:ln>
          <a:effectLst>
            <a:outerShdw sx="100000" sy="100000" kx="0" ky="0" algn="bl" rotWithShape="0" blurRad="127000" dist="25400" dir="5400000">
              <a:srgbClr val="000000">
                <a:alpha val="14000"/>
              </a:srgbClr>
            </a:outerShdw>
          </a:effectLst>
        </p:spPr>
      </p:sp>
      <p:sp>
        <p:nvSpPr>
          <p:cNvPr id="31" name="Text 29"/>
          <p:cNvSpPr/>
          <p:nvPr/>
        </p:nvSpPr>
        <p:spPr>
          <a:xfrm>
            <a:off x="914400" y="5303520"/>
            <a:ext cx="10378440" cy="640080"/>
          </a:xfrm>
          <a:prstGeom prst="rect">
            <a:avLst/>
          </a:prstGeom>
          <a:noFill/>
          <a:ln/>
        </p:spPr>
        <p:txBody>
          <a:bodyPr wrap="square" lIns="0" tIns="0" rIns="0" bIns="0" rtlCol="0" anchor="ctr"/>
          <a:lstStyle/>
          <a:p>
            <a:pPr indent="0" marL="0">
              <a:lnSpc>
                <a:spcPts val="1700"/>
              </a:lnSpc>
              <a:buNone/>
            </a:pPr>
            <a:r>
              <a:rPr lang="en-US" sz="1250" b="1" dirty="0">
                <a:solidFill>
                  <a:srgbClr val="E2001A"/>
                </a:solidFill>
                <a:latin typeface="Calibri" pitchFamily="34" charset="0"/>
                <a:ea typeface="Calibri" pitchFamily="34" charset="-122"/>
                <a:cs typeface="Calibri" pitchFamily="34" charset="-120"/>
              </a:rPr>
              <a:t>The trust boundary that matters most:  </a:t>
            </a:r>
            <a:pPr indent="0" marL="0">
              <a:lnSpc>
                <a:spcPts val="1700"/>
              </a:lnSpc>
              <a:buNone/>
            </a:pPr>
            <a:r>
              <a:rPr lang="en-US" sz="1250" dirty="0">
                <a:solidFill>
                  <a:srgbClr val="9BAABF"/>
                </a:solidFill>
                <a:latin typeface="Calibri" pitchFamily="34" charset="0"/>
                <a:ea typeface="Calibri" pitchFamily="34" charset="-122"/>
                <a:cs typeface="Calibri" pitchFamily="34" charset="-120"/>
              </a:rPr>
              <a:t>tool output is data, never instruction. A policy document, an order note or a product description can carry text engineered to look like a system prompt — so the guardrail runs over content before the agent uses it.</a:t>
            </a:r>
            <a:endParaRPr lang="en-US" sz="1250" dirty="0"/>
          </a:p>
        </p:txBody>
      </p:sp>
      <p:sp>
        <p:nvSpPr>
          <p:cNvPr id="32" name="Text 30"/>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3 · SHIP</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Terraform answers two questions</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“What changed?” and “is staging the same as production?” get asked during every incident, and neither is answerable without IaC.</a:t>
            </a:r>
            <a:endParaRPr lang="en-US" sz="1350" dirty="0"/>
          </a:p>
        </p:txBody>
      </p:sp>
      <p:sp>
        <p:nvSpPr>
          <p:cNvPr id="5" name="Text 3"/>
          <p:cNvSpPr/>
          <p:nvPr/>
        </p:nvSpPr>
        <p:spPr>
          <a:xfrm>
            <a:off x="594360" y="1874520"/>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network</a:t>
            </a:r>
            <a:endParaRPr lang="en-US" sz="1250" dirty="0"/>
          </a:p>
        </p:txBody>
      </p:sp>
      <p:sp>
        <p:nvSpPr>
          <p:cNvPr id="6" name="Text 4"/>
          <p:cNvSpPr/>
          <p:nvPr/>
        </p:nvSpPr>
        <p:spPr>
          <a:xfrm>
            <a:off x="2286000" y="1874520"/>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VNet, subnets, NSGs, 8 private DNS zones</a:t>
            </a:r>
            <a:endParaRPr lang="en-US" sz="1100" dirty="0"/>
          </a:p>
        </p:txBody>
      </p:sp>
      <p:sp>
        <p:nvSpPr>
          <p:cNvPr id="7" name="Text 5"/>
          <p:cNvSpPr/>
          <p:nvPr/>
        </p:nvSpPr>
        <p:spPr>
          <a:xfrm>
            <a:off x="594360" y="2350008"/>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identity</a:t>
            </a:r>
            <a:endParaRPr lang="en-US" sz="1250" dirty="0"/>
          </a:p>
        </p:txBody>
      </p:sp>
      <p:sp>
        <p:nvSpPr>
          <p:cNvPr id="8" name="Text 6"/>
          <p:cNvSpPr/>
          <p:nvPr/>
        </p:nvSpPr>
        <p:spPr>
          <a:xfrm>
            <a:off x="2286000" y="2350008"/>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managed identities, RBAC, GitHub OIDC federation</a:t>
            </a:r>
            <a:endParaRPr lang="en-US" sz="1100" dirty="0"/>
          </a:p>
        </p:txBody>
      </p:sp>
      <p:sp>
        <p:nvSpPr>
          <p:cNvPr id="9" name="Text 7"/>
          <p:cNvSpPr/>
          <p:nvPr/>
        </p:nvSpPr>
        <p:spPr>
          <a:xfrm>
            <a:off x="594360" y="2825496"/>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security</a:t>
            </a:r>
            <a:endParaRPr lang="en-US" sz="1250" dirty="0"/>
          </a:p>
        </p:txBody>
      </p:sp>
      <p:sp>
        <p:nvSpPr>
          <p:cNvPr id="10" name="Text 8"/>
          <p:cNvSpPr/>
          <p:nvPr/>
        </p:nvSpPr>
        <p:spPr>
          <a:xfrm>
            <a:off x="2286000" y="2825496"/>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Key Vault, secret slots, Content Safety, Defender</a:t>
            </a:r>
            <a:endParaRPr lang="en-US" sz="1100" dirty="0"/>
          </a:p>
        </p:txBody>
      </p:sp>
      <p:sp>
        <p:nvSpPr>
          <p:cNvPr id="11" name="Text 9"/>
          <p:cNvSpPr/>
          <p:nvPr/>
        </p:nvSpPr>
        <p:spPr>
          <a:xfrm>
            <a:off x="594360" y="3300984"/>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data</a:t>
            </a:r>
            <a:endParaRPr lang="en-US" sz="1250" dirty="0"/>
          </a:p>
        </p:txBody>
      </p:sp>
      <p:sp>
        <p:nvSpPr>
          <p:cNvPr id="12" name="Text 10"/>
          <p:cNvSpPr/>
          <p:nvPr/>
        </p:nvSpPr>
        <p:spPr>
          <a:xfrm>
            <a:off x="2286000" y="3300984"/>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Azure OpenAI ×2, AI Search, Storage, Postgres, Redis</a:t>
            </a:r>
            <a:endParaRPr lang="en-US" sz="1100" dirty="0"/>
          </a:p>
        </p:txBody>
      </p:sp>
      <p:sp>
        <p:nvSpPr>
          <p:cNvPr id="13" name="Text 11"/>
          <p:cNvSpPr/>
          <p:nvPr/>
        </p:nvSpPr>
        <p:spPr>
          <a:xfrm>
            <a:off x="594360" y="3776472"/>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runtime</a:t>
            </a:r>
            <a:endParaRPr lang="en-US" sz="1250" dirty="0"/>
          </a:p>
        </p:txBody>
      </p:sp>
      <p:sp>
        <p:nvSpPr>
          <p:cNvPr id="14" name="Text 12"/>
          <p:cNvSpPr/>
          <p:nvPr/>
        </p:nvSpPr>
        <p:spPr>
          <a:xfrm>
            <a:off x="2286000" y="3776472"/>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Container Apps environment + ACR — the shared fabric</a:t>
            </a:r>
            <a:endParaRPr lang="en-US" sz="1100" dirty="0"/>
          </a:p>
        </p:txBody>
      </p:sp>
      <p:sp>
        <p:nvSpPr>
          <p:cNvPr id="15" name="Text 13"/>
          <p:cNvSpPr/>
          <p:nvPr/>
        </p:nvSpPr>
        <p:spPr>
          <a:xfrm>
            <a:off x="594360" y="4251960"/>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gateway</a:t>
            </a:r>
            <a:endParaRPr lang="en-US" sz="1250" dirty="0"/>
          </a:p>
        </p:txBody>
      </p:sp>
      <p:sp>
        <p:nvSpPr>
          <p:cNvPr id="16" name="Text 14"/>
          <p:cNvSpPr/>
          <p:nvPr/>
        </p:nvSpPr>
        <p:spPr>
          <a:xfrm>
            <a:off x="2286000" y="4251960"/>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the LiteLLM container app</a:t>
            </a:r>
            <a:endParaRPr lang="en-US" sz="1100" dirty="0"/>
          </a:p>
        </p:txBody>
      </p:sp>
      <p:sp>
        <p:nvSpPr>
          <p:cNvPr id="17" name="Text 15"/>
          <p:cNvSpPr/>
          <p:nvPr/>
        </p:nvSpPr>
        <p:spPr>
          <a:xfrm>
            <a:off x="594360" y="4727448"/>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compute</a:t>
            </a:r>
            <a:endParaRPr lang="en-US" sz="1250" dirty="0"/>
          </a:p>
        </p:txBody>
      </p:sp>
      <p:sp>
        <p:nvSpPr>
          <p:cNvPr id="18" name="Text 16"/>
          <p:cNvSpPr/>
          <p:nvPr/>
        </p:nvSpPr>
        <p:spPr>
          <a:xfrm>
            <a:off x="2286000" y="4727448"/>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the agents, as a map — onboarding is a map entry</a:t>
            </a:r>
            <a:endParaRPr lang="en-US" sz="1100" dirty="0"/>
          </a:p>
        </p:txBody>
      </p:sp>
      <p:sp>
        <p:nvSpPr>
          <p:cNvPr id="19" name="Text 17"/>
          <p:cNvSpPr/>
          <p:nvPr/>
        </p:nvSpPr>
        <p:spPr>
          <a:xfrm>
            <a:off x="594360" y="5202936"/>
            <a:ext cx="1600200" cy="310896"/>
          </a:xfrm>
          <a:prstGeom prst="rect">
            <a:avLst/>
          </a:prstGeom>
          <a:noFill/>
          <a:ln/>
        </p:spPr>
        <p:txBody>
          <a:bodyPr wrap="square" lIns="0" tIns="0" rIns="0" bIns="0" rtlCol="0" anchor="ctr"/>
          <a:lstStyle/>
          <a:p>
            <a:pPr indent="0" marL="0">
              <a:buNone/>
            </a:pPr>
            <a:r>
              <a:rPr lang="en-US" sz="1250" b="1" dirty="0">
                <a:solidFill>
                  <a:srgbClr val="E2001A"/>
                </a:solidFill>
                <a:latin typeface="Courier New" pitchFamily="34" charset="0"/>
                <a:ea typeface="Courier New" pitchFamily="34" charset="-122"/>
                <a:cs typeface="Courier New" pitchFamily="34" charset="-120"/>
              </a:rPr>
              <a:t>observability</a:t>
            </a:r>
            <a:endParaRPr lang="en-US" sz="1250" dirty="0"/>
          </a:p>
        </p:txBody>
      </p:sp>
      <p:sp>
        <p:nvSpPr>
          <p:cNvPr id="20" name="Text 18"/>
          <p:cNvSpPr/>
          <p:nvPr/>
        </p:nvSpPr>
        <p:spPr>
          <a:xfrm>
            <a:off x="2286000" y="5202936"/>
            <a:ext cx="4114800" cy="310896"/>
          </a:xfrm>
          <a:prstGeom prst="rect">
            <a:avLst/>
          </a:prstGeom>
          <a:noFill/>
          <a:ln/>
        </p:spPr>
        <p:txBody>
          <a:bodyPr wrap="square" lIns="0" tIns="0" rIns="0" bIns="0" rtlCol="0" anchor="ctr"/>
          <a:lstStyle/>
          <a:p>
            <a:pPr indent="0" marL="0">
              <a:buNone/>
            </a:pPr>
            <a:r>
              <a:rPr lang="en-US" sz="1100" dirty="0">
                <a:solidFill>
                  <a:srgbClr val="5C6B80"/>
                </a:solidFill>
                <a:latin typeface="Calibri" pitchFamily="34" charset="0"/>
                <a:ea typeface="Calibri" pitchFamily="34" charset="-122"/>
                <a:cs typeface="Calibri" pitchFamily="34" charset="-120"/>
              </a:rPr>
              <a:t>Log Analytics, App Insights, Grafana, alerts</a:t>
            </a:r>
            <a:endParaRPr lang="en-US" sz="1100" dirty="0"/>
          </a:p>
        </p:txBody>
      </p:sp>
      <p:sp>
        <p:nvSpPr>
          <p:cNvPr id="21" name="Shape 19"/>
          <p:cNvSpPr/>
          <p:nvPr/>
        </p:nvSpPr>
        <p:spPr>
          <a:xfrm>
            <a:off x="6537960" y="1874520"/>
            <a:ext cx="5029200" cy="1280160"/>
          </a:xfrm>
          <a:prstGeom prst="roundRect">
            <a:avLst>
              <a:gd name="adj" fmla="val 5000"/>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2" name="Text 20"/>
          <p:cNvSpPr/>
          <p:nvPr/>
        </p:nvSpPr>
        <p:spPr>
          <a:xfrm>
            <a:off x="6812280" y="2011680"/>
            <a:ext cx="4526280" cy="292608"/>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The module graph is a design signal</a:t>
            </a:r>
            <a:endParaRPr lang="en-US" sz="1350" dirty="0"/>
          </a:p>
        </p:txBody>
      </p:sp>
      <p:sp>
        <p:nvSpPr>
          <p:cNvPr id="23" name="Text 21"/>
          <p:cNvSpPr/>
          <p:nvPr/>
        </p:nvSpPr>
        <p:spPr>
          <a:xfrm>
            <a:off x="6812280" y="2331720"/>
            <a:ext cx="4526280" cy="749808"/>
          </a:xfrm>
          <a:prstGeom prst="rect">
            <a:avLst/>
          </a:prstGeom>
          <a:noFill/>
          <a:ln/>
        </p:spPr>
        <p:txBody>
          <a:bodyPr wrap="square" lIns="0" tIns="0" rIns="0" bIns="0" rtlCol="0" anchor="ctr"/>
          <a:lstStyle/>
          <a:p>
            <a:pPr indent="0" marL="0">
              <a:lnSpc>
                <a:spcPts val="1400"/>
              </a:lnSpc>
              <a:buNone/>
            </a:pPr>
            <a:r>
              <a:rPr lang="en-US" sz="1080" dirty="0">
                <a:solidFill>
                  <a:srgbClr val="5C6B80"/>
                </a:solidFill>
                <a:latin typeface="Calibri" pitchFamily="34" charset="0"/>
                <a:ea typeface="Calibri" pitchFamily="34" charset="-122"/>
                <a:cs typeface="Calibri" pitchFamily="34" charset="-120"/>
              </a:rPr>
              <a:t>The gateway needs a registry; the agents need the gateway's URL. Put those in the wrong modules and Terraform refuses to build a graph at all. The fix was the correct decomposition, not a workaround.</a:t>
            </a:r>
            <a:endParaRPr lang="en-US" sz="1080" dirty="0"/>
          </a:p>
        </p:txBody>
      </p:sp>
      <p:sp>
        <p:nvSpPr>
          <p:cNvPr id="24" name="Shape 22"/>
          <p:cNvSpPr/>
          <p:nvPr/>
        </p:nvSpPr>
        <p:spPr>
          <a:xfrm>
            <a:off x="6537960" y="3291840"/>
            <a:ext cx="5029200" cy="1280160"/>
          </a:xfrm>
          <a:prstGeom prst="roundRect">
            <a:avLst>
              <a:gd name="adj" fmla="val 5000"/>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5" name="Text 23"/>
          <p:cNvSpPr/>
          <p:nvPr/>
        </p:nvSpPr>
        <p:spPr>
          <a:xfrm>
            <a:off x="6812280" y="3429000"/>
            <a:ext cx="4526280" cy="292608"/>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dev and prod are the same code</a:t>
            </a:r>
            <a:endParaRPr lang="en-US" sz="1350" dirty="0"/>
          </a:p>
        </p:txBody>
      </p:sp>
      <p:sp>
        <p:nvSpPr>
          <p:cNvPr id="26" name="Text 24"/>
          <p:cNvSpPr/>
          <p:nvPr/>
        </p:nvSpPr>
        <p:spPr>
          <a:xfrm>
            <a:off x="6812280" y="3749040"/>
            <a:ext cx="4526280" cy="749808"/>
          </a:xfrm>
          <a:prstGeom prst="rect">
            <a:avLst/>
          </a:prstGeom>
          <a:noFill/>
          <a:ln/>
        </p:spPr>
        <p:txBody>
          <a:bodyPr wrap="square" lIns="0" tIns="0" rIns="0" bIns="0" rtlCol="0" anchor="ctr"/>
          <a:lstStyle/>
          <a:p>
            <a:pPr indent="0" marL="0">
              <a:lnSpc>
                <a:spcPts val="1400"/>
              </a:lnSpc>
              <a:buNone/>
            </a:pPr>
            <a:r>
              <a:rPr lang="en-US" sz="1080" dirty="0">
                <a:solidFill>
                  <a:srgbClr val="5C6B80"/>
                </a:solidFill>
                <a:latin typeface="Calibri" pitchFamily="34" charset="0"/>
                <a:ea typeface="Calibri" pitchFamily="34" charset="-122"/>
                <a:cs typeface="Calibri" pitchFamily="34" charset="-120"/>
              </a:rPr>
              <a:t>What differs is size and cost. What never differs is posture — private networking, managed identity, guardrails, audit. If a control had to be switched on for prod, dev is the weak link.</a:t>
            </a:r>
            <a:endParaRPr lang="en-US" sz="1080" dirty="0"/>
          </a:p>
        </p:txBody>
      </p:sp>
      <p:sp>
        <p:nvSpPr>
          <p:cNvPr id="27" name="Shape 25"/>
          <p:cNvSpPr/>
          <p:nvPr/>
        </p:nvSpPr>
        <p:spPr>
          <a:xfrm>
            <a:off x="6537960" y="4709160"/>
            <a:ext cx="5029200" cy="1280160"/>
          </a:xfrm>
          <a:prstGeom prst="roundRect">
            <a:avLst>
              <a:gd name="adj" fmla="val 5000"/>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8" name="Text 26"/>
          <p:cNvSpPr/>
          <p:nvPr/>
        </p:nvSpPr>
        <p:spPr>
          <a:xfrm>
            <a:off x="6812280" y="4846320"/>
            <a:ext cx="4526280" cy="292608"/>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The plan is the review artefact</a:t>
            </a:r>
            <a:endParaRPr lang="en-US" sz="1350" dirty="0"/>
          </a:p>
        </p:txBody>
      </p:sp>
      <p:sp>
        <p:nvSpPr>
          <p:cNvPr id="29" name="Text 27"/>
          <p:cNvSpPr/>
          <p:nvPr/>
        </p:nvSpPr>
        <p:spPr>
          <a:xfrm>
            <a:off x="6812280" y="5166360"/>
            <a:ext cx="4526280" cy="749808"/>
          </a:xfrm>
          <a:prstGeom prst="rect">
            <a:avLst/>
          </a:prstGeom>
          <a:noFill/>
          <a:ln/>
        </p:spPr>
        <p:txBody>
          <a:bodyPr wrap="square" lIns="0" tIns="0" rIns="0" bIns="0" rtlCol="0" anchor="ctr"/>
          <a:lstStyle/>
          <a:p>
            <a:pPr indent="0" marL="0">
              <a:lnSpc>
                <a:spcPts val="1400"/>
              </a:lnSpc>
              <a:buNone/>
            </a:pPr>
            <a:r>
              <a:rPr lang="en-US" sz="1080" dirty="0">
                <a:solidFill>
                  <a:srgbClr val="5C6B80"/>
                </a:solidFill>
                <a:latin typeface="Calibri" pitchFamily="34" charset="0"/>
                <a:ea typeface="Calibri" pitchFamily="34" charset="-122"/>
                <a:cs typeface="Calibri" pitchFamily="34" charset="-120"/>
              </a:rPr>
              <a:t>A reviewer approves a diff of resources, not a diff of HCL. Those are different things, and the gap between them is where production surprises live.</a:t>
            </a:r>
            <a:endParaRPr lang="en-US" sz="1080" dirty="0"/>
          </a:p>
        </p:txBody>
      </p:sp>
      <p:sp>
        <p:nvSpPr>
          <p:cNvPr id="30" name="Text 28"/>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3 · SHIP</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The only path to production</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9BAABF"/>
                </a:solidFill>
                <a:latin typeface="Calibri" pitchFamily="34" charset="0"/>
                <a:ea typeface="Calibri" pitchFamily="34" charset="-122"/>
                <a:cs typeface="Calibri" pitchFamily="34" charset="-120"/>
              </a:rPr>
              <a:t>GitHub Actions. Nobody holds standing write access to the Azure subscriptions — the pipeline gets minutes of it, via OIDC.</a:t>
            </a:r>
            <a:endParaRPr lang="en-US" sz="1350" dirty="0"/>
          </a:p>
        </p:txBody>
      </p:sp>
      <p:sp>
        <p:nvSpPr>
          <p:cNvPr id="5" name="Shape 3"/>
          <p:cNvSpPr/>
          <p:nvPr/>
        </p:nvSpPr>
        <p:spPr>
          <a:xfrm>
            <a:off x="594360" y="1965960"/>
            <a:ext cx="2606040" cy="3063240"/>
          </a:xfrm>
          <a:prstGeom prst="roundRect">
            <a:avLst>
              <a:gd name="adj" fmla="val 2456"/>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6" name="Shape 4"/>
          <p:cNvSpPr/>
          <p:nvPr/>
        </p:nvSpPr>
        <p:spPr>
          <a:xfrm>
            <a:off x="832104" y="2176272"/>
            <a:ext cx="365760" cy="365760"/>
          </a:xfrm>
          <a:prstGeom prst="ellipse">
            <a:avLst/>
          </a:prstGeom>
          <a:solidFill>
            <a:srgbClr val="0F9BA8"/>
          </a:solidFill>
          <a:ln w="12700">
            <a:solidFill>
              <a:srgbClr val="0F9BA8"/>
            </a:solidFill>
            <a:prstDash val="solid"/>
          </a:ln>
        </p:spPr>
      </p:sp>
      <p:sp>
        <p:nvSpPr>
          <p:cNvPr id="7" name="Text 5"/>
          <p:cNvSpPr/>
          <p:nvPr/>
        </p:nvSpPr>
        <p:spPr>
          <a:xfrm>
            <a:off x="832104" y="2176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89304" y="2194560"/>
            <a:ext cx="17830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Pull request</a:t>
            </a:r>
            <a:endParaRPr lang="en-US" sz="1400" dirty="0"/>
          </a:p>
        </p:txBody>
      </p:sp>
      <p:sp>
        <p:nvSpPr>
          <p:cNvPr id="9" name="Text 7"/>
          <p:cNvSpPr/>
          <p:nvPr/>
        </p:nvSpPr>
        <p:spPr>
          <a:xfrm>
            <a:off x="832104" y="2633472"/>
            <a:ext cx="2240280" cy="21945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lint</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test</a:t>
            </a:r>
            <a:endParaRPr lang="en-US" sz="1150" dirty="0"/>
          </a:p>
          <a:p>
            <a:pPr marL="342900" indent="-342900">
              <a:spcAft>
                <a:spcPts val="700"/>
              </a:spcAft>
              <a:buSzPct val="100000"/>
              <a:buChar char="•"/>
            </a:pPr>
            <a:r>
              <a:rPr lang="en-US" sz="1150" b="1" dirty="0">
                <a:solidFill>
                  <a:srgbClr val="E2001A"/>
                </a:solidFill>
                <a:latin typeface="Calibri" pitchFamily="34" charset="0"/>
                <a:ea typeface="Calibri" pitchFamily="34" charset="-122"/>
                <a:cs typeface="Calibri" pitchFamily="34" charset="-120"/>
              </a:rPr>
              <a:t>evals ★</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terraform</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security</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 one gate job</a:t>
            </a:r>
            <a:endParaRPr lang="en-US" sz="1150" dirty="0"/>
          </a:p>
        </p:txBody>
      </p:sp>
      <p:sp>
        <p:nvSpPr>
          <p:cNvPr id="10" name="Text 8"/>
          <p:cNvSpPr/>
          <p:nvPr/>
        </p:nvSpPr>
        <p:spPr>
          <a:xfrm>
            <a:off x="3209544" y="3291840"/>
            <a:ext cx="237744" cy="365760"/>
          </a:xfrm>
          <a:prstGeom prst="rect">
            <a:avLst/>
          </a:prstGeom>
          <a:noFill/>
          <a:ln/>
        </p:spPr>
        <p:txBody>
          <a:bodyPr wrap="square" lIns="0" tIns="0" rIns="0" bIns="0" rtlCol="0" anchor="ctr"/>
          <a:lstStyle/>
          <a:p>
            <a:pPr algn="ctr" indent="0" marL="0">
              <a:buNone/>
            </a:pPr>
            <a:r>
              <a:rPr lang="en-US" sz="1800" dirty="0">
                <a:solidFill>
                  <a:srgbClr val="2B3547"/>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3447288" y="1965960"/>
            <a:ext cx="2606040" cy="3063240"/>
          </a:xfrm>
          <a:prstGeom prst="roundRect">
            <a:avLst>
              <a:gd name="adj" fmla="val 2456"/>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2" name="Shape 10"/>
          <p:cNvSpPr/>
          <p:nvPr/>
        </p:nvSpPr>
        <p:spPr>
          <a:xfrm>
            <a:off x="3685032" y="2176272"/>
            <a:ext cx="365760" cy="365760"/>
          </a:xfrm>
          <a:prstGeom prst="ellipse">
            <a:avLst/>
          </a:prstGeom>
          <a:solidFill>
            <a:srgbClr val="0F9BA8"/>
          </a:solidFill>
          <a:ln w="12700">
            <a:solidFill>
              <a:srgbClr val="0F9BA8"/>
            </a:solidFill>
            <a:prstDash val="solid"/>
          </a:ln>
        </p:spPr>
      </p:sp>
      <p:sp>
        <p:nvSpPr>
          <p:cNvPr id="13" name="Text 11"/>
          <p:cNvSpPr/>
          <p:nvPr/>
        </p:nvSpPr>
        <p:spPr>
          <a:xfrm>
            <a:off x="3685032" y="2176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142232" y="2194560"/>
            <a:ext cx="17830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Plan on PR</a:t>
            </a:r>
            <a:endParaRPr lang="en-US" sz="1400" dirty="0"/>
          </a:p>
        </p:txBody>
      </p:sp>
      <p:sp>
        <p:nvSpPr>
          <p:cNvPr id="15" name="Text 13"/>
          <p:cNvSpPr/>
          <p:nvPr/>
        </p:nvSpPr>
        <p:spPr>
          <a:xfrm>
            <a:off x="3685032" y="2633472"/>
            <a:ext cx="2240280" cy="21945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terraform plan</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Checkov + tfsec</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Conftest on the plan JSON</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posted as a comment</a:t>
            </a:r>
            <a:endParaRPr lang="en-US" sz="1150" dirty="0"/>
          </a:p>
        </p:txBody>
      </p:sp>
      <p:sp>
        <p:nvSpPr>
          <p:cNvPr id="16" name="Text 14"/>
          <p:cNvSpPr/>
          <p:nvPr/>
        </p:nvSpPr>
        <p:spPr>
          <a:xfrm>
            <a:off x="6062472" y="3291840"/>
            <a:ext cx="237744" cy="365760"/>
          </a:xfrm>
          <a:prstGeom prst="rect">
            <a:avLst/>
          </a:prstGeom>
          <a:noFill/>
          <a:ln/>
        </p:spPr>
        <p:txBody>
          <a:bodyPr wrap="square" lIns="0" tIns="0" rIns="0" bIns="0" rtlCol="0" anchor="ctr"/>
          <a:lstStyle/>
          <a:p>
            <a:pPr algn="ctr" indent="0" marL="0">
              <a:buNone/>
            </a:pPr>
            <a:r>
              <a:rPr lang="en-US" sz="1800" dirty="0">
                <a:solidFill>
                  <a:srgbClr val="2B3547"/>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300216" y="1965960"/>
            <a:ext cx="2606040" cy="3063240"/>
          </a:xfrm>
          <a:prstGeom prst="roundRect">
            <a:avLst>
              <a:gd name="adj" fmla="val 2456"/>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18" name="Shape 16"/>
          <p:cNvSpPr/>
          <p:nvPr/>
        </p:nvSpPr>
        <p:spPr>
          <a:xfrm>
            <a:off x="6537960" y="2176272"/>
            <a:ext cx="365760" cy="365760"/>
          </a:xfrm>
          <a:prstGeom prst="ellipse">
            <a:avLst/>
          </a:prstGeom>
          <a:solidFill>
            <a:srgbClr val="B77400"/>
          </a:solidFill>
          <a:ln w="12700">
            <a:solidFill>
              <a:srgbClr val="B77400"/>
            </a:solidFill>
            <a:prstDash val="solid"/>
          </a:ln>
        </p:spPr>
      </p:sp>
      <p:sp>
        <p:nvSpPr>
          <p:cNvPr id="19" name="Text 17"/>
          <p:cNvSpPr/>
          <p:nvPr/>
        </p:nvSpPr>
        <p:spPr>
          <a:xfrm>
            <a:off x="6537960" y="2176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6995160" y="2194560"/>
            <a:ext cx="17830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Merge → main</a:t>
            </a:r>
            <a:endParaRPr lang="en-US" sz="1400" dirty="0"/>
          </a:p>
        </p:txBody>
      </p:sp>
      <p:sp>
        <p:nvSpPr>
          <p:cNvPr id="21" name="Text 19"/>
          <p:cNvSpPr/>
          <p:nvPr/>
        </p:nvSpPr>
        <p:spPr>
          <a:xfrm>
            <a:off x="6537960" y="2633472"/>
            <a:ext cx="2240280" cy="21945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build + SBOM</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Trivy scan</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cosign sign</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dev deploy + smoke</a:t>
            </a:r>
            <a:endParaRPr lang="en-US" sz="1150" dirty="0"/>
          </a:p>
        </p:txBody>
      </p:sp>
      <p:sp>
        <p:nvSpPr>
          <p:cNvPr id="22" name="Text 20"/>
          <p:cNvSpPr/>
          <p:nvPr/>
        </p:nvSpPr>
        <p:spPr>
          <a:xfrm>
            <a:off x="8915400" y="3291840"/>
            <a:ext cx="237744" cy="365760"/>
          </a:xfrm>
          <a:prstGeom prst="rect">
            <a:avLst/>
          </a:prstGeom>
          <a:noFill/>
          <a:ln/>
        </p:spPr>
        <p:txBody>
          <a:bodyPr wrap="square" lIns="0" tIns="0" rIns="0" bIns="0" rtlCol="0" anchor="ctr"/>
          <a:lstStyle/>
          <a:p>
            <a:pPr algn="ctr" indent="0" marL="0">
              <a:buNone/>
            </a:pPr>
            <a:r>
              <a:rPr lang="en-US" sz="1800" dirty="0">
                <a:solidFill>
                  <a:srgbClr val="2B3547"/>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9153144" y="1965960"/>
            <a:ext cx="2606040" cy="3063240"/>
          </a:xfrm>
          <a:prstGeom prst="roundRect">
            <a:avLst>
              <a:gd name="adj" fmla="val 2456"/>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24" name="Shape 22"/>
          <p:cNvSpPr/>
          <p:nvPr/>
        </p:nvSpPr>
        <p:spPr>
          <a:xfrm>
            <a:off x="9390888" y="2176272"/>
            <a:ext cx="365760" cy="365760"/>
          </a:xfrm>
          <a:prstGeom prst="ellipse">
            <a:avLst/>
          </a:prstGeom>
          <a:solidFill>
            <a:srgbClr val="E2001A"/>
          </a:solidFill>
          <a:ln w="12700">
            <a:solidFill>
              <a:srgbClr val="E2001A"/>
            </a:solidFill>
            <a:prstDash val="solid"/>
          </a:ln>
        </p:spPr>
      </p:sp>
      <p:sp>
        <p:nvSpPr>
          <p:cNvPr id="25" name="Text 23"/>
          <p:cNvSpPr/>
          <p:nvPr/>
        </p:nvSpPr>
        <p:spPr>
          <a:xfrm>
            <a:off x="9390888" y="2176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9848088" y="2194560"/>
            <a:ext cx="17830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Production</a:t>
            </a:r>
            <a:endParaRPr lang="en-US" sz="1400" dirty="0"/>
          </a:p>
        </p:txBody>
      </p:sp>
      <p:sp>
        <p:nvSpPr>
          <p:cNvPr id="27" name="Text 25"/>
          <p:cNvSpPr/>
          <p:nvPr/>
        </p:nvSpPr>
        <p:spPr>
          <a:xfrm>
            <a:off x="9390888" y="2633472"/>
            <a:ext cx="2240280" cy="21945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canary at 10%</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bake 15 min vs SLOs</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promote or roll back</a:t>
            </a:r>
            <a:endParaRPr lang="en-US" sz="1150" dirty="0"/>
          </a:p>
          <a:p>
            <a:pPr marL="342900" indent="-342900">
              <a:spcAft>
                <a:spcPts val="700"/>
              </a:spcAft>
              <a:buSzPct val="100000"/>
              <a:buChar char="•"/>
            </a:pPr>
            <a:r>
              <a:rPr lang="en-US" sz="1150" dirty="0">
                <a:solidFill>
                  <a:srgbClr val="9BAABF"/>
                </a:solidFill>
                <a:latin typeface="Calibri" pitchFamily="34" charset="0"/>
                <a:ea typeface="Calibri" pitchFamily="34" charset="-122"/>
                <a:cs typeface="Calibri" pitchFamily="34" charset="-120"/>
              </a:rPr>
              <a:t>2 approvers on apply</a:t>
            </a:r>
            <a:endParaRPr lang="en-US" sz="1150" dirty="0"/>
          </a:p>
        </p:txBody>
      </p:sp>
      <p:sp>
        <p:nvSpPr>
          <p:cNvPr id="28" name="Text 26"/>
          <p:cNvSpPr/>
          <p:nvPr/>
        </p:nvSpPr>
        <p:spPr>
          <a:xfrm>
            <a:off x="594360" y="5285232"/>
            <a:ext cx="35204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The eval job is a required check</a:t>
            </a:r>
            <a:endParaRPr lang="en-US" sz="1300" dirty="0"/>
          </a:p>
        </p:txBody>
      </p:sp>
      <p:sp>
        <p:nvSpPr>
          <p:cNvPr id="29" name="Text 27"/>
          <p:cNvSpPr/>
          <p:nvPr/>
        </p:nvSpPr>
        <p:spPr>
          <a:xfrm>
            <a:off x="594360" y="5577840"/>
            <a:ext cx="3520440" cy="45720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Behaviour, not plumbing</a:t>
            </a:r>
            <a:endParaRPr lang="en-US" sz="1150" dirty="0"/>
          </a:p>
        </p:txBody>
      </p:sp>
      <p:sp>
        <p:nvSpPr>
          <p:cNvPr id="30" name="Text 28"/>
          <p:cNvSpPr/>
          <p:nvPr/>
        </p:nvSpPr>
        <p:spPr>
          <a:xfrm>
            <a:off x="4297680" y="5285232"/>
            <a:ext cx="35204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OIDC, not a client secret</a:t>
            </a:r>
            <a:endParaRPr lang="en-US" sz="1300" dirty="0"/>
          </a:p>
        </p:txBody>
      </p:sp>
      <p:sp>
        <p:nvSpPr>
          <p:cNvPr id="31" name="Text 29"/>
          <p:cNvSpPr/>
          <p:nvPr/>
        </p:nvSpPr>
        <p:spPr>
          <a:xfrm>
            <a:off x="4297680" y="5577840"/>
            <a:ext cx="3520440" cy="45720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The best-protected credential is one that does not exist</a:t>
            </a:r>
            <a:endParaRPr lang="en-US" sz="1150" dirty="0"/>
          </a:p>
        </p:txBody>
      </p:sp>
      <p:sp>
        <p:nvSpPr>
          <p:cNvPr id="32" name="Text 30"/>
          <p:cNvSpPr/>
          <p:nvPr/>
        </p:nvSpPr>
        <p:spPr>
          <a:xfrm>
            <a:off x="8001000" y="5285232"/>
            <a:ext cx="35204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Rollback is a traffic weight</a:t>
            </a:r>
            <a:endParaRPr lang="en-US" sz="1300" dirty="0"/>
          </a:p>
        </p:txBody>
      </p:sp>
      <p:sp>
        <p:nvSpPr>
          <p:cNvPr id="33" name="Text 31"/>
          <p:cNvSpPr/>
          <p:nvPr/>
        </p:nvSpPr>
        <p:spPr>
          <a:xfrm>
            <a:off x="8001000" y="5577840"/>
            <a:ext cx="3520440" cy="45720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Seconds — a rollback that needs a rebuild is a hope</a:t>
            </a:r>
            <a:endParaRPr lang="en-US" sz="1150" dirty="0"/>
          </a:p>
        </p:txBody>
      </p:sp>
      <p:sp>
        <p:nvSpPr>
          <p:cNvPr id="34" name="Text 32"/>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4 · RUN</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Fast, 200, and still wrong</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An agent can be fast, return 200 and still be wrong. Classic APM covers the first row; the other three make it operable.</a:t>
            </a:r>
            <a:endParaRPr lang="en-US" sz="1350" dirty="0"/>
          </a:p>
        </p:txBody>
      </p:sp>
      <p:sp>
        <p:nvSpPr>
          <p:cNvPr id="5" name="Shape 3"/>
          <p:cNvSpPr/>
          <p:nvPr/>
        </p:nvSpPr>
        <p:spPr>
          <a:xfrm>
            <a:off x="594360" y="1847088"/>
            <a:ext cx="5349240" cy="1719072"/>
          </a:xfrm>
          <a:prstGeom prst="roundRect">
            <a:avLst>
              <a:gd name="adj" fmla="val 3723"/>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6" name="Shape 4"/>
          <p:cNvSpPr/>
          <p:nvPr/>
        </p:nvSpPr>
        <p:spPr>
          <a:xfrm>
            <a:off x="886968" y="2103120"/>
            <a:ext cx="173736" cy="173736"/>
          </a:xfrm>
          <a:prstGeom prst="ellipse">
            <a:avLst/>
          </a:prstGeom>
          <a:solidFill>
            <a:srgbClr val="5C6B80"/>
          </a:solidFill>
          <a:ln w="12700">
            <a:solidFill>
              <a:srgbClr val="5C6B80"/>
            </a:solidFill>
            <a:prstDash val="solid"/>
          </a:ln>
        </p:spPr>
      </p:sp>
      <p:sp>
        <p:nvSpPr>
          <p:cNvPr id="7" name="Text 5"/>
          <p:cNvSpPr/>
          <p:nvPr/>
        </p:nvSpPr>
        <p:spPr>
          <a:xfrm>
            <a:off x="1161288" y="1993392"/>
            <a:ext cx="2194560" cy="347472"/>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RED</a:t>
            </a:r>
            <a:endParaRPr lang="en-US" sz="1900" dirty="0"/>
          </a:p>
        </p:txBody>
      </p:sp>
      <p:sp>
        <p:nvSpPr>
          <p:cNvPr id="8" name="Text 6"/>
          <p:cNvSpPr/>
          <p:nvPr/>
        </p:nvSpPr>
        <p:spPr>
          <a:xfrm>
            <a:off x="2880360" y="2048256"/>
            <a:ext cx="2834640" cy="292608"/>
          </a:xfrm>
          <a:prstGeom prst="rect">
            <a:avLst/>
          </a:prstGeom>
          <a:noFill/>
          <a:ln/>
        </p:spPr>
        <p:txBody>
          <a:bodyPr wrap="square" lIns="0" tIns="0" rIns="0" bIns="0" rtlCol="0" anchor="ctr"/>
          <a:lstStyle/>
          <a:p>
            <a:pPr algn="r" indent="0" marL="0">
              <a:buNone/>
            </a:pPr>
            <a:r>
              <a:rPr lang="en-US" sz="1250" i="1" dirty="0">
                <a:solidFill>
                  <a:srgbClr val="5C6B80"/>
                </a:solidFill>
                <a:latin typeface="Calibri" pitchFamily="34" charset="0"/>
                <a:ea typeface="Calibri" pitchFamily="34" charset="-122"/>
                <a:cs typeface="Calibri" pitchFamily="34" charset="-120"/>
              </a:rPr>
              <a:t>Is the service up?</a:t>
            </a:r>
            <a:endParaRPr lang="en-US" sz="1250" dirty="0"/>
          </a:p>
        </p:txBody>
      </p:sp>
      <p:sp>
        <p:nvSpPr>
          <p:cNvPr id="9" name="Text 7"/>
          <p:cNvSpPr/>
          <p:nvPr/>
        </p:nvSpPr>
        <p:spPr>
          <a:xfrm>
            <a:off x="905256" y="2414016"/>
            <a:ext cx="4754880" cy="1188720"/>
          </a:xfrm>
          <a:prstGeom prst="rect">
            <a:avLst/>
          </a:prstGeom>
          <a:noFill/>
          <a:ln/>
        </p:spPr>
        <p:txBody>
          <a:bodyPr wrap="square" lIns="0" tIns="0" rIns="0" bIns="0" rtlCol="0" anchor="ctr"/>
          <a:lstStyle/>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agent_requests_total</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agent_request_duration_seconds</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agent_errors_total</a:t>
            </a:r>
            <a:endParaRPr lang="en-US" sz="1050" dirty="0"/>
          </a:p>
        </p:txBody>
      </p:sp>
      <p:sp>
        <p:nvSpPr>
          <p:cNvPr id="10" name="Shape 8"/>
          <p:cNvSpPr/>
          <p:nvPr/>
        </p:nvSpPr>
        <p:spPr>
          <a:xfrm>
            <a:off x="6217920" y="1847088"/>
            <a:ext cx="5349240" cy="1719072"/>
          </a:xfrm>
          <a:prstGeom prst="roundRect">
            <a:avLst>
              <a:gd name="adj" fmla="val 3723"/>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11" name="Shape 9"/>
          <p:cNvSpPr/>
          <p:nvPr/>
        </p:nvSpPr>
        <p:spPr>
          <a:xfrm>
            <a:off x="6510528" y="2103120"/>
            <a:ext cx="173736" cy="173736"/>
          </a:xfrm>
          <a:prstGeom prst="ellipse">
            <a:avLst/>
          </a:prstGeom>
          <a:solidFill>
            <a:srgbClr val="0F9BA8"/>
          </a:solidFill>
          <a:ln w="12700">
            <a:solidFill>
              <a:srgbClr val="0F9BA8"/>
            </a:solidFill>
            <a:prstDash val="solid"/>
          </a:ln>
        </p:spPr>
      </p:sp>
      <p:sp>
        <p:nvSpPr>
          <p:cNvPr id="12" name="Text 10"/>
          <p:cNvSpPr/>
          <p:nvPr/>
        </p:nvSpPr>
        <p:spPr>
          <a:xfrm>
            <a:off x="6784848" y="1993392"/>
            <a:ext cx="2194560" cy="347472"/>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Agent</a:t>
            </a:r>
            <a:endParaRPr lang="en-US" sz="1900" dirty="0"/>
          </a:p>
        </p:txBody>
      </p:sp>
      <p:sp>
        <p:nvSpPr>
          <p:cNvPr id="13" name="Text 11"/>
          <p:cNvSpPr/>
          <p:nvPr/>
        </p:nvSpPr>
        <p:spPr>
          <a:xfrm>
            <a:off x="8503920" y="2048256"/>
            <a:ext cx="2834640" cy="292608"/>
          </a:xfrm>
          <a:prstGeom prst="rect">
            <a:avLst/>
          </a:prstGeom>
          <a:noFill/>
          <a:ln/>
        </p:spPr>
        <p:txBody>
          <a:bodyPr wrap="square" lIns="0" tIns="0" rIns="0" bIns="0" rtlCol="0" anchor="ctr"/>
          <a:lstStyle/>
          <a:p>
            <a:pPr algn="r" indent="0" marL="0">
              <a:buNone/>
            </a:pPr>
            <a:r>
              <a:rPr lang="en-US" sz="1250" i="1" dirty="0">
                <a:solidFill>
                  <a:srgbClr val="0F9BA8"/>
                </a:solidFill>
                <a:latin typeface="Calibri" pitchFamily="34" charset="0"/>
                <a:ea typeface="Calibri" pitchFamily="34" charset="-122"/>
                <a:cs typeface="Calibri" pitchFamily="34" charset="-120"/>
              </a:rPr>
              <a:t>Is it behaving?</a:t>
            </a:r>
            <a:endParaRPr lang="en-US" sz="1250" dirty="0"/>
          </a:p>
        </p:txBody>
      </p:sp>
      <p:sp>
        <p:nvSpPr>
          <p:cNvPr id="14" name="Text 12"/>
          <p:cNvSpPr/>
          <p:nvPr/>
        </p:nvSpPr>
        <p:spPr>
          <a:xfrm>
            <a:off x="6528816" y="2414016"/>
            <a:ext cx="4754880" cy="1188720"/>
          </a:xfrm>
          <a:prstGeom prst="rect">
            <a:avLst/>
          </a:prstGeom>
          <a:noFill/>
          <a:ln/>
        </p:spPr>
        <p:txBody>
          <a:bodyPr wrap="square" lIns="0" tIns="0" rIns="0" bIns="0" rtlCol="0" anchor="ctr"/>
          <a:lstStyle/>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agent_steps_per_turn</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agent_tool_calls_total</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agent_loop_termination_total</a:t>
            </a:r>
            <a:endParaRPr lang="en-US" sz="1050" dirty="0"/>
          </a:p>
        </p:txBody>
      </p:sp>
      <p:sp>
        <p:nvSpPr>
          <p:cNvPr id="15" name="Shape 13"/>
          <p:cNvSpPr/>
          <p:nvPr/>
        </p:nvSpPr>
        <p:spPr>
          <a:xfrm>
            <a:off x="594360" y="3730752"/>
            <a:ext cx="5349240" cy="1719072"/>
          </a:xfrm>
          <a:prstGeom prst="roundRect">
            <a:avLst>
              <a:gd name="adj" fmla="val 3723"/>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16" name="Shape 14"/>
          <p:cNvSpPr/>
          <p:nvPr/>
        </p:nvSpPr>
        <p:spPr>
          <a:xfrm>
            <a:off x="886968" y="3986784"/>
            <a:ext cx="173736" cy="173736"/>
          </a:xfrm>
          <a:prstGeom prst="ellipse">
            <a:avLst/>
          </a:prstGeom>
          <a:solidFill>
            <a:srgbClr val="E2001A"/>
          </a:solidFill>
          <a:ln w="12700">
            <a:solidFill>
              <a:srgbClr val="E2001A"/>
            </a:solidFill>
            <a:prstDash val="solid"/>
          </a:ln>
        </p:spPr>
      </p:sp>
      <p:sp>
        <p:nvSpPr>
          <p:cNvPr id="17" name="Text 15"/>
          <p:cNvSpPr/>
          <p:nvPr/>
        </p:nvSpPr>
        <p:spPr>
          <a:xfrm>
            <a:off x="1161288" y="3877056"/>
            <a:ext cx="2194560" cy="347472"/>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Quality</a:t>
            </a:r>
            <a:endParaRPr lang="en-US" sz="1900" dirty="0"/>
          </a:p>
        </p:txBody>
      </p:sp>
      <p:sp>
        <p:nvSpPr>
          <p:cNvPr id="18" name="Text 16"/>
          <p:cNvSpPr/>
          <p:nvPr/>
        </p:nvSpPr>
        <p:spPr>
          <a:xfrm>
            <a:off x="2880360" y="3931920"/>
            <a:ext cx="2834640" cy="292608"/>
          </a:xfrm>
          <a:prstGeom prst="rect">
            <a:avLst/>
          </a:prstGeom>
          <a:noFill/>
          <a:ln/>
        </p:spPr>
        <p:txBody>
          <a:bodyPr wrap="square" lIns="0" tIns="0" rIns="0" bIns="0" rtlCol="0" anchor="ctr"/>
          <a:lstStyle/>
          <a:p>
            <a:pPr algn="r" indent="0" marL="0">
              <a:buNone/>
            </a:pPr>
            <a:r>
              <a:rPr lang="en-US" sz="1250" i="1" dirty="0">
                <a:solidFill>
                  <a:srgbClr val="E2001A"/>
                </a:solidFill>
                <a:latin typeface="Calibri" pitchFamily="34" charset="0"/>
                <a:ea typeface="Calibri" pitchFamily="34" charset="-122"/>
                <a:cs typeface="Calibri" pitchFamily="34" charset="-120"/>
              </a:rPr>
              <a:t>Is it right?</a:t>
            </a:r>
            <a:endParaRPr lang="en-US" sz="1250" dirty="0"/>
          </a:p>
        </p:txBody>
      </p:sp>
      <p:sp>
        <p:nvSpPr>
          <p:cNvPr id="19" name="Text 17"/>
          <p:cNvSpPr/>
          <p:nvPr/>
        </p:nvSpPr>
        <p:spPr>
          <a:xfrm>
            <a:off x="905256" y="4297680"/>
            <a:ext cx="4754880" cy="1188720"/>
          </a:xfrm>
          <a:prstGeom prst="rect">
            <a:avLst/>
          </a:prstGeom>
          <a:noFill/>
          <a:ln/>
        </p:spPr>
        <p:txBody>
          <a:bodyPr wrap="square" lIns="0" tIns="0" rIns="0" bIns="0" rtlCol="0" anchor="ctr"/>
          <a:lstStyle/>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agent_groundedness_ratio</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guardrail_firings_total</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agent_escalations_total</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agent_eval_score</a:t>
            </a:r>
            <a:endParaRPr lang="en-US" sz="1050" dirty="0"/>
          </a:p>
        </p:txBody>
      </p:sp>
      <p:sp>
        <p:nvSpPr>
          <p:cNvPr id="20" name="Shape 18"/>
          <p:cNvSpPr/>
          <p:nvPr/>
        </p:nvSpPr>
        <p:spPr>
          <a:xfrm>
            <a:off x="6217920" y="3730752"/>
            <a:ext cx="5349240" cy="1719072"/>
          </a:xfrm>
          <a:prstGeom prst="roundRect">
            <a:avLst>
              <a:gd name="adj" fmla="val 3723"/>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1" name="Shape 19"/>
          <p:cNvSpPr/>
          <p:nvPr/>
        </p:nvSpPr>
        <p:spPr>
          <a:xfrm>
            <a:off x="6510528" y="3986784"/>
            <a:ext cx="173736" cy="173736"/>
          </a:xfrm>
          <a:prstGeom prst="ellipse">
            <a:avLst/>
          </a:prstGeom>
          <a:solidFill>
            <a:srgbClr val="B77400"/>
          </a:solidFill>
          <a:ln w="12700">
            <a:solidFill>
              <a:srgbClr val="B77400"/>
            </a:solidFill>
            <a:prstDash val="solid"/>
          </a:ln>
        </p:spPr>
      </p:sp>
      <p:sp>
        <p:nvSpPr>
          <p:cNvPr id="22" name="Text 20"/>
          <p:cNvSpPr/>
          <p:nvPr/>
        </p:nvSpPr>
        <p:spPr>
          <a:xfrm>
            <a:off x="6784848" y="3877056"/>
            <a:ext cx="2194560" cy="347472"/>
          </a:xfrm>
          <a:prstGeom prst="rect">
            <a:avLst/>
          </a:prstGeom>
          <a:noFill/>
          <a:ln/>
        </p:spPr>
        <p:txBody>
          <a:bodyPr wrap="square" lIns="0" tIns="0" rIns="0" bIns="0" rtlCol="0" anchor="ctr"/>
          <a:lstStyle/>
          <a:p>
            <a:pPr indent="0" marL="0">
              <a:buNone/>
            </a:pPr>
            <a:r>
              <a:rPr lang="en-US" sz="1900" b="1" dirty="0">
                <a:solidFill>
                  <a:srgbClr val="16202E"/>
                </a:solidFill>
                <a:latin typeface="Cambria" pitchFamily="34" charset="0"/>
                <a:ea typeface="Cambria" pitchFamily="34" charset="-122"/>
                <a:cs typeface="Cambria" pitchFamily="34" charset="-120"/>
              </a:rPr>
              <a:t>FinOps</a:t>
            </a:r>
            <a:endParaRPr lang="en-US" sz="1900" dirty="0"/>
          </a:p>
        </p:txBody>
      </p:sp>
      <p:sp>
        <p:nvSpPr>
          <p:cNvPr id="23" name="Text 21"/>
          <p:cNvSpPr/>
          <p:nvPr/>
        </p:nvSpPr>
        <p:spPr>
          <a:xfrm>
            <a:off x="8503920" y="3931920"/>
            <a:ext cx="2834640" cy="292608"/>
          </a:xfrm>
          <a:prstGeom prst="rect">
            <a:avLst/>
          </a:prstGeom>
          <a:noFill/>
          <a:ln/>
        </p:spPr>
        <p:txBody>
          <a:bodyPr wrap="square" lIns="0" tIns="0" rIns="0" bIns="0" rtlCol="0" anchor="ctr"/>
          <a:lstStyle/>
          <a:p>
            <a:pPr algn="r" indent="0" marL="0">
              <a:buNone/>
            </a:pPr>
            <a:r>
              <a:rPr lang="en-US" sz="1250" i="1" dirty="0">
                <a:solidFill>
                  <a:srgbClr val="B77400"/>
                </a:solidFill>
                <a:latin typeface="Calibri" pitchFamily="34" charset="0"/>
                <a:ea typeface="Calibri" pitchFamily="34" charset="-122"/>
                <a:cs typeface="Calibri" pitchFamily="34" charset="-120"/>
              </a:rPr>
              <a:t>Is it affordable?</a:t>
            </a:r>
            <a:endParaRPr lang="en-US" sz="1250" dirty="0"/>
          </a:p>
        </p:txBody>
      </p:sp>
      <p:sp>
        <p:nvSpPr>
          <p:cNvPr id="24" name="Text 22"/>
          <p:cNvSpPr/>
          <p:nvPr/>
        </p:nvSpPr>
        <p:spPr>
          <a:xfrm>
            <a:off x="6528816" y="4297680"/>
            <a:ext cx="4754880" cy="1188720"/>
          </a:xfrm>
          <a:prstGeom prst="rect">
            <a:avLst/>
          </a:prstGeom>
          <a:noFill/>
          <a:ln/>
        </p:spPr>
        <p:txBody>
          <a:bodyPr wrap="square" lIns="0" tIns="0" rIns="0" bIns="0" rtlCol="0" anchor="ctr"/>
          <a:lstStyle/>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llm_cost_usd_per_turn</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llm_cache_events_total</a:t>
            </a:r>
            <a:endParaRPr lang="en-US" sz="1050" dirty="0"/>
          </a:p>
          <a:p>
            <a:pPr indent="0" marL="0">
              <a:lnSpc>
                <a:spcPts val="1500"/>
              </a:lnSpc>
              <a:buNone/>
            </a:pPr>
            <a:r>
              <a:rPr lang="en-US" sz="1050" dirty="0">
                <a:solidFill>
                  <a:srgbClr val="5C6B80"/>
                </a:solidFill>
                <a:latin typeface="Courier New" pitchFamily="34" charset="0"/>
                <a:ea typeface="Courier New" pitchFamily="34" charset="-122"/>
                <a:cs typeface="Courier New" pitchFamily="34" charset="-120"/>
              </a:rPr>
              <a:t>llm_budget_remaining_usd</a:t>
            </a:r>
            <a:endParaRPr lang="en-US" sz="1050" dirty="0"/>
          </a:p>
        </p:txBody>
      </p:sp>
      <p:sp>
        <p:nvSpPr>
          <p:cNvPr id="25" name="Shape 23"/>
          <p:cNvSpPr/>
          <p:nvPr/>
        </p:nvSpPr>
        <p:spPr>
          <a:xfrm>
            <a:off x="594360" y="5650992"/>
            <a:ext cx="10972800" cy="694944"/>
          </a:xfrm>
          <a:prstGeom prst="roundRect">
            <a:avLst>
              <a:gd name="adj" fmla="val 9211"/>
            </a:avLst>
          </a:prstGeom>
          <a:solidFill>
            <a:srgbClr val="F1F4F8"/>
          </a:solidFill>
          <a:ln w="12700">
            <a:solidFill>
              <a:srgbClr val="E1E7EF"/>
            </a:solidFill>
            <a:prstDash val="solid"/>
          </a:ln>
        </p:spPr>
      </p:sp>
      <p:sp>
        <p:nvSpPr>
          <p:cNvPr id="26" name="Text 24"/>
          <p:cNvSpPr/>
          <p:nvPr/>
        </p:nvSpPr>
        <p:spPr>
          <a:xfrm>
            <a:off x="886968" y="5632704"/>
            <a:ext cx="10424160" cy="384048"/>
          </a:xfrm>
          <a:prstGeom prst="rect">
            <a:avLst/>
          </a:prstGeom>
          <a:noFill/>
          <a:ln/>
        </p:spPr>
        <p:txBody>
          <a:bodyPr wrap="square" lIns="0" tIns="0" rIns="0" bIns="0" rtlCol="0" anchor="ctr"/>
          <a:lstStyle/>
          <a:p>
            <a:pPr indent="0" marL="0">
              <a:buNone/>
            </a:pPr>
            <a:r>
              <a:rPr lang="en-US" sz="1250" b="1" dirty="0">
                <a:solidFill>
                  <a:srgbClr val="16202E"/>
                </a:solidFill>
                <a:latin typeface="Calibri" pitchFamily="34" charset="0"/>
                <a:ea typeface="Calibri" pitchFamily="34" charset="-122"/>
                <a:cs typeface="Calibri" pitchFamily="34" charset="-120"/>
              </a:rPr>
              <a:t>The single most useful metric I have:  </a:t>
            </a:r>
            <a:pPr indent="0" marL="0">
              <a:buNone/>
            </a:pPr>
            <a:r>
              <a:rPr lang="en-US" sz="1250" dirty="0">
                <a:solidFill>
                  <a:srgbClr val="5C6B80"/>
                </a:solidFill>
                <a:latin typeface="Calibri" pitchFamily="34" charset="0"/>
                <a:ea typeface="Calibri" pitchFamily="34" charset="-122"/>
                <a:cs typeface="Calibri" pitchFamily="34" charset="-120"/>
              </a:rPr>
              <a:t>why the loop stopped. A rise in max_steps_reached means the agent can no longer close conversations out — and it appears before the complaints do.</a:t>
            </a:r>
            <a:endParaRPr lang="en-US" sz="1250" dirty="0"/>
          </a:p>
        </p:txBody>
      </p:sp>
      <p:sp>
        <p:nvSpPr>
          <p:cNvPr id="27" name="Text 25"/>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4 · RUN</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SLOs when the output is not deterministic</a:t>
            </a:r>
            <a:endParaRPr lang="en-US" sz="28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9BAABF"/>
                </a:solidFill>
                <a:latin typeface="Calibri" pitchFamily="34" charset="0"/>
                <a:ea typeface="Calibri" pitchFamily="34" charset="-122"/>
                <a:cs typeface="Calibri" pitchFamily="34" charset="-120"/>
              </a:rPr>
              <a:t>You cannot promise any individual answer is right — that is the nature of the technology. You can promise a rate, measure it, and fund it.</a:t>
            </a:r>
            <a:endParaRPr lang="en-US" sz="1350" dirty="0"/>
          </a:p>
        </p:txBody>
      </p:sp>
      <p:sp>
        <p:nvSpPr>
          <p:cNvPr id="5" name="Text 3"/>
          <p:cNvSpPr/>
          <p:nvPr/>
        </p:nvSpPr>
        <p:spPr>
          <a:xfrm>
            <a:off x="594360" y="1965960"/>
            <a:ext cx="3108960" cy="256032"/>
          </a:xfrm>
          <a:prstGeom prst="rect">
            <a:avLst/>
          </a:prstGeom>
          <a:noFill/>
          <a:ln/>
        </p:spPr>
        <p:txBody>
          <a:bodyPr wrap="square" lIns="0" tIns="0" rIns="0" bIns="0" rtlCol="0" anchor="ctr"/>
          <a:lstStyle/>
          <a:p>
            <a:pPr indent="0" marL="0">
              <a:buNone/>
            </a:pPr>
            <a:r>
              <a:rPr lang="en-US" sz="1000" b="1" spc="160" kern="0" dirty="0">
                <a:solidFill>
                  <a:srgbClr val="5C6B80"/>
                </a:solidFill>
                <a:latin typeface="Calibri" pitchFamily="34" charset="0"/>
                <a:ea typeface="Calibri" pitchFamily="34" charset="-122"/>
                <a:cs typeface="Calibri" pitchFamily="34" charset="-120"/>
              </a:rPr>
              <a:t>OBJECTIVE</a:t>
            </a:r>
            <a:endParaRPr lang="en-US" sz="1000" dirty="0"/>
          </a:p>
        </p:txBody>
      </p:sp>
      <p:sp>
        <p:nvSpPr>
          <p:cNvPr id="6" name="Text 4"/>
          <p:cNvSpPr/>
          <p:nvPr/>
        </p:nvSpPr>
        <p:spPr>
          <a:xfrm>
            <a:off x="4343400" y="1965960"/>
            <a:ext cx="3108960" cy="256032"/>
          </a:xfrm>
          <a:prstGeom prst="rect">
            <a:avLst/>
          </a:prstGeom>
          <a:noFill/>
          <a:ln/>
        </p:spPr>
        <p:txBody>
          <a:bodyPr wrap="square" lIns="0" tIns="0" rIns="0" bIns="0" rtlCol="0" anchor="ctr"/>
          <a:lstStyle/>
          <a:p>
            <a:pPr indent="0" marL="0">
              <a:buNone/>
            </a:pPr>
            <a:r>
              <a:rPr lang="en-US" sz="1000" b="1" spc="160" kern="0" dirty="0">
                <a:solidFill>
                  <a:srgbClr val="5C6B80"/>
                </a:solidFill>
                <a:latin typeface="Calibri" pitchFamily="34" charset="0"/>
                <a:ea typeface="Calibri" pitchFamily="34" charset="-122"/>
                <a:cs typeface="Calibri" pitchFamily="34" charset="-120"/>
              </a:rPr>
              <a:t>TARGET</a:t>
            </a:r>
            <a:endParaRPr lang="en-US" sz="1000" dirty="0"/>
          </a:p>
        </p:txBody>
      </p:sp>
      <p:sp>
        <p:nvSpPr>
          <p:cNvPr id="7" name="Text 5"/>
          <p:cNvSpPr/>
          <p:nvPr/>
        </p:nvSpPr>
        <p:spPr>
          <a:xfrm>
            <a:off x="6537960" y="1965960"/>
            <a:ext cx="3108960" cy="256032"/>
          </a:xfrm>
          <a:prstGeom prst="rect">
            <a:avLst/>
          </a:prstGeom>
          <a:noFill/>
          <a:ln/>
        </p:spPr>
        <p:txBody>
          <a:bodyPr wrap="square" lIns="0" tIns="0" rIns="0" bIns="0" rtlCol="0" anchor="ctr"/>
          <a:lstStyle/>
          <a:p>
            <a:pPr indent="0" marL="0">
              <a:buNone/>
            </a:pPr>
            <a:r>
              <a:rPr lang="en-US" sz="1000" b="1" spc="160" kern="0" dirty="0">
                <a:solidFill>
                  <a:srgbClr val="5C6B80"/>
                </a:solidFill>
                <a:latin typeface="Calibri" pitchFamily="34" charset="0"/>
                <a:ea typeface="Calibri" pitchFamily="34" charset="-122"/>
                <a:cs typeface="Calibri" pitchFamily="34" charset="-120"/>
              </a:rPr>
              <a:t>WINDOW</a:t>
            </a:r>
            <a:endParaRPr lang="en-US" sz="1000" dirty="0"/>
          </a:p>
        </p:txBody>
      </p:sp>
      <p:sp>
        <p:nvSpPr>
          <p:cNvPr id="8" name="Text 6"/>
          <p:cNvSpPr/>
          <p:nvPr/>
        </p:nvSpPr>
        <p:spPr>
          <a:xfrm>
            <a:off x="8458200" y="1965960"/>
            <a:ext cx="3108960" cy="256032"/>
          </a:xfrm>
          <a:prstGeom prst="rect">
            <a:avLst/>
          </a:prstGeom>
          <a:noFill/>
          <a:ln/>
        </p:spPr>
        <p:txBody>
          <a:bodyPr wrap="square" lIns="0" tIns="0" rIns="0" bIns="0" rtlCol="0" anchor="ctr"/>
          <a:lstStyle/>
          <a:p>
            <a:pPr indent="0" marL="0">
              <a:buNone/>
            </a:pPr>
            <a:r>
              <a:rPr lang="en-US" sz="1000" b="1" spc="160" kern="0" dirty="0">
                <a:solidFill>
                  <a:srgbClr val="5C6B80"/>
                </a:solidFill>
                <a:latin typeface="Calibri" pitchFamily="34" charset="0"/>
                <a:ea typeface="Calibri" pitchFamily="34" charset="-122"/>
                <a:cs typeface="Calibri" pitchFamily="34" charset="-120"/>
              </a:rPr>
              <a:t>ERROR BUDGET</a:t>
            </a:r>
            <a:endParaRPr lang="en-US" sz="1000" dirty="0"/>
          </a:p>
        </p:txBody>
      </p:sp>
      <p:sp>
        <p:nvSpPr>
          <p:cNvPr id="9" name="Shape 7"/>
          <p:cNvSpPr/>
          <p:nvPr/>
        </p:nvSpPr>
        <p:spPr>
          <a:xfrm>
            <a:off x="594360" y="2258568"/>
            <a:ext cx="10881360" cy="0"/>
          </a:xfrm>
          <a:prstGeom prst="line">
            <a:avLst/>
          </a:prstGeom>
          <a:noFill/>
          <a:ln w="12700">
            <a:solidFill>
              <a:srgbClr val="2B3547"/>
            </a:solidFill>
            <a:prstDash val="solid"/>
          </a:ln>
        </p:spPr>
      </p:sp>
      <p:sp>
        <p:nvSpPr>
          <p:cNvPr id="10" name="Shape 8"/>
          <p:cNvSpPr/>
          <p:nvPr/>
        </p:nvSpPr>
        <p:spPr>
          <a:xfrm>
            <a:off x="594360" y="2450592"/>
            <a:ext cx="128016" cy="128016"/>
          </a:xfrm>
          <a:prstGeom prst="ellipse">
            <a:avLst/>
          </a:prstGeom>
          <a:solidFill>
            <a:srgbClr val="0F9BA8"/>
          </a:solidFill>
          <a:ln w="12700">
            <a:solidFill>
              <a:srgbClr val="0F9BA8"/>
            </a:solidFill>
            <a:prstDash val="solid"/>
          </a:ln>
        </p:spPr>
      </p:sp>
      <p:sp>
        <p:nvSpPr>
          <p:cNvPr id="11" name="Text 9"/>
          <p:cNvSpPr/>
          <p:nvPr/>
        </p:nvSpPr>
        <p:spPr>
          <a:xfrm>
            <a:off x="868680" y="2331720"/>
            <a:ext cx="33832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Gateway availability</a:t>
            </a:r>
            <a:endParaRPr lang="en-US" sz="1400" dirty="0"/>
          </a:p>
        </p:txBody>
      </p:sp>
      <p:sp>
        <p:nvSpPr>
          <p:cNvPr id="12" name="Text 10"/>
          <p:cNvSpPr/>
          <p:nvPr/>
        </p:nvSpPr>
        <p:spPr>
          <a:xfrm>
            <a:off x="4343400" y="2331720"/>
            <a:ext cx="2103120" cy="329184"/>
          </a:xfrm>
          <a:prstGeom prst="rect">
            <a:avLst/>
          </a:prstGeom>
          <a:noFill/>
          <a:ln/>
        </p:spPr>
        <p:txBody>
          <a:bodyPr wrap="square" lIns="0" tIns="0" rIns="0" bIns="0" rtlCol="0" anchor="ctr"/>
          <a:lstStyle/>
          <a:p>
            <a:pPr indent="0" marL="0">
              <a:buNone/>
            </a:pPr>
            <a:r>
              <a:rPr lang="en-US" sz="1300" dirty="0">
                <a:solidFill>
                  <a:srgbClr val="0F9BA8"/>
                </a:solidFill>
                <a:latin typeface="Courier New" pitchFamily="34" charset="0"/>
                <a:ea typeface="Courier New" pitchFamily="34" charset="-122"/>
                <a:cs typeface="Courier New" pitchFamily="34" charset="-120"/>
              </a:rPr>
              <a:t>99.9%</a:t>
            </a:r>
            <a:endParaRPr lang="en-US" sz="1300" dirty="0"/>
          </a:p>
        </p:txBody>
      </p:sp>
      <p:sp>
        <p:nvSpPr>
          <p:cNvPr id="13" name="Text 11"/>
          <p:cNvSpPr/>
          <p:nvPr/>
        </p:nvSpPr>
        <p:spPr>
          <a:xfrm>
            <a:off x="6537960" y="2331720"/>
            <a:ext cx="173736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30d</a:t>
            </a:r>
            <a:endParaRPr lang="en-US" sz="1300" dirty="0"/>
          </a:p>
        </p:txBody>
      </p:sp>
      <p:sp>
        <p:nvSpPr>
          <p:cNvPr id="14" name="Text 12"/>
          <p:cNvSpPr/>
          <p:nvPr/>
        </p:nvSpPr>
        <p:spPr>
          <a:xfrm>
            <a:off x="8458200" y="2331720"/>
            <a:ext cx="210312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43.2 min</a:t>
            </a:r>
            <a:endParaRPr lang="en-US" sz="1300" dirty="0"/>
          </a:p>
        </p:txBody>
      </p:sp>
      <p:sp>
        <p:nvSpPr>
          <p:cNvPr id="15" name="Shape 13"/>
          <p:cNvSpPr/>
          <p:nvPr/>
        </p:nvSpPr>
        <p:spPr>
          <a:xfrm>
            <a:off x="594360" y="2825496"/>
            <a:ext cx="10881360" cy="0"/>
          </a:xfrm>
          <a:prstGeom prst="line">
            <a:avLst/>
          </a:prstGeom>
          <a:noFill/>
          <a:ln w="12700">
            <a:solidFill>
              <a:srgbClr val="2B3547"/>
            </a:solidFill>
            <a:prstDash val="solid"/>
          </a:ln>
        </p:spPr>
      </p:sp>
      <p:sp>
        <p:nvSpPr>
          <p:cNvPr id="16" name="Shape 14"/>
          <p:cNvSpPr/>
          <p:nvPr/>
        </p:nvSpPr>
        <p:spPr>
          <a:xfrm>
            <a:off x="594360" y="3017520"/>
            <a:ext cx="128016" cy="128016"/>
          </a:xfrm>
          <a:prstGeom prst="ellipse">
            <a:avLst/>
          </a:prstGeom>
          <a:solidFill>
            <a:srgbClr val="0F9BA8"/>
          </a:solidFill>
          <a:ln w="12700">
            <a:solidFill>
              <a:srgbClr val="0F9BA8"/>
            </a:solidFill>
            <a:prstDash val="solid"/>
          </a:ln>
        </p:spPr>
      </p:sp>
      <p:sp>
        <p:nvSpPr>
          <p:cNvPr id="17" name="Text 15"/>
          <p:cNvSpPr/>
          <p:nvPr/>
        </p:nvSpPr>
        <p:spPr>
          <a:xfrm>
            <a:off x="868680" y="2898648"/>
            <a:ext cx="33832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Turn latency</a:t>
            </a:r>
            <a:endParaRPr lang="en-US" sz="1400" dirty="0"/>
          </a:p>
        </p:txBody>
      </p:sp>
      <p:sp>
        <p:nvSpPr>
          <p:cNvPr id="18" name="Text 16"/>
          <p:cNvSpPr/>
          <p:nvPr/>
        </p:nvSpPr>
        <p:spPr>
          <a:xfrm>
            <a:off x="4343400" y="2898648"/>
            <a:ext cx="2103120" cy="329184"/>
          </a:xfrm>
          <a:prstGeom prst="rect">
            <a:avLst/>
          </a:prstGeom>
          <a:noFill/>
          <a:ln/>
        </p:spPr>
        <p:txBody>
          <a:bodyPr wrap="square" lIns="0" tIns="0" rIns="0" bIns="0" rtlCol="0" anchor="ctr"/>
          <a:lstStyle/>
          <a:p>
            <a:pPr indent="0" marL="0">
              <a:buNone/>
            </a:pPr>
            <a:r>
              <a:rPr lang="en-US" sz="1300" dirty="0">
                <a:solidFill>
                  <a:srgbClr val="0F9BA8"/>
                </a:solidFill>
                <a:latin typeface="Courier New" pitchFamily="34" charset="0"/>
                <a:ea typeface="Courier New" pitchFamily="34" charset="-122"/>
                <a:cs typeface="Courier New" pitchFamily="34" charset="-120"/>
              </a:rPr>
              <a:t>p95 &lt; 4.0s</a:t>
            </a:r>
            <a:endParaRPr lang="en-US" sz="1300" dirty="0"/>
          </a:p>
        </p:txBody>
      </p:sp>
      <p:sp>
        <p:nvSpPr>
          <p:cNvPr id="19" name="Text 17"/>
          <p:cNvSpPr/>
          <p:nvPr/>
        </p:nvSpPr>
        <p:spPr>
          <a:xfrm>
            <a:off x="6537960" y="2898648"/>
            <a:ext cx="173736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30d</a:t>
            </a:r>
            <a:endParaRPr lang="en-US" sz="1300" dirty="0"/>
          </a:p>
        </p:txBody>
      </p:sp>
      <p:sp>
        <p:nvSpPr>
          <p:cNvPr id="20" name="Text 18"/>
          <p:cNvSpPr/>
          <p:nvPr/>
        </p:nvSpPr>
        <p:spPr>
          <a:xfrm>
            <a:off x="8458200" y="2898648"/>
            <a:ext cx="210312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43.2 min</a:t>
            </a:r>
            <a:endParaRPr lang="en-US" sz="1300" dirty="0"/>
          </a:p>
        </p:txBody>
      </p:sp>
      <p:sp>
        <p:nvSpPr>
          <p:cNvPr id="21" name="Shape 19"/>
          <p:cNvSpPr/>
          <p:nvPr/>
        </p:nvSpPr>
        <p:spPr>
          <a:xfrm>
            <a:off x="594360" y="3392424"/>
            <a:ext cx="10881360" cy="0"/>
          </a:xfrm>
          <a:prstGeom prst="line">
            <a:avLst/>
          </a:prstGeom>
          <a:noFill/>
          <a:ln w="12700">
            <a:solidFill>
              <a:srgbClr val="2B3547"/>
            </a:solidFill>
            <a:prstDash val="solid"/>
          </a:ln>
        </p:spPr>
      </p:sp>
      <p:sp>
        <p:nvSpPr>
          <p:cNvPr id="22" name="Shape 20"/>
          <p:cNvSpPr/>
          <p:nvPr/>
        </p:nvSpPr>
        <p:spPr>
          <a:xfrm>
            <a:off x="594360" y="3584448"/>
            <a:ext cx="128016" cy="128016"/>
          </a:xfrm>
          <a:prstGeom prst="ellipse">
            <a:avLst/>
          </a:prstGeom>
          <a:solidFill>
            <a:srgbClr val="E2001A"/>
          </a:solidFill>
          <a:ln w="12700">
            <a:solidFill>
              <a:srgbClr val="E2001A"/>
            </a:solidFill>
            <a:prstDash val="solid"/>
          </a:ln>
        </p:spPr>
      </p:sp>
      <p:sp>
        <p:nvSpPr>
          <p:cNvPr id="23" name="Text 21"/>
          <p:cNvSpPr/>
          <p:nvPr/>
        </p:nvSpPr>
        <p:spPr>
          <a:xfrm>
            <a:off x="868680" y="3465576"/>
            <a:ext cx="33832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Groundedness</a:t>
            </a:r>
            <a:endParaRPr lang="en-US" sz="1400" dirty="0"/>
          </a:p>
        </p:txBody>
      </p:sp>
      <p:sp>
        <p:nvSpPr>
          <p:cNvPr id="24" name="Text 22"/>
          <p:cNvSpPr/>
          <p:nvPr/>
        </p:nvSpPr>
        <p:spPr>
          <a:xfrm>
            <a:off x="4343400" y="3465576"/>
            <a:ext cx="2103120" cy="329184"/>
          </a:xfrm>
          <a:prstGeom prst="rect">
            <a:avLst/>
          </a:prstGeom>
          <a:noFill/>
          <a:ln/>
        </p:spPr>
        <p:txBody>
          <a:bodyPr wrap="square" lIns="0" tIns="0" rIns="0" bIns="0" rtlCol="0" anchor="ctr"/>
          <a:lstStyle/>
          <a:p>
            <a:pPr indent="0" marL="0">
              <a:buNone/>
            </a:pPr>
            <a:r>
              <a:rPr lang="en-US" sz="1300" dirty="0">
                <a:solidFill>
                  <a:srgbClr val="E2001A"/>
                </a:solidFill>
                <a:latin typeface="Courier New" pitchFamily="34" charset="0"/>
                <a:ea typeface="Courier New" pitchFamily="34" charset="-122"/>
                <a:cs typeface="Courier New" pitchFamily="34" charset="-120"/>
              </a:rPr>
              <a:t>≥ 97% grounded</a:t>
            </a:r>
            <a:endParaRPr lang="en-US" sz="1300" dirty="0"/>
          </a:p>
        </p:txBody>
      </p:sp>
      <p:sp>
        <p:nvSpPr>
          <p:cNvPr id="25" name="Text 23"/>
          <p:cNvSpPr/>
          <p:nvPr/>
        </p:nvSpPr>
        <p:spPr>
          <a:xfrm>
            <a:off x="6537960" y="3465576"/>
            <a:ext cx="173736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7d</a:t>
            </a:r>
            <a:endParaRPr lang="en-US" sz="1300" dirty="0"/>
          </a:p>
        </p:txBody>
      </p:sp>
      <p:sp>
        <p:nvSpPr>
          <p:cNvPr id="26" name="Text 24"/>
          <p:cNvSpPr/>
          <p:nvPr/>
        </p:nvSpPr>
        <p:spPr>
          <a:xfrm>
            <a:off x="8458200" y="3465576"/>
            <a:ext cx="210312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302.4 min</a:t>
            </a:r>
            <a:endParaRPr lang="en-US" sz="1300" dirty="0"/>
          </a:p>
        </p:txBody>
      </p:sp>
      <p:sp>
        <p:nvSpPr>
          <p:cNvPr id="27" name="Shape 25"/>
          <p:cNvSpPr/>
          <p:nvPr/>
        </p:nvSpPr>
        <p:spPr>
          <a:xfrm>
            <a:off x="594360" y="3959352"/>
            <a:ext cx="10881360" cy="0"/>
          </a:xfrm>
          <a:prstGeom prst="line">
            <a:avLst/>
          </a:prstGeom>
          <a:noFill/>
          <a:ln w="12700">
            <a:solidFill>
              <a:srgbClr val="2B3547"/>
            </a:solidFill>
            <a:prstDash val="solid"/>
          </a:ln>
        </p:spPr>
      </p:sp>
      <p:sp>
        <p:nvSpPr>
          <p:cNvPr id="28" name="Shape 26"/>
          <p:cNvSpPr/>
          <p:nvPr/>
        </p:nvSpPr>
        <p:spPr>
          <a:xfrm>
            <a:off x="594360" y="4151376"/>
            <a:ext cx="128016" cy="128016"/>
          </a:xfrm>
          <a:prstGeom prst="ellipse">
            <a:avLst/>
          </a:prstGeom>
          <a:solidFill>
            <a:srgbClr val="E2001A"/>
          </a:solidFill>
          <a:ln w="12700">
            <a:solidFill>
              <a:srgbClr val="E2001A"/>
            </a:solidFill>
            <a:prstDash val="solid"/>
          </a:ln>
        </p:spPr>
      </p:sp>
      <p:sp>
        <p:nvSpPr>
          <p:cNvPr id="29" name="Text 27"/>
          <p:cNvSpPr/>
          <p:nvPr/>
        </p:nvSpPr>
        <p:spPr>
          <a:xfrm>
            <a:off x="868680" y="4032504"/>
            <a:ext cx="33832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Guardrail coverage</a:t>
            </a:r>
            <a:endParaRPr lang="en-US" sz="1400" dirty="0"/>
          </a:p>
        </p:txBody>
      </p:sp>
      <p:sp>
        <p:nvSpPr>
          <p:cNvPr id="30" name="Text 28"/>
          <p:cNvSpPr/>
          <p:nvPr/>
        </p:nvSpPr>
        <p:spPr>
          <a:xfrm>
            <a:off x="4343400" y="4032504"/>
            <a:ext cx="2103120" cy="329184"/>
          </a:xfrm>
          <a:prstGeom prst="rect">
            <a:avLst/>
          </a:prstGeom>
          <a:noFill/>
          <a:ln/>
        </p:spPr>
        <p:txBody>
          <a:bodyPr wrap="square" lIns="0" tIns="0" rIns="0" bIns="0" rtlCol="0" anchor="ctr"/>
          <a:lstStyle/>
          <a:p>
            <a:pPr indent="0" marL="0">
              <a:buNone/>
            </a:pPr>
            <a:r>
              <a:rPr lang="en-US" sz="1300" dirty="0">
                <a:solidFill>
                  <a:srgbClr val="E2001A"/>
                </a:solidFill>
                <a:latin typeface="Courier New" pitchFamily="34" charset="0"/>
                <a:ea typeface="Courier New" pitchFamily="34" charset="-122"/>
                <a:cs typeface="Courier New" pitchFamily="34" charset="-120"/>
              </a:rPr>
              <a:t>100% of turns</a:t>
            </a:r>
            <a:endParaRPr lang="en-US" sz="1300" dirty="0"/>
          </a:p>
        </p:txBody>
      </p:sp>
      <p:sp>
        <p:nvSpPr>
          <p:cNvPr id="31" name="Text 29"/>
          <p:cNvSpPr/>
          <p:nvPr/>
        </p:nvSpPr>
        <p:spPr>
          <a:xfrm>
            <a:off x="6537960" y="4032504"/>
            <a:ext cx="173736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30d</a:t>
            </a:r>
            <a:endParaRPr lang="en-US" sz="1300" dirty="0"/>
          </a:p>
        </p:txBody>
      </p:sp>
      <p:sp>
        <p:nvSpPr>
          <p:cNvPr id="32" name="Text 30"/>
          <p:cNvSpPr/>
          <p:nvPr/>
        </p:nvSpPr>
        <p:spPr>
          <a:xfrm>
            <a:off x="8458200" y="4032504"/>
            <a:ext cx="2103120" cy="329184"/>
          </a:xfrm>
          <a:prstGeom prst="rect">
            <a:avLst/>
          </a:prstGeom>
          <a:noFill/>
          <a:ln/>
        </p:spPr>
        <p:txBody>
          <a:bodyPr wrap="square" lIns="0" tIns="0" rIns="0" bIns="0" rtlCol="0" anchor="ctr"/>
          <a:lstStyle/>
          <a:p>
            <a:pPr indent="0" marL="0">
              <a:buNone/>
            </a:pPr>
            <a:r>
              <a:rPr lang="en-US" sz="1300" dirty="0">
                <a:solidFill>
                  <a:srgbClr val="9BAABF"/>
                </a:solidFill>
                <a:latin typeface="Courier New" pitchFamily="34" charset="0"/>
                <a:ea typeface="Courier New" pitchFamily="34" charset="-122"/>
                <a:cs typeface="Courier New" pitchFamily="34" charset="-120"/>
              </a:rPr>
              <a:t>0 min</a:t>
            </a:r>
            <a:endParaRPr lang="en-US" sz="1300" dirty="0"/>
          </a:p>
        </p:txBody>
      </p:sp>
      <p:sp>
        <p:nvSpPr>
          <p:cNvPr id="33" name="Shape 31"/>
          <p:cNvSpPr/>
          <p:nvPr/>
        </p:nvSpPr>
        <p:spPr>
          <a:xfrm>
            <a:off x="594360" y="4846320"/>
            <a:ext cx="5349240" cy="1234440"/>
          </a:xfrm>
          <a:prstGeom prst="roundRect">
            <a:avLst>
              <a:gd name="adj" fmla="val 518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34" name="Text 32"/>
          <p:cNvSpPr/>
          <p:nvPr/>
        </p:nvSpPr>
        <p:spPr>
          <a:xfrm>
            <a:off x="886968" y="5029200"/>
            <a:ext cx="4754880" cy="292608"/>
          </a:xfrm>
          <a:prstGeom prst="rect">
            <a:avLst/>
          </a:prstGeom>
          <a:noFill/>
          <a:ln/>
        </p:spPr>
        <p:txBody>
          <a:bodyPr wrap="square" lIns="0" tIns="0" rIns="0" bIns="0" rtlCol="0" anchor="ctr"/>
          <a:lstStyle/>
          <a:p>
            <a:pPr indent="0" marL="0">
              <a:buNone/>
            </a:pPr>
            <a:r>
              <a:rPr lang="en-US" sz="1400" b="1" dirty="0">
                <a:solidFill>
                  <a:srgbClr val="E2001A"/>
                </a:solidFill>
                <a:latin typeface="Calibri" pitchFamily="34" charset="0"/>
                <a:ea typeface="Calibri" pitchFamily="34" charset="-122"/>
                <a:cs typeface="Calibri" pitchFamily="34" charset="-120"/>
              </a:rPr>
              <a:t>14.4× burn over 1 hour  →  page</a:t>
            </a:r>
            <a:endParaRPr lang="en-US" sz="1400" dirty="0"/>
          </a:p>
        </p:txBody>
      </p:sp>
      <p:sp>
        <p:nvSpPr>
          <p:cNvPr id="35" name="Text 33"/>
          <p:cNvSpPr/>
          <p:nvPr/>
        </p:nvSpPr>
        <p:spPr>
          <a:xfrm>
            <a:off x="886968" y="5358384"/>
            <a:ext cx="4754880" cy="54864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2% of the 30-day budget gone within the hour. Somebody wakes up.</a:t>
            </a:r>
            <a:endParaRPr lang="en-US" sz="1150" dirty="0"/>
          </a:p>
        </p:txBody>
      </p:sp>
      <p:sp>
        <p:nvSpPr>
          <p:cNvPr id="36" name="Shape 34"/>
          <p:cNvSpPr/>
          <p:nvPr/>
        </p:nvSpPr>
        <p:spPr>
          <a:xfrm>
            <a:off x="6217920" y="4846320"/>
            <a:ext cx="5349240" cy="1234440"/>
          </a:xfrm>
          <a:prstGeom prst="roundRect">
            <a:avLst>
              <a:gd name="adj" fmla="val 5185"/>
            </a:avLst>
          </a:prstGeom>
          <a:solidFill>
            <a:srgbClr val="1B2230"/>
          </a:solidFill>
          <a:ln w="12700">
            <a:solidFill>
              <a:srgbClr val="2B3547"/>
            </a:solidFill>
            <a:prstDash val="solid"/>
          </a:ln>
          <a:effectLst>
            <a:outerShdw sx="100000" sy="100000" kx="0" ky="0" algn="bl" rotWithShape="0" blurRad="127000" dist="25400" dir="5400000">
              <a:srgbClr val="000000">
                <a:alpha val="14000"/>
              </a:srgbClr>
            </a:outerShdw>
          </a:effectLst>
        </p:spPr>
      </p:sp>
      <p:sp>
        <p:nvSpPr>
          <p:cNvPr id="37" name="Text 35"/>
          <p:cNvSpPr/>
          <p:nvPr/>
        </p:nvSpPr>
        <p:spPr>
          <a:xfrm>
            <a:off x="6510528" y="5029200"/>
            <a:ext cx="4754880" cy="292608"/>
          </a:xfrm>
          <a:prstGeom prst="rect">
            <a:avLst/>
          </a:prstGeom>
          <a:noFill/>
          <a:ln/>
        </p:spPr>
        <p:txBody>
          <a:bodyPr wrap="square" lIns="0" tIns="0" rIns="0" bIns="0" rtlCol="0" anchor="ctr"/>
          <a:lstStyle/>
          <a:p>
            <a:pPr indent="0" marL="0">
              <a:buNone/>
            </a:pPr>
            <a:r>
              <a:rPr lang="en-US" sz="1400" b="1" dirty="0">
                <a:solidFill>
                  <a:srgbClr val="B77400"/>
                </a:solidFill>
                <a:latin typeface="Calibri" pitchFamily="34" charset="0"/>
                <a:ea typeface="Calibri" pitchFamily="34" charset="-122"/>
                <a:cs typeface="Calibri" pitchFamily="34" charset="-120"/>
              </a:rPr>
              <a:t>6× burn over 6 hours  →  ticket</a:t>
            </a:r>
            <a:endParaRPr lang="en-US" sz="1400" dirty="0"/>
          </a:p>
        </p:txBody>
      </p:sp>
      <p:sp>
        <p:nvSpPr>
          <p:cNvPr id="38" name="Text 36"/>
          <p:cNvSpPr/>
          <p:nvPr/>
        </p:nvSpPr>
        <p:spPr>
          <a:xfrm>
            <a:off x="6510528" y="5358384"/>
            <a:ext cx="4754880" cy="54864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Degradation that will exhaust the budget this week. A single threshold catches one of these and misses the other.</a:t>
            </a:r>
            <a:endParaRPr lang="en-US" sz="1150" dirty="0"/>
          </a:p>
        </p:txBody>
      </p:sp>
      <p:sp>
        <p:nvSpPr>
          <p:cNvPr id="39" name="Text 37"/>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5 · GOVERN</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Four articles, four code paths</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Not four paragraphs. A control that exists only in a document drifts, so /platform/governance serves this as live data.</a:t>
            </a:r>
            <a:endParaRPr lang="en-US" sz="1350" dirty="0"/>
          </a:p>
        </p:txBody>
      </p:sp>
      <p:sp>
        <p:nvSpPr>
          <p:cNvPr id="5" name="Shape 3"/>
          <p:cNvSpPr/>
          <p:nvPr/>
        </p:nvSpPr>
        <p:spPr>
          <a:xfrm>
            <a:off x="594360" y="1874520"/>
            <a:ext cx="6858000" cy="804672"/>
          </a:xfrm>
          <a:prstGeom prst="roundRect">
            <a:avLst>
              <a:gd name="adj" fmla="val 7955"/>
            </a:avLst>
          </a:prstGeom>
          <a:solidFill>
            <a:srgbClr val="F1F4F8"/>
          </a:solidFill>
          <a:ln w="12700">
            <a:solidFill>
              <a:srgbClr val="E1E7EF"/>
            </a:solidFill>
            <a:prstDash val="solid"/>
          </a:ln>
        </p:spPr>
      </p:sp>
      <p:sp>
        <p:nvSpPr>
          <p:cNvPr id="6" name="Text 4"/>
          <p:cNvSpPr/>
          <p:nvPr/>
        </p:nvSpPr>
        <p:spPr>
          <a:xfrm>
            <a:off x="850392" y="1965960"/>
            <a:ext cx="914400" cy="310896"/>
          </a:xfrm>
          <a:prstGeom prst="rect">
            <a:avLst/>
          </a:prstGeom>
          <a:noFill/>
          <a:ln/>
        </p:spPr>
        <p:txBody>
          <a:bodyPr wrap="square" lIns="0" tIns="0" rIns="0" bIns="0" rtlCol="0" anchor="ctr"/>
          <a:lstStyle/>
          <a:p>
            <a:pPr indent="0" marL="0">
              <a:buNone/>
            </a:pPr>
            <a:r>
              <a:rPr lang="en-US" sz="1300" b="1" dirty="0">
                <a:solidFill>
                  <a:srgbClr val="E2001A"/>
                </a:solidFill>
                <a:latin typeface="Courier New" pitchFamily="34" charset="0"/>
                <a:ea typeface="Courier New" pitchFamily="34" charset="-122"/>
                <a:cs typeface="Courier New" pitchFamily="34" charset="-120"/>
              </a:rPr>
              <a:t>Art. 50</a:t>
            </a:r>
            <a:endParaRPr lang="en-US" sz="1300" dirty="0"/>
          </a:p>
        </p:txBody>
      </p:sp>
      <p:sp>
        <p:nvSpPr>
          <p:cNvPr id="7" name="Text 5"/>
          <p:cNvSpPr/>
          <p:nvPr/>
        </p:nvSpPr>
        <p:spPr>
          <a:xfrm>
            <a:off x="1828800" y="1965960"/>
            <a:ext cx="237744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Transparency</a:t>
            </a:r>
            <a:endParaRPr lang="en-US" sz="1350" dirty="0"/>
          </a:p>
        </p:txBody>
      </p:sp>
      <p:sp>
        <p:nvSpPr>
          <p:cNvPr id="8" name="Text 6"/>
          <p:cNvSpPr/>
          <p:nvPr/>
        </p:nvSpPr>
        <p:spPr>
          <a:xfrm>
            <a:off x="850392" y="2295144"/>
            <a:ext cx="6309360" cy="31089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Every reply carries an AI disclosure and a non-advice notice.</a:t>
            </a:r>
            <a:endParaRPr lang="en-US" sz="1150" dirty="0"/>
          </a:p>
        </p:txBody>
      </p:sp>
      <p:sp>
        <p:nvSpPr>
          <p:cNvPr id="9" name="Text 7"/>
          <p:cNvSpPr/>
          <p:nvPr/>
        </p:nvSpPr>
        <p:spPr>
          <a:xfrm>
            <a:off x="4251960" y="1965960"/>
            <a:ext cx="2926080" cy="310896"/>
          </a:xfrm>
          <a:prstGeom prst="rect">
            <a:avLst/>
          </a:prstGeom>
          <a:noFill/>
          <a:ln/>
        </p:spPr>
        <p:txBody>
          <a:bodyPr wrap="square" lIns="0" tIns="0" rIns="0" bIns="0" rtlCol="0" anchor="ctr"/>
          <a:lstStyle/>
          <a:p>
            <a:pPr algn="r" indent="0" marL="0">
              <a:buNone/>
            </a:pPr>
            <a:r>
              <a:rPr lang="en-US" sz="1000" dirty="0">
                <a:solidFill>
                  <a:srgbClr val="0F9BA8"/>
                </a:solidFill>
                <a:latin typeface="Courier New" pitchFamily="34" charset="0"/>
                <a:ea typeface="Courier New" pitchFamily="34" charset="-122"/>
                <a:cs typeface="Courier New" pitchFamily="34" charset="-120"/>
              </a:rPr>
              <a:t>guardrails.ensure_disclaimer</a:t>
            </a:r>
            <a:endParaRPr lang="en-US" sz="1000" dirty="0"/>
          </a:p>
        </p:txBody>
      </p:sp>
      <p:sp>
        <p:nvSpPr>
          <p:cNvPr id="10" name="Shape 8"/>
          <p:cNvSpPr/>
          <p:nvPr/>
        </p:nvSpPr>
        <p:spPr>
          <a:xfrm>
            <a:off x="594360" y="2807208"/>
            <a:ext cx="6858000" cy="804672"/>
          </a:xfrm>
          <a:prstGeom prst="roundRect">
            <a:avLst>
              <a:gd name="adj" fmla="val 7955"/>
            </a:avLst>
          </a:prstGeom>
          <a:solidFill>
            <a:srgbClr val="F1F4F8"/>
          </a:solidFill>
          <a:ln w="12700">
            <a:solidFill>
              <a:srgbClr val="E1E7EF"/>
            </a:solidFill>
            <a:prstDash val="solid"/>
          </a:ln>
        </p:spPr>
      </p:sp>
      <p:sp>
        <p:nvSpPr>
          <p:cNvPr id="11" name="Text 9"/>
          <p:cNvSpPr/>
          <p:nvPr/>
        </p:nvSpPr>
        <p:spPr>
          <a:xfrm>
            <a:off x="850392" y="2898648"/>
            <a:ext cx="914400" cy="310896"/>
          </a:xfrm>
          <a:prstGeom prst="rect">
            <a:avLst/>
          </a:prstGeom>
          <a:noFill/>
          <a:ln/>
        </p:spPr>
        <p:txBody>
          <a:bodyPr wrap="square" lIns="0" tIns="0" rIns="0" bIns="0" rtlCol="0" anchor="ctr"/>
          <a:lstStyle/>
          <a:p>
            <a:pPr indent="0" marL="0">
              <a:buNone/>
            </a:pPr>
            <a:r>
              <a:rPr lang="en-US" sz="1300" b="1" dirty="0">
                <a:solidFill>
                  <a:srgbClr val="E2001A"/>
                </a:solidFill>
                <a:latin typeface="Courier New" pitchFamily="34" charset="0"/>
                <a:ea typeface="Courier New" pitchFamily="34" charset="-122"/>
                <a:cs typeface="Courier New" pitchFamily="34" charset="-120"/>
              </a:rPr>
              <a:t>Art. 12</a:t>
            </a:r>
            <a:endParaRPr lang="en-US" sz="1300" dirty="0"/>
          </a:p>
        </p:txBody>
      </p:sp>
      <p:sp>
        <p:nvSpPr>
          <p:cNvPr id="12" name="Text 10"/>
          <p:cNvSpPr/>
          <p:nvPr/>
        </p:nvSpPr>
        <p:spPr>
          <a:xfrm>
            <a:off x="1828800" y="2898648"/>
            <a:ext cx="237744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Record-keeping</a:t>
            </a:r>
            <a:endParaRPr lang="en-US" sz="1350" dirty="0"/>
          </a:p>
        </p:txBody>
      </p:sp>
      <p:sp>
        <p:nvSpPr>
          <p:cNvPr id="13" name="Text 11"/>
          <p:cNvSpPr/>
          <p:nvPr/>
        </p:nvSpPr>
        <p:spPr>
          <a:xfrm>
            <a:off x="850392" y="3227832"/>
            <a:ext cx="6309360" cy="31089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Append-only audit table, 7-year retention in the archive tier.</a:t>
            </a:r>
            <a:endParaRPr lang="en-US" sz="1150" dirty="0"/>
          </a:p>
        </p:txBody>
      </p:sp>
      <p:sp>
        <p:nvSpPr>
          <p:cNvPr id="14" name="Text 12"/>
          <p:cNvSpPr/>
          <p:nvPr/>
        </p:nvSpPr>
        <p:spPr>
          <a:xfrm>
            <a:off x="4251960" y="2898648"/>
            <a:ext cx="2926080" cy="310896"/>
          </a:xfrm>
          <a:prstGeom prst="rect">
            <a:avLst/>
          </a:prstGeom>
          <a:noFill/>
          <a:ln/>
        </p:spPr>
        <p:txBody>
          <a:bodyPr wrap="square" lIns="0" tIns="0" rIns="0" bIns="0" rtlCol="0" anchor="ctr"/>
          <a:lstStyle/>
          <a:p>
            <a:pPr algn="r" indent="0" marL="0">
              <a:buNone/>
            </a:pPr>
            <a:r>
              <a:rPr lang="en-US" sz="1000" dirty="0">
                <a:solidFill>
                  <a:srgbClr val="0F9BA8"/>
                </a:solidFill>
                <a:latin typeface="Courier New" pitchFamily="34" charset="0"/>
                <a:ea typeface="Courier New" pitchFamily="34" charset="-122"/>
                <a:cs typeface="Courier New" pitchFamily="34" charset="-120"/>
              </a:rPr>
              <a:t>telemetry.record_audit</a:t>
            </a:r>
            <a:endParaRPr lang="en-US" sz="1000" dirty="0"/>
          </a:p>
        </p:txBody>
      </p:sp>
      <p:sp>
        <p:nvSpPr>
          <p:cNvPr id="15" name="Shape 13"/>
          <p:cNvSpPr/>
          <p:nvPr/>
        </p:nvSpPr>
        <p:spPr>
          <a:xfrm>
            <a:off x="594360" y="3739896"/>
            <a:ext cx="6858000" cy="804672"/>
          </a:xfrm>
          <a:prstGeom prst="roundRect">
            <a:avLst>
              <a:gd name="adj" fmla="val 7955"/>
            </a:avLst>
          </a:prstGeom>
          <a:solidFill>
            <a:srgbClr val="F1F4F8"/>
          </a:solidFill>
          <a:ln w="12700">
            <a:solidFill>
              <a:srgbClr val="E1E7EF"/>
            </a:solidFill>
            <a:prstDash val="solid"/>
          </a:ln>
        </p:spPr>
      </p:sp>
      <p:sp>
        <p:nvSpPr>
          <p:cNvPr id="16" name="Text 14"/>
          <p:cNvSpPr/>
          <p:nvPr/>
        </p:nvSpPr>
        <p:spPr>
          <a:xfrm>
            <a:off x="850392" y="3831336"/>
            <a:ext cx="914400" cy="310896"/>
          </a:xfrm>
          <a:prstGeom prst="rect">
            <a:avLst/>
          </a:prstGeom>
          <a:noFill/>
          <a:ln/>
        </p:spPr>
        <p:txBody>
          <a:bodyPr wrap="square" lIns="0" tIns="0" rIns="0" bIns="0" rtlCol="0" anchor="ctr"/>
          <a:lstStyle/>
          <a:p>
            <a:pPr indent="0" marL="0">
              <a:buNone/>
            </a:pPr>
            <a:r>
              <a:rPr lang="en-US" sz="1300" b="1" dirty="0">
                <a:solidFill>
                  <a:srgbClr val="E2001A"/>
                </a:solidFill>
                <a:latin typeface="Courier New" pitchFamily="34" charset="0"/>
                <a:ea typeface="Courier New" pitchFamily="34" charset="-122"/>
                <a:cs typeface="Courier New" pitchFamily="34" charset="-120"/>
              </a:rPr>
              <a:t>Art. 14</a:t>
            </a:r>
            <a:endParaRPr lang="en-US" sz="1300" dirty="0"/>
          </a:p>
        </p:txBody>
      </p:sp>
      <p:sp>
        <p:nvSpPr>
          <p:cNvPr id="17" name="Text 15"/>
          <p:cNvSpPr/>
          <p:nvPr/>
        </p:nvSpPr>
        <p:spPr>
          <a:xfrm>
            <a:off x="1828800" y="3831336"/>
            <a:ext cx="237744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Human oversight</a:t>
            </a:r>
            <a:endParaRPr lang="en-US" sz="1350" dirty="0"/>
          </a:p>
        </p:txBody>
      </p:sp>
      <p:sp>
        <p:nvSpPr>
          <p:cNvPr id="18" name="Text 16"/>
          <p:cNvSpPr/>
          <p:nvPr/>
        </p:nvSpPr>
        <p:spPr>
          <a:xfrm>
            <a:off x="850392" y="4160520"/>
            <a:ext cx="6309360" cy="31089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Side-effecting tools blocked behind an explicit human approval.</a:t>
            </a:r>
            <a:endParaRPr lang="en-US" sz="1150" dirty="0"/>
          </a:p>
        </p:txBody>
      </p:sp>
      <p:sp>
        <p:nvSpPr>
          <p:cNvPr id="19" name="Text 17"/>
          <p:cNvSpPr/>
          <p:nvPr/>
        </p:nvSpPr>
        <p:spPr>
          <a:xfrm>
            <a:off x="4251960" y="3831336"/>
            <a:ext cx="2926080" cy="310896"/>
          </a:xfrm>
          <a:prstGeom prst="rect">
            <a:avLst/>
          </a:prstGeom>
          <a:noFill/>
          <a:ln/>
        </p:spPr>
        <p:txBody>
          <a:bodyPr wrap="square" lIns="0" tIns="0" rIns="0" bIns="0" rtlCol="0" anchor="ctr"/>
          <a:lstStyle/>
          <a:p>
            <a:pPr algn="r" indent="0" marL="0">
              <a:buNone/>
            </a:pPr>
            <a:r>
              <a:rPr lang="en-US" sz="1000" dirty="0">
                <a:solidFill>
                  <a:srgbClr val="0F9BA8"/>
                </a:solidFill>
                <a:latin typeface="Courier New" pitchFamily="34" charset="0"/>
                <a:ea typeface="Courier New" pitchFamily="34" charset="-122"/>
                <a:cs typeface="Courier New" pitchFamily="34" charset="-120"/>
              </a:rPr>
              <a:t>orchestrator HITL gate</a:t>
            </a:r>
            <a:endParaRPr lang="en-US" sz="1000" dirty="0"/>
          </a:p>
        </p:txBody>
      </p:sp>
      <p:sp>
        <p:nvSpPr>
          <p:cNvPr id="20" name="Shape 18"/>
          <p:cNvSpPr/>
          <p:nvPr/>
        </p:nvSpPr>
        <p:spPr>
          <a:xfrm>
            <a:off x="594360" y="4672584"/>
            <a:ext cx="6858000" cy="804672"/>
          </a:xfrm>
          <a:prstGeom prst="roundRect">
            <a:avLst>
              <a:gd name="adj" fmla="val 7955"/>
            </a:avLst>
          </a:prstGeom>
          <a:solidFill>
            <a:srgbClr val="F1F4F8"/>
          </a:solidFill>
          <a:ln w="12700">
            <a:solidFill>
              <a:srgbClr val="E1E7EF"/>
            </a:solidFill>
            <a:prstDash val="solid"/>
          </a:ln>
        </p:spPr>
      </p:sp>
      <p:sp>
        <p:nvSpPr>
          <p:cNvPr id="21" name="Text 19"/>
          <p:cNvSpPr/>
          <p:nvPr/>
        </p:nvSpPr>
        <p:spPr>
          <a:xfrm>
            <a:off x="850392" y="4764024"/>
            <a:ext cx="914400" cy="310896"/>
          </a:xfrm>
          <a:prstGeom prst="rect">
            <a:avLst/>
          </a:prstGeom>
          <a:noFill/>
          <a:ln/>
        </p:spPr>
        <p:txBody>
          <a:bodyPr wrap="square" lIns="0" tIns="0" rIns="0" bIns="0" rtlCol="0" anchor="ctr"/>
          <a:lstStyle/>
          <a:p>
            <a:pPr indent="0" marL="0">
              <a:buNone/>
            </a:pPr>
            <a:r>
              <a:rPr lang="en-US" sz="1300" b="1" dirty="0">
                <a:solidFill>
                  <a:srgbClr val="E2001A"/>
                </a:solidFill>
                <a:latin typeface="Courier New" pitchFamily="34" charset="0"/>
                <a:ea typeface="Courier New" pitchFamily="34" charset="-122"/>
                <a:cs typeface="Courier New" pitchFamily="34" charset="-120"/>
              </a:rPr>
              <a:t>Art. 15</a:t>
            </a:r>
            <a:endParaRPr lang="en-US" sz="1300" dirty="0"/>
          </a:p>
        </p:txBody>
      </p:sp>
      <p:sp>
        <p:nvSpPr>
          <p:cNvPr id="22" name="Text 20"/>
          <p:cNvSpPr/>
          <p:nvPr/>
        </p:nvSpPr>
        <p:spPr>
          <a:xfrm>
            <a:off x="1828800" y="4764024"/>
            <a:ext cx="2377440" cy="310896"/>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Accuracy &amp; robustness</a:t>
            </a:r>
            <a:endParaRPr lang="en-US" sz="1350" dirty="0"/>
          </a:p>
        </p:txBody>
      </p:sp>
      <p:sp>
        <p:nvSpPr>
          <p:cNvPr id="23" name="Text 21"/>
          <p:cNvSpPr/>
          <p:nvPr/>
        </p:nvSpPr>
        <p:spPr>
          <a:xfrm>
            <a:off x="850392" y="5093208"/>
            <a:ext cx="6309360" cy="310896"/>
          </a:xfrm>
          <a:prstGeom prst="rect">
            <a:avLst/>
          </a:prstGeom>
          <a:noFill/>
          <a:ln/>
        </p:spPr>
        <p:txBody>
          <a:bodyPr wrap="square" lIns="0" tIns="0" rIns="0" bIns="0" rtlCol="0" anchor="ctr"/>
          <a:lstStyle/>
          <a:p>
            <a:pPr indent="0" marL="0">
              <a:buNone/>
            </a:pPr>
            <a:r>
              <a:rPr lang="en-US" sz="1150" dirty="0">
                <a:solidFill>
                  <a:srgbClr val="5C6B80"/>
                </a:solidFill>
                <a:latin typeface="Calibri" pitchFamily="34" charset="0"/>
                <a:ea typeface="Calibri" pitchFamily="34" charset="-122"/>
                <a:cs typeface="Calibri" pitchFamily="34" charset="-120"/>
              </a:rPr>
              <a:t>Groundedness scorer plus a CI eval gate at 0.95.</a:t>
            </a:r>
            <a:endParaRPr lang="en-US" sz="1150" dirty="0"/>
          </a:p>
        </p:txBody>
      </p:sp>
      <p:sp>
        <p:nvSpPr>
          <p:cNvPr id="24" name="Text 22"/>
          <p:cNvSpPr/>
          <p:nvPr/>
        </p:nvSpPr>
        <p:spPr>
          <a:xfrm>
            <a:off x="4251960" y="4764024"/>
            <a:ext cx="2926080" cy="310896"/>
          </a:xfrm>
          <a:prstGeom prst="rect">
            <a:avLst/>
          </a:prstGeom>
          <a:noFill/>
          <a:ln/>
        </p:spPr>
        <p:txBody>
          <a:bodyPr wrap="square" lIns="0" tIns="0" rIns="0" bIns="0" rtlCol="0" anchor="ctr"/>
          <a:lstStyle/>
          <a:p>
            <a:pPr algn="r" indent="0" marL="0">
              <a:buNone/>
            </a:pPr>
            <a:r>
              <a:rPr lang="en-US" sz="1000" dirty="0">
                <a:solidFill>
                  <a:srgbClr val="0F9BA8"/>
                </a:solidFill>
                <a:latin typeface="Courier New" pitchFamily="34" charset="0"/>
                <a:ea typeface="Courier New" pitchFamily="34" charset="-122"/>
                <a:cs typeface="Courier New" pitchFamily="34" charset="-120"/>
              </a:rPr>
              <a:t>evals.suite.THRESHOLDS</a:t>
            </a:r>
            <a:endParaRPr lang="en-US" sz="1000" dirty="0"/>
          </a:p>
        </p:txBody>
      </p:sp>
      <p:sp>
        <p:nvSpPr>
          <p:cNvPr id="25" name="Shape 23"/>
          <p:cNvSpPr/>
          <p:nvPr/>
        </p:nvSpPr>
        <p:spPr>
          <a:xfrm>
            <a:off x="7772400" y="1874520"/>
            <a:ext cx="3794760" cy="3520440"/>
          </a:xfrm>
          <a:prstGeom prst="roundRect">
            <a:avLst>
              <a:gd name="adj" fmla="val 1818"/>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6" name="Text 24"/>
          <p:cNvSpPr/>
          <p:nvPr/>
        </p:nvSpPr>
        <p:spPr>
          <a:xfrm>
            <a:off x="8046720" y="2048256"/>
            <a:ext cx="3200400" cy="274320"/>
          </a:xfrm>
          <a:prstGeom prst="rect">
            <a:avLst/>
          </a:prstGeom>
          <a:noFill/>
          <a:ln/>
        </p:spPr>
        <p:txBody>
          <a:bodyPr wrap="square" lIns="0" tIns="0" rIns="0" bIns="0" rtlCol="0" anchor="ctr"/>
          <a:lstStyle/>
          <a:p>
            <a:pPr indent="0" marL="0">
              <a:buNone/>
            </a:pPr>
            <a:r>
              <a:rPr lang="en-US" sz="1100" b="1" spc="160" kern="0" dirty="0">
                <a:solidFill>
                  <a:srgbClr val="5C6B80"/>
                </a:solidFill>
                <a:latin typeface="Calibri" pitchFamily="34" charset="0"/>
                <a:ea typeface="Calibri" pitchFamily="34" charset="-122"/>
                <a:cs typeface="Calibri" pitchFamily="34" charset="-120"/>
              </a:rPr>
              <a:t>Risk tier</a:t>
            </a:r>
            <a:endParaRPr lang="en-US" sz="1100" dirty="0"/>
          </a:p>
        </p:txBody>
      </p:sp>
      <p:sp>
        <p:nvSpPr>
          <p:cNvPr id="27" name="Text 25"/>
          <p:cNvSpPr/>
          <p:nvPr/>
        </p:nvSpPr>
        <p:spPr>
          <a:xfrm>
            <a:off x="8046720" y="2340864"/>
            <a:ext cx="3200400" cy="420624"/>
          </a:xfrm>
          <a:prstGeom prst="rect">
            <a:avLst/>
          </a:prstGeom>
          <a:noFill/>
          <a:ln/>
        </p:spPr>
        <p:txBody>
          <a:bodyPr wrap="square" lIns="0" tIns="0" rIns="0" bIns="0" rtlCol="0" anchor="ctr"/>
          <a:lstStyle/>
          <a:p>
            <a:pPr indent="0" marL="0">
              <a:buNone/>
            </a:pPr>
            <a:r>
              <a:rPr lang="en-US" sz="2500" b="1" dirty="0">
                <a:solidFill>
                  <a:srgbClr val="E2001A"/>
                </a:solidFill>
                <a:latin typeface="Cambria" pitchFamily="34" charset="0"/>
                <a:ea typeface="Cambria" pitchFamily="34" charset="-122"/>
                <a:cs typeface="Cambria" pitchFamily="34" charset="-120"/>
              </a:rPr>
              <a:t>Limited risk</a:t>
            </a:r>
            <a:endParaRPr lang="en-US" sz="2500" dirty="0"/>
          </a:p>
        </p:txBody>
      </p:sp>
      <p:sp>
        <p:nvSpPr>
          <p:cNvPr id="28" name="Text 26"/>
          <p:cNvSpPr/>
          <p:nvPr/>
        </p:nvSpPr>
        <p:spPr>
          <a:xfrm>
            <a:off x="8046720" y="2834640"/>
            <a:ext cx="3246120" cy="137160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A customer-facing informational assistant. Not a medical device and not diagnostic, because every clinical judgement is routed to a registered pharmacist — which keeps it out of Annex III.</a:t>
            </a:r>
            <a:endParaRPr lang="en-US" sz="1150" dirty="0"/>
          </a:p>
        </p:txBody>
      </p:sp>
      <p:sp>
        <p:nvSpPr>
          <p:cNvPr id="29" name="Shape 27"/>
          <p:cNvSpPr/>
          <p:nvPr/>
        </p:nvSpPr>
        <p:spPr>
          <a:xfrm>
            <a:off x="8046720" y="4224528"/>
            <a:ext cx="3246120" cy="0"/>
          </a:xfrm>
          <a:prstGeom prst="line">
            <a:avLst/>
          </a:prstGeom>
          <a:noFill/>
          <a:ln w="12700">
            <a:solidFill>
              <a:srgbClr val="E1E7EF"/>
            </a:solidFill>
            <a:prstDash val="solid"/>
          </a:ln>
        </p:spPr>
      </p:sp>
      <p:sp>
        <p:nvSpPr>
          <p:cNvPr id="30" name="Text 28"/>
          <p:cNvSpPr/>
          <p:nvPr/>
        </p:nvSpPr>
        <p:spPr>
          <a:xfrm>
            <a:off x="8046720" y="4352544"/>
            <a:ext cx="3246120" cy="914400"/>
          </a:xfrm>
          <a:prstGeom prst="rect">
            <a:avLst/>
          </a:prstGeom>
          <a:noFill/>
          <a:ln/>
        </p:spPr>
        <p:txBody>
          <a:bodyPr wrap="square" lIns="0" tIns="0" rIns="0" bIns="0" rtlCol="0" anchor="ctr"/>
          <a:lstStyle/>
          <a:p>
            <a:pPr indent="0" marL="0">
              <a:lnSpc>
                <a:spcPts val="1600"/>
              </a:lnSpc>
              <a:buNone/>
            </a:pPr>
            <a:r>
              <a:rPr lang="en-US" sz="1150" i="1" dirty="0">
                <a:solidFill>
                  <a:srgbClr val="16202E"/>
                </a:solidFill>
                <a:latin typeface="Calibri" pitchFamily="34" charset="0"/>
                <a:ea typeface="Calibri" pitchFamily="34" charset="-122"/>
                <a:cs typeface="Calibri" pitchFamily="34" charset="-120"/>
              </a:rPr>
              <a:t>The classification is a decision, made on the record. The moment the agent could give a dose, it is a different tier with a conformity assessment attached.</a:t>
            </a:r>
            <a:endParaRPr lang="en-US" sz="1150" dirty="0"/>
          </a:p>
        </p:txBody>
      </p:sp>
      <p:sp>
        <p:nvSpPr>
          <p:cNvPr id="31" name="Text 29"/>
          <p:cNvSpPr/>
          <p:nvPr/>
        </p:nvSpPr>
        <p:spPr>
          <a:xfrm>
            <a:off x="594360" y="5669280"/>
            <a:ext cx="10972800" cy="548640"/>
          </a:xfrm>
          <a:prstGeom prst="rect">
            <a:avLst/>
          </a:prstGeom>
          <a:noFill/>
          <a:ln/>
        </p:spPr>
        <p:txBody>
          <a:bodyPr wrap="square" lIns="0" tIns="0" rIns="0" bIns="0" rtlCol="0" anchor="ctr"/>
          <a:lstStyle/>
          <a:p>
            <a:pPr indent="0" marL="0">
              <a:lnSpc>
                <a:spcPts val="1700"/>
              </a:lnSpc>
              <a:buNone/>
            </a:pPr>
            <a:r>
              <a:rPr lang="en-US" sz="1250" b="1" dirty="0">
                <a:solidFill>
                  <a:srgbClr val="16202E"/>
                </a:solidFill>
                <a:latin typeface="Calibri" pitchFamily="34" charset="0"/>
                <a:ea typeface="Calibri" pitchFamily="34" charset="-122"/>
                <a:cs typeface="Calibri" pitchFamily="34" charset="-120"/>
              </a:rPr>
              <a:t>Human-in-the-loop placement:  </a:t>
            </a:r>
            <a:pPr indent="0" marL="0">
              <a:lnSpc>
                <a:spcPts val="1700"/>
              </a:lnSpc>
              <a:buNone/>
            </a:pPr>
            <a:r>
              <a:rPr lang="en-US" sz="1250" dirty="0">
                <a:solidFill>
                  <a:srgbClr val="5C6B80"/>
                </a:solidFill>
                <a:latin typeface="Calibri" pitchFamily="34" charset="0"/>
                <a:ea typeface="Calibri" pitchFamily="34" charset="-122"/>
                <a:cs typeface="Calibri" pitchFamily="34" charset="-120"/>
              </a:rPr>
              <a:t>gate the side effect, not the reasoning. The agent may read and draft freely; it stops before changing a system of record. A rubber-stamp queue at 400 approvals an hour satisfies Art. 14 on paper and nothing in practice.</a:t>
            </a:r>
            <a:endParaRPr lang="en-US" sz="1250" dirty="0"/>
          </a:p>
        </p:txBody>
      </p:sp>
      <p:sp>
        <p:nvSpPr>
          <p:cNvPr id="32" name="Text 30"/>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5 · GOVERN</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A confused deputy with a credential</a:t>
            </a:r>
            <a:endParaRPr lang="en-US" sz="28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9BAABF"/>
                </a:solidFill>
                <a:latin typeface="Calibri" pitchFamily="34" charset="0"/>
                <a:ea typeface="Calibri" pitchFamily="34" charset="-122"/>
                <a:cs typeface="Calibri" pitchFamily="34" charset="-120"/>
              </a:rPr>
              <a:t>An agent is a confused deputy with a credential — design for the day it is fully persuaded. Each control is mapped to a threat, not a checklist.</a:t>
            </a:r>
            <a:endParaRPr lang="en-US" sz="1350" dirty="0"/>
          </a:p>
        </p:txBody>
      </p:sp>
      <p:sp>
        <p:nvSpPr>
          <p:cNvPr id="5" name="Shape 3"/>
          <p:cNvSpPr/>
          <p:nvPr/>
        </p:nvSpPr>
        <p:spPr>
          <a:xfrm>
            <a:off x="594360" y="1947672"/>
            <a:ext cx="10881360" cy="0"/>
          </a:xfrm>
          <a:prstGeom prst="line">
            <a:avLst/>
          </a:prstGeom>
          <a:noFill/>
          <a:ln w="12700">
            <a:solidFill>
              <a:srgbClr val="2B3547"/>
            </a:solidFill>
            <a:prstDash val="solid"/>
          </a:ln>
        </p:spPr>
      </p:sp>
      <p:sp>
        <p:nvSpPr>
          <p:cNvPr id="6" name="Text 4"/>
          <p:cNvSpPr/>
          <p:nvPr/>
        </p:nvSpPr>
        <p:spPr>
          <a:xfrm>
            <a:off x="594360" y="201168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Workload identity + OIDC federation</a:t>
            </a:r>
            <a:endParaRPr lang="en-US" sz="1300" dirty="0"/>
          </a:p>
        </p:txBody>
      </p:sp>
      <p:sp>
        <p:nvSpPr>
          <p:cNvPr id="7" name="Text 5"/>
          <p:cNvSpPr/>
          <p:nvPr/>
        </p:nvSpPr>
        <p:spPr>
          <a:xfrm>
            <a:off x="5715000" y="202996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Credential theft — no long-lived credential exists</a:t>
            </a:r>
            <a:endParaRPr lang="en-US" sz="1200" dirty="0"/>
          </a:p>
        </p:txBody>
      </p:sp>
      <p:sp>
        <p:nvSpPr>
          <p:cNvPr id="8" name="Shape 6"/>
          <p:cNvSpPr/>
          <p:nvPr/>
        </p:nvSpPr>
        <p:spPr>
          <a:xfrm>
            <a:off x="594360" y="2450592"/>
            <a:ext cx="10881360" cy="0"/>
          </a:xfrm>
          <a:prstGeom prst="line">
            <a:avLst/>
          </a:prstGeom>
          <a:noFill/>
          <a:ln w="12700">
            <a:solidFill>
              <a:srgbClr val="2B3547"/>
            </a:solidFill>
            <a:prstDash val="solid"/>
          </a:ln>
        </p:spPr>
      </p:sp>
      <p:sp>
        <p:nvSpPr>
          <p:cNvPr id="9" name="Text 7"/>
          <p:cNvSpPr/>
          <p:nvPr/>
        </p:nvSpPr>
        <p:spPr>
          <a:xfrm>
            <a:off x="594360" y="251460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identities: agent and gateway</a:t>
            </a:r>
            <a:endParaRPr lang="en-US" sz="1300" dirty="0"/>
          </a:p>
        </p:txBody>
      </p:sp>
      <p:sp>
        <p:nvSpPr>
          <p:cNvPr id="10" name="Text 8"/>
          <p:cNvSpPr/>
          <p:nvPr/>
        </p:nvSpPr>
        <p:spPr>
          <a:xfrm>
            <a:off x="5715000" y="253288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A compromised agent still cannot read provider keys</a:t>
            </a:r>
            <a:endParaRPr lang="en-US" sz="1200" dirty="0"/>
          </a:p>
        </p:txBody>
      </p:sp>
      <p:sp>
        <p:nvSpPr>
          <p:cNvPr id="11" name="Shape 9"/>
          <p:cNvSpPr/>
          <p:nvPr/>
        </p:nvSpPr>
        <p:spPr>
          <a:xfrm>
            <a:off x="594360" y="2953512"/>
            <a:ext cx="10881360" cy="0"/>
          </a:xfrm>
          <a:prstGeom prst="line">
            <a:avLst/>
          </a:prstGeom>
          <a:noFill/>
          <a:ln w="12700">
            <a:solidFill>
              <a:srgbClr val="2B3547"/>
            </a:solidFill>
            <a:prstDash val="solid"/>
          </a:ln>
        </p:spPr>
      </p:sp>
      <p:sp>
        <p:nvSpPr>
          <p:cNvPr id="12" name="Text 10"/>
          <p:cNvSpPr/>
          <p:nvPr/>
        </p:nvSpPr>
        <p:spPr>
          <a:xfrm>
            <a:off x="594360" y="301752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NSG denies internet egress</a:t>
            </a:r>
            <a:endParaRPr lang="en-US" sz="1300" dirty="0"/>
          </a:p>
        </p:txBody>
      </p:sp>
      <p:sp>
        <p:nvSpPr>
          <p:cNvPr id="13" name="Text 11"/>
          <p:cNvSpPr/>
          <p:nvPr/>
        </p:nvSpPr>
        <p:spPr>
          <a:xfrm>
            <a:off x="5715000" y="303580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A compromised agent has nowhere to send data</a:t>
            </a:r>
            <a:endParaRPr lang="en-US" sz="1200" dirty="0"/>
          </a:p>
        </p:txBody>
      </p:sp>
      <p:sp>
        <p:nvSpPr>
          <p:cNvPr id="14" name="Shape 12"/>
          <p:cNvSpPr/>
          <p:nvPr/>
        </p:nvSpPr>
        <p:spPr>
          <a:xfrm>
            <a:off x="594360" y="3456432"/>
            <a:ext cx="10881360" cy="0"/>
          </a:xfrm>
          <a:prstGeom prst="line">
            <a:avLst/>
          </a:prstGeom>
          <a:noFill/>
          <a:ln w="12700">
            <a:solidFill>
              <a:srgbClr val="2B3547"/>
            </a:solidFill>
            <a:prstDash val="solid"/>
          </a:ln>
        </p:spPr>
      </p:sp>
      <p:sp>
        <p:nvSpPr>
          <p:cNvPr id="15" name="Text 13"/>
          <p:cNvSpPr/>
          <p:nvPr/>
        </p:nvSpPr>
        <p:spPr>
          <a:xfrm>
            <a:off x="594360" y="352044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Private endpoints + private DNS zones</a:t>
            </a:r>
            <a:endParaRPr lang="en-US" sz="1300" dirty="0"/>
          </a:p>
        </p:txBody>
      </p:sp>
      <p:sp>
        <p:nvSpPr>
          <p:cNvPr id="16" name="Text 14"/>
          <p:cNvSpPr/>
          <p:nvPr/>
        </p:nvSpPr>
        <p:spPr>
          <a:xfrm>
            <a:off x="5715000" y="353872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Traffic silently leaving the VNet</a:t>
            </a:r>
            <a:endParaRPr lang="en-US" sz="1200" dirty="0"/>
          </a:p>
        </p:txBody>
      </p:sp>
      <p:sp>
        <p:nvSpPr>
          <p:cNvPr id="17" name="Shape 15"/>
          <p:cNvSpPr/>
          <p:nvPr/>
        </p:nvSpPr>
        <p:spPr>
          <a:xfrm>
            <a:off x="594360" y="3959352"/>
            <a:ext cx="10881360" cy="0"/>
          </a:xfrm>
          <a:prstGeom prst="line">
            <a:avLst/>
          </a:prstGeom>
          <a:noFill/>
          <a:ln w="12700">
            <a:solidFill>
              <a:srgbClr val="2B3547"/>
            </a:solidFill>
            <a:prstDash val="solid"/>
          </a:ln>
        </p:spPr>
      </p:sp>
      <p:sp>
        <p:nvSpPr>
          <p:cNvPr id="18" name="Text 16"/>
          <p:cNvSpPr/>
          <p:nvPr/>
        </p:nvSpPr>
        <p:spPr>
          <a:xfrm>
            <a:off x="594360" y="402336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 scopes on the virtual key</a:t>
            </a:r>
            <a:endParaRPr lang="en-US" sz="1300" dirty="0"/>
          </a:p>
        </p:txBody>
      </p:sp>
      <p:sp>
        <p:nvSpPr>
          <p:cNvPr id="19" name="Text 17"/>
          <p:cNvSpPr/>
          <p:nvPr/>
        </p:nvSpPr>
        <p:spPr>
          <a:xfrm>
            <a:off x="5715000" y="404164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Excessive agency — it is not told about tools it may not use</a:t>
            </a:r>
            <a:endParaRPr lang="en-US" sz="1200" dirty="0"/>
          </a:p>
        </p:txBody>
      </p:sp>
      <p:sp>
        <p:nvSpPr>
          <p:cNvPr id="20" name="Shape 18"/>
          <p:cNvSpPr/>
          <p:nvPr/>
        </p:nvSpPr>
        <p:spPr>
          <a:xfrm>
            <a:off x="594360" y="4462272"/>
            <a:ext cx="10881360" cy="0"/>
          </a:xfrm>
          <a:prstGeom prst="line">
            <a:avLst/>
          </a:prstGeom>
          <a:noFill/>
          <a:ln w="12700">
            <a:solidFill>
              <a:srgbClr val="2B3547"/>
            </a:solidFill>
            <a:prstDash val="solid"/>
          </a:ln>
        </p:spPr>
      </p:sp>
      <p:sp>
        <p:nvSpPr>
          <p:cNvPr id="21" name="Text 19"/>
          <p:cNvSpPr/>
          <p:nvPr/>
        </p:nvSpPr>
        <p:spPr>
          <a:xfrm>
            <a:off x="594360" y="452628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Approval gate on side effects</a:t>
            </a:r>
            <a:endParaRPr lang="en-US" sz="1300" dirty="0"/>
          </a:p>
        </p:txBody>
      </p:sp>
      <p:sp>
        <p:nvSpPr>
          <p:cNvPr id="22" name="Text 20"/>
          <p:cNvSpPr/>
          <p:nvPr/>
        </p:nvSpPr>
        <p:spPr>
          <a:xfrm>
            <a:off x="5715000" y="454456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An agent acting on a system of record alone</a:t>
            </a:r>
            <a:endParaRPr lang="en-US" sz="1200" dirty="0"/>
          </a:p>
        </p:txBody>
      </p:sp>
      <p:sp>
        <p:nvSpPr>
          <p:cNvPr id="23" name="Shape 21"/>
          <p:cNvSpPr/>
          <p:nvPr/>
        </p:nvSpPr>
        <p:spPr>
          <a:xfrm>
            <a:off x="594360" y="4965192"/>
            <a:ext cx="10881360" cy="0"/>
          </a:xfrm>
          <a:prstGeom prst="line">
            <a:avLst/>
          </a:prstGeom>
          <a:noFill/>
          <a:ln w="12700">
            <a:solidFill>
              <a:srgbClr val="2B3547"/>
            </a:solidFill>
            <a:prstDash val="solid"/>
          </a:ln>
        </p:spPr>
      </p:sp>
      <p:sp>
        <p:nvSpPr>
          <p:cNvPr id="24" name="Text 22"/>
          <p:cNvSpPr/>
          <p:nvPr/>
        </p:nvSpPr>
        <p:spPr>
          <a:xfrm>
            <a:off x="594360" y="502920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SBOM · Trivy · cosign · content trust</a:t>
            </a:r>
            <a:endParaRPr lang="en-US" sz="1300" dirty="0"/>
          </a:p>
        </p:txBody>
      </p:sp>
      <p:sp>
        <p:nvSpPr>
          <p:cNvPr id="25" name="Text 23"/>
          <p:cNvSpPr/>
          <p:nvPr/>
        </p:nvSpPr>
        <p:spPr>
          <a:xfrm>
            <a:off x="5715000" y="504748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Supply chain — an unsigned image cannot run</a:t>
            </a:r>
            <a:endParaRPr lang="en-US" sz="1200" dirty="0"/>
          </a:p>
        </p:txBody>
      </p:sp>
      <p:sp>
        <p:nvSpPr>
          <p:cNvPr id="26" name="Shape 24"/>
          <p:cNvSpPr/>
          <p:nvPr/>
        </p:nvSpPr>
        <p:spPr>
          <a:xfrm>
            <a:off x="594360" y="5468112"/>
            <a:ext cx="10881360" cy="0"/>
          </a:xfrm>
          <a:prstGeom prst="line">
            <a:avLst/>
          </a:prstGeom>
          <a:noFill/>
          <a:ln w="12700">
            <a:solidFill>
              <a:srgbClr val="2B3547"/>
            </a:solidFill>
            <a:prstDash val="solid"/>
          </a:ln>
        </p:spPr>
      </p:sp>
      <p:sp>
        <p:nvSpPr>
          <p:cNvPr id="27" name="Text 25"/>
          <p:cNvSpPr/>
          <p:nvPr/>
        </p:nvSpPr>
        <p:spPr>
          <a:xfrm>
            <a:off x="594360" y="5532120"/>
            <a:ext cx="4937760" cy="32918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Conftest / Checkov on the plan JSON</a:t>
            </a:r>
            <a:endParaRPr lang="en-US" sz="1300" dirty="0"/>
          </a:p>
        </p:txBody>
      </p:sp>
      <p:sp>
        <p:nvSpPr>
          <p:cNvPr id="28" name="Text 26"/>
          <p:cNvSpPr/>
          <p:nvPr/>
        </p:nvSpPr>
        <p:spPr>
          <a:xfrm>
            <a:off x="5715000" y="5550408"/>
            <a:ext cx="5760720" cy="310896"/>
          </a:xfrm>
          <a:prstGeom prst="rect">
            <a:avLst/>
          </a:prstGeom>
          <a:noFill/>
          <a:ln/>
        </p:spPr>
        <p:txBody>
          <a:bodyPr wrap="square" lIns="0" tIns="0" rIns="0" bIns="0" rtlCol="0" anchor="ctr"/>
          <a:lstStyle/>
          <a:p>
            <a:pPr indent="0" marL="0">
              <a:buNone/>
            </a:pPr>
            <a:r>
              <a:rPr lang="en-US" sz="1200" dirty="0">
                <a:solidFill>
                  <a:srgbClr val="9BAABF"/>
                </a:solidFill>
                <a:latin typeface="Calibri" pitchFamily="34" charset="0"/>
                <a:ea typeface="Calibri" pitchFamily="34" charset="-122"/>
                <a:cs typeface="Calibri" pitchFamily="34" charset="-120"/>
              </a:rPr>
              <a:t>Compliant-looking HCL that produces a public resource</a:t>
            </a:r>
            <a:endParaRPr lang="en-US" sz="1200" dirty="0"/>
          </a:p>
        </p:txBody>
      </p:sp>
      <p:sp>
        <p:nvSpPr>
          <p:cNvPr id="29" name="Text 27"/>
          <p:cNvSpPr/>
          <p:nvPr/>
        </p:nvSpPr>
        <p:spPr>
          <a:xfrm>
            <a:off x="594360" y="6126480"/>
            <a:ext cx="10881360" cy="329184"/>
          </a:xfrm>
          <a:prstGeom prst="rect">
            <a:avLst/>
          </a:prstGeom>
          <a:noFill/>
          <a:ln/>
        </p:spPr>
        <p:txBody>
          <a:bodyPr wrap="square" lIns="0" tIns="0" rIns="0" bIns="0" rtlCol="0" anchor="ctr"/>
          <a:lstStyle/>
          <a:p>
            <a:pPr indent="0" marL="0">
              <a:buNone/>
            </a:pPr>
            <a:r>
              <a:rPr lang="en-US" sz="1300" i="1" dirty="0">
                <a:solidFill>
                  <a:srgbClr val="E2001A"/>
                </a:solidFill>
                <a:latin typeface="Calibri" pitchFamily="34" charset="0"/>
                <a:ea typeface="Calibri" pitchFamily="34" charset="-122"/>
                <a:cs typeface="Calibri" pitchFamily="34" charset="-120"/>
              </a:rPr>
              <a:t>There is no long-lived secret anywhere in the delivery chain. That is achievable, and it is the bar.</a:t>
            </a:r>
            <a:endParaRPr lang="en-US" sz="1300" dirty="0"/>
          </a:p>
        </p:txBody>
      </p:sp>
      <p:sp>
        <p:nvSpPr>
          <p:cNvPr id="30" name="Text 28"/>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6 · PAY</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Cost per turn is the number</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Everything else is a proxy for it. Four levers, in the order I would pull them, each visible in the playground and on the dashboard.</a:t>
            </a:r>
            <a:endParaRPr lang="en-US" sz="1350" dirty="0"/>
          </a:p>
        </p:txBody>
      </p:sp>
      <p:graphicFrame>
        <p:nvGraphicFramePr>
          <p:cNvPr id="5" name="Chart 0" descr=""/>
          <p:cNvGraphicFramePr/>
          <p:nvPr/>
        </p:nvGraphicFramePr>
        <p:xfrm>
          <a:off x="594360" y="1874520"/>
          <a:ext cx="603504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858000" y="1892808"/>
            <a:ext cx="320040" cy="310896"/>
          </a:xfrm>
          <a:prstGeom prst="rect">
            <a:avLst/>
          </a:prstGeom>
          <a:noFill/>
          <a:ln/>
        </p:spPr>
        <p:txBody>
          <a:bodyPr wrap="square" lIns="0" tIns="0" rIns="0" bIns="0" rtlCol="0" anchor="ctr"/>
          <a:lstStyle/>
          <a:p>
            <a:pPr indent="0" marL="0">
              <a:buNone/>
            </a:pPr>
            <a:r>
              <a:rPr lang="en-US" sz="2000" b="1" dirty="0">
                <a:solidFill>
                  <a:srgbClr val="E2001A"/>
                </a:solidFill>
                <a:latin typeface="Cambria" pitchFamily="34" charset="0"/>
                <a:ea typeface="Cambria" pitchFamily="34" charset="-122"/>
                <a:cs typeface="Cambria" pitchFamily="34" charset="-120"/>
              </a:rPr>
              <a:t>1</a:t>
            </a:r>
            <a:endParaRPr lang="en-US" sz="2000" dirty="0"/>
          </a:p>
        </p:txBody>
      </p:sp>
      <p:sp>
        <p:nvSpPr>
          <p:cNvPr id="7" name="Text 4"/>
          <p:cNvSpPr/>
          <p:nvPr/>
        </p:nvSpPr>
        <p:spPr>
          <a:xfrm>
            <a:off x="7269480" y="1929384"/>
            <a:ext cx="420624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Tier routing</a:t>
            </a:r>
            <a:endParaRPr lang="en-US" sz="1350" dirty="0"/>
          </a:p>
        </p:txBody>
      </p:sp>
      <p:sp>
        <p:nvSpPr>
          <p:cNvPr id="8" name="Text 5"/>
          <p:cNvSpPr/>
          <p:nvPr/>
        </p:nvSpPr>
        <p:spPr>
          <a:xfrm>
            <a:off x="7269480" y="2240280"/>
            <a:ext cx="4297680" cy="621792"/>
          </a:xfrm>
          <a:prstGeom prst="rect">
            <a:avLst/>
          </a:prstGeom>
          <a:noFill/>
          <a:ln/>
        </p:spPr>
        <p:txBody>
          <a:bodyPr wrap="square" lIns="0" tIns="0" rIns="0" bIns="0" rtlCol="0" anchor="ctr"/>
          <a:lstStyle/>
          <a:p>
            <a:pPr indent="0" marL="0">
              <a:lnSpc>
                <a:spcPts val="1400"/>
              </a:lnSpc>
              <a:buNone/>
            </a:pPr>
            <a:r>
              <a:rPr lang="en-US" sz="1100" dirty="0">
                <a:solidFill>
                  <a:srgbClr val="5C6B80"/>
                </a:solidFill>
                <a:latin typeface="Calibri" pitchFamily="34" charset="0"/>
                <a:ea typeface="Calibri" pitchFamily="34" charset="-122"/>
                <a:cs typeface="Calibri" pitchFamily="34" charset="-120"/>
              </a:rPr>
              <a:t>A greeting on the mini tier is ~16× cheaper per token than the flagship. The classifier that decides costs $0.0001.</a:t>
            </a:r>
            <a:endParaRPr lang="en-US" sz="1100" dirty="0"/>
          </a:p>
        </p:txBody>
      </p:sp>
      <p:sp>
        <p:nvSpPr>
          <p:cNvPr id="9" name="Text 6"/>
          <p:cNvSpPr/>
          <p:nvPr/>
        </p:nvSpPr>
        <p:spPr>
          <a:xfrm>
            <a:off x="6858000" y="2916936"/>
            <a:ext cx="320040" cy="310896"/>
          </a:xfrm>
          <a:prstGeom prst="rect">
            <a:avLst/>
          </a:prstGeom>
          <a:noFill/>
          <a:ln/>
        </p:spPr>
        <p:txBody>
          <a:bodyPr wrap="square" lIns="0" tIns="0" rIns="0" bIns="0" rtlCol="0" anchor="ctr"/>
          <a:lstStyle/>
          <a:p>
            <a:pPr indent="0" marL="0">
              <a:buNone/>
            </a:pPr>
            <a:r>
              <a:rPr lang="en-US" sz="2000" b="1" dirty="0">
                <a:solidFill>
                  <a:srgbClr val="E2001A"/>
                </a:solidFill>
                <a:latin typeface="Cambria" pitchFamily="34" charset="0"/>
                <a:ea typeface="Cambria" pitchFamily="34" charset="-122"/>
                <a:cs typeface="Cambria" pitchFamily="34" charset="-120"/>
              </a:rPr>
              <a:t>2</a:t>
            </a:r>
            <a:endParaRPr lang="en-US" sz="2000" dirty="0"/>
          </a:p>
        </p:txBody>
      </p:sp>
      <p:sp>
        <p:nvSpPr>
          <p:cNvPr id="10" name="Text 7"/>
          <p:cNvSpPr/>
          <p:nvPr/>
        </p:nvSpPr>
        <p:spPr>
          <a:xfrm>
            <a:off x="7269480" y="2953512"/>
            <a:ext cx="420624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Semantic cache</a:t>
            </a:r>
            <a:endParaRPr lang="en-US" sz="1350" dirty="0"/>
          </a:p>
        </p:txBody>
      </p:sp>
      <p:sp>
        <p:nvSpPr>
          <p:cNvPr id="11" name="Text 8"/>
          <p:cNvSpPr/>
          <p:nvPr/>
        </p:nvSpPr>
        <p:spPr>
          <a:xfrm>
            <a:off x="7269480" y="3264408"/>
            <a:ext cx="4297680" cy="621792"/>
          </a:xfrm>
          <a:prstGeom prst="rect">
            <a:avLst/>
          </a:prstGeom>
          <a:noFill/>
          <a:ln/>
        </p:spPr>
        <p:txBody>
          <a:bodyPr wrap="square" lIns="0" tIns="0" rIns="0" bIns="0" rtlCol="0" anchor="ctr"/>
          <a:lstStyle/>
          <a:p>
            <a:pPr indent="0" marL="0">
              <a:lnSpc>
                <a:spcPts val="1400"/>
              </a:lnSpc>
              <a:buNone/>
            </a:pPr>
            <a:r>
              <a:rPr lang="en-US" sz="1100" dirty="0">
                <a:solidFill>
                  <a:srgbClr val="5C6B80"/>
                </a:solidFill>
                <a:latin typeface="Calibri" pitchFamily="34" charset="0"/>
                <a:ea typeface="Calibri" pitchFamily="34" charset="-122"/>
                <a:cs typeface="Calibri" pitchFamily="34" charset="-120"/>
              </a:rPr>
              <a:t>“Where is my order”, “order status?”, “has it shipped” are one question. 25-35% hit rates are ordinary in support.</a:t>
            </a:r>
            <a:endParaRPr lang="en-US" sz="1100" dirty="0"/>
          </a:p>
        </p:txBody>
      </p:sp>
      <p:sp>
        <p:nvSpPr>
          <p:cNvPr id="12" name="Text 9"/>
          <p:cNvSpPr/>
          <p:nvPr/>
        </p:nvSpPr>
        <p:spPr>
          <a:xfrm>
            <a:off x="6858000" y="3941064"/>
            <a:ext cx="320040" cy="310896"/>
          </a:xfrm>
          <a:prstGeom prst="rect">
            <a:avLst/>
          </a:prstGeom>
          <a:noFill/>
          <a:ln/>
        </p:spPr>
        <p:txBody>
          <a:bodyPr wrap="square" lIns="0" tIns="0" rIns="0" bIns="0" rtlCol="0" anchor="ctr"/>
          <a:lstStyle/>
          <a:p>
            <a:pPr indent="0" marL="0">
              <a:buNone/>
            </a:pPr>
            <a:r>
              <a:rPr lang="en-US" sz="2000" b="1" dirty="0">
                <a:solidFill>
                  <a:srgbClr val="E2001A"/>
                </a:solidFill>
                <a:latin typeface="Cambria" pitchFamily="34" charset="0"/>
                <a:ea typeface="Cambria" pitchFamily="34" charset="-122"/>
                <a:cs typeface="Cambria" pitchFamily="34" charset="-120"/>
              </a:rPr>
              <a:t>3</a:t>
            </a:r>
            <a:endParaRPr lang="en-US" sz="2000" dirty="0"/>
          </a:p>
        </p:txBody>
      </p:sp>
      <p:sp>
        <p:nvSpPr>
          <p:cNvPr id="13" name="Text 10"/>
          <p:cNvSpPr/>
          <p:nvPr/>
        </p:nvSpPr>
        <p:spPr>
          <a:xfrm>
            <a:off x="7269480" y="3977640"/>
            <a:ext cx="420624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Bounded context</a:t>
            </a:r>
            <a:endParaRPr lang="en-US" sz="1350" dirty="0"/>
          </a:p>
        </p:txBody>
      </p:sp>
      <p:sp>
        <p:nvSpPr>
          <p:cNvPr id="14" name="Text 11"/>
          <p:cNvSpPr/>
          <p:nvPr/>
        </p:nvSpPr>
        <p:spPr>
          <a:xfrm>
            <a:off x="7269480" y="4288536"/>
            <a:ext cx="4297680" cy="621792"/>
          </a:xfrm>
          <a:prstGeom prst="rect">
            <a:avLst/>
          </a:prstGeom>
          <a:noFill/>
          <a:ln/>
        </p:spPr>
        <p:txBody>
          <a:bodyPr wrap="square" lIns="0" tIns="0" rIns="0" bIns="0" rtlCol="0" anchor="ctr"/>
          <a:lstStyle/>
          <a:p>
            <a:pPr indent="0" marL="0">
              <a:lnSpc>
                <a:spcPts val="1400"/>
              </a:lnSpc>
              <a:buNone/>
            </a:pPr>
            <a:r>
              <a:rPr lang="en-US" sz="1100" dirty="0">
                <a:solidFill>
                  <a:srgbClr val="5C6B80"/>
                </a:solidFill>
                <a:latin typeface="Calibri" pitchFamily="34" charset="0"/>
                <a:ea typeface="Calibri" pitchFamily="34" charset="-122"/>
                <a:cs typeface="Calibri" pitchFamily="34" charset="-120"/>
              </a:rPr>
              <a:t>A rolling window stops prompt growth across a long session — the quiet cause of most cost regressions.</a:t>
            </a:r>
            <a:endParaRPr lang="en-US" sz="1100" dirty="0"/>
          </a:p>
        </p:txBody>
      </p:sp>
      <p:sp>
        <p:nvSpPr>
          <p:cNvPr id="15" name="Text 12"/>
          <p:cNvSpPr/>
          <p:nvPr/>
        </p:nvSpPr>
        <p:spPr>
          <a:xfrm>
            <a:off x="6858000" y="4965192"/>
            <a:ext cx="320040" cy="310896"/>
          </a:xfrm>
          <a:prstGeom prst="rect">
            <a:avLst/>
          </a:prstGeom>
          <a:noFill/>
          <a:ln/>
        </p:spPr>
        <p:txBody>
          <a:bodyPr wrap="square" lIns="0" tIns="0" rIns="0" bIns="0" rtlCol="0" anchor="ctr"/>
          <a:lstStyle/>
          <a:p>
            <a:pPr indent="0" marL="0">
              <a:buNone/>
            </a:pPr>
            <a:r>
              <a:rPr lang="en-US" sz="2000" b="1" dirty="0">
                <a:solidFill>
                  <a:srgbClr val="E2001A"/>
                </a:solidFill>
                <a:latin typeface="Cambria" pitchFamily="34" charset="0"/>
                <a:ea typeface="Cambria" pitchFamily="34" charset="-122"/>
                <a:cs typeface="Cambria" pitchFamily="34" charset="-120"/>
              </a:rPr>
              <a:t>4</a:t>
            </a:r>
            <a:endParaRPr lang="en-US" sz="2000" dirty="0"/>
          </a:p>
        </p:txBody>
      </p:sp>
      <p:sp>
        <p:nvSpPr>
          <p:cNvPr id="16" name="Text 13"/>
          <p:cNvSpPr/>
          <p:nvPr/>
        </p:nvSpPr>
        <p:spPr>
          <a:xfrm>
            <a:off x="7269480" y="5001768"/>
            <a:ext cx="4206240" cy="274320"/>
          </a:xfrm>
          <a:prstGeom prst="rect">
            <a:avLst/>
          </a:prstGeom>
          <a:noFill/>
          <a:ln/>
        </p:spPr>
        <p:txBody>
          <a:bodyPr wrap="square" lIns="0" tIns="0" rIns="0" bIns="0" rtlCol="0" anchor="ctr"/>
          <a:lstStyle/>
          <a:p>
            <a:pPr indent="0" marL="0">
              <a:buNone/>
            </a:pPr>
            <a:r>
              <a:rPr lang="en-US" sz="1350" b="1" dirty="0">
                <a:solidFill>
                  <a:srgbClr val="16202E"/>
                </a:solidFill>
                <a:latin typeface="Calibri" pitchFamily="34" charset="0"/>
                <a:ea typeface="Calibri" pitchFamily="34" charset="-122"/>
                <a:cs typeface="Calibri" pitchFamily="34" charset="-120"/>
              </a:rPr>
              <a:t>Hard ceilings</a:t>
            </a:r>
            <a:endParaRPr lang="en-US" sz="1350" dirty="0"/>
          </a:p>
        </p:txBody>
      </p:sp>
      <p:sp>
        <p:nvSpPr>
          <p:cNvPr id="17" name="Text 14"/>
          <p:cNvSpPr/>
          <p:nvPr/>
        </p:nvSpPr>
        <p:spPr>
          <a:xfrm>
            <a:off x="7269480" y="5312664"/>
            <a:ext cx="4297680" cy="621792"/>
          </a:xfrm>
          <a:prstGeom prst="rect">
            <a:avLst/>
          </a:prstGeom>
          <a:noFill/>
          <a:ln/>
        </p:spPr>
        <p:txBody>
          <a:bodyPr wrap="square" lIns="0" tIns="0" rIns="0" bIns="0" rtlCol="0" anchor="ctr"/>
          <a:lstStyle/>
          <a:p>
            <a:pPr indent="0" marL="0">
              <a:lnSpc>
                <a:spcPts val="1400"/>
              </a:lnSpc>
              <a:buNone/>
            </a:pPr>
            <a:r>
              <a:rPr lang="en-US" sz="1100" dirty="0">
                <a:solidFill>
                  <a:srgbClr val="5C6B80"/>
                </a:solidFill>
                <a:latin typeface="Calibri" pitchFamily="34" charset="0"/>
                <a:ea typeface="Calibri" pitchFamily="34" charset="-122"/>
                <a:cs typeface="Calibri" pitchFamily="34" charset="-120"/>
              </a:rPr>
              <a:t>Per request, per session, per tenant per day. A runaway loop stops itself; the gateway is the backstop.</a:t>
            </a:r>
            <a:endParaRPr lang="en-US" sz="1100" dirty="0"/>
          </a:p>
        </p:txBody>
      </p:sp>
      <p:sp>
        <p:nvSpPr>
          <p:cNvPr id="18" name="Text 15"/>
          <p:cNvSpPr/>
          <p:nvPr/>
        </p:nvSpPr>
        <p:spPr>
          <a:xfrm>
            <a:off x="594360" y="5806440"/>
            <a:ext cx="10972800" cy="329184"/>
          </a:xfrm>
          <a:prstGeom prst="rect">
            <a:avLst/>
          </a:prstGeom>
          <a:noFill/>
          <a:ln/>
        </p:spPr>
        <p:txBody>
          <a:bodyPr wrap="square" lIns="0" tIns="0" rIns="0" bIns="0" rtlCol="0" anchor="ctr"/>
          <a:lstStyle/>
          <a:p>
            <a:pPr indent="0" marL="0">
              <a:buNone/>
            </a:pPr>
            <a:r>
              <a:rPr lang="en-US" sz="1250" b="1" dirty="0">
                <a:solidFill>
                  <a:srgbClr val="16202E"/>
                </a:solidFill>
                <a:latin typeface="Calibri" pitchFamily="34" charset="0"/>
                <a:ea typeface="Calibri" pitchFamily="34" charset="-122"/>
                <a:cs typeface="Calibri" pitchFamily="34" charset="-120"/>
              </a:rPr>
              <a:t>Measured per resolved conversation, not per call.  </a:t>
            </a:r>
            <a:pPr indent="0" marL="0">
              <a:buNone/>
            </a:pPr>
            <a:r>
              <a:rPr lang="en-US" sz="1250" dirty="0">
                <a:solidFill>
                  <a:srgbClr val="5C6B80"/>
                </a:solidFill>
                <a:latin typeface="Calibri" pitchFamily="34" charset="0"/>
                <a:ea typeface="Calibri" pitchFamily="34" charset="-122"/>
                <a:cs typeface="Calibri" pitchFamily="34" charset="-120"/>
              </a:rPr>
              <a:t>An agent that is cheap per call and never resolves anything is expensive.</a:t>
            </a:r>
            <a:endParaRPr lang="en-US" sz="1250" dirty="0"/>
          </a:p>
        </p:txBody>
      </p:sp>
      <p:sp>
        <p:nvSpPr>
          <p:cNvPr id="19" name="Text 16"/>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Every tool, and the job it does</a:t>
            </a:r>
            <a:endParaRPr lang="en-US" sz="3300" dirty="0"/>
          </a:p>
        </p:txBody>
      </p:sp>
      <p:sp>
        <p:nvSpPr>
          <p:cNvPr id="4" name="Shape 2"/>
          <p:cNvSpPr/>
          <p:nvPr/>
        </p:nvSpPr>
        <p:spPr>
          <a:xfrm>
            <a:off x="594360" y="1618488"/>
            <a:ext cx="118872" cy="118872"/>
          </a:xfrm>
          <a:prstGeom prst="ellipse">
            <a:avLst/>
          </a:prstGeom>
          <a:solidFill>
            <a:srgbClr val="E2001A"/>
          </a:solidFill>
          <a:ln w="12700">
            <a:solidFill>
              <a:srgbClr val="E2001A"/>
            </a:solidFill>
            <a:prstDash val="solid"/>
          </a:ln>
        </p:spPr>
      </p:sp>
      <p:sp>
        <p:nvSpPr>
          <p:cNvPr id="5" name="Text 3"/>
          <p:cNvSpPr/>
          <p:nvPr/>
        </p:nvSpPr>
        <p:spPr>
          <a:xfrm>
            <a:off x="868680" y="1508760"/>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Azure Container Apps</a:t>
            </a:r>
            <a:endParaRPr lang="en-US" sz="1200" dirty="0"/>
          </a:p>
        </p:txBody>
      </p:sp>
      <p:sp>
        <p:nvSpPr>
          <p:cNvPr id="6" name="Text 4"/>
          <p:cNvSpPr/>
          <p:nvPr/>
        </p:nvSpPr>
        <p:spPr>
          <a:xfrm>
            <a:off x="5120640" y="1527048"/>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Runs agents and the gateway — revisions, traffic splitting, autoscaling, managed identity, without operating Kubernetes.</a:t>
            </a:r>
            <a:endParaRPr lang="en-US" sz="1150" dirty="0"/>
          </a:p>
        </p:txBody>
      </p:sp>
      <p:sp>
        <p:nvSpPr>
          <p:cNvPr id="7" name="Shape 5"/>
          <p:cNvSpPr/>
          <p:nvPr/>
        </p:nvSpPr>
        <p:spPr>
          <a:xfrm>
            <a:off x="594360" y="2148840"/>
            <a:ext cx="118872" cy="118872"/>
          </a:xfrm>
          <a:prstGeom prst="ellipse">
            <a:avLst/>
          </a:prstGeom>
          <a:solidFill>
            <a:srgbClr val="E2001A"/>
          </a:solidFill>
          <a:ln w="12700">
            <a:solidFill>
              <a:srgbClr val="E2001A"/>
            </a:solidFill>
            <a:prstDash val="solid"/>
          </a:ln>
        </p:spPr>
      </p:sp>
      <p:sp>
        <p:nvSpPr>
          <p:cNvPr id="8" name="Text 6"/>
          <p:cNvSpPr/>
          <p:nvPr/>
        </p:nvSpPr>
        <p:spPr>
          <a:xfrm>
            <a:off x="868680" y="2039112"/>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Azure OpenAI ×2 EU regions</a:t>
            </a:r>
            <a:endParaRPr lang="en-US" sz="1200" dirty="0"/>
          </a:p>
        </p:txBody>
      </p:sp>
      <p:sp>
        <p:nvSpPr>
          <p:cNvPr id="9" name="Text 7"/>
          <p:cNvSpPr/>
          <p:nvPr/>
        </p:nvSpPr>
        <p:spPr>
          <a:xfrm>
            <a:off x="5120640" y="2057400"/>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The models. The second region is failover and a second quota pool.</a:t>
            </a:r>
            <a:endParaRPr lang="en-US" sz="1150" dirty="0"/>
          </a:p>
        </p:txBody>
      </p:sp>
      <p:sp>
        <p:nvSpPr>
          <p:cNvPr id="10" name="Shape 8"/>
          <p:cNvSpPr/>
          <p:nvPr/>
        </p:nvSpPr>
        <p:spPr>
          <a:xfrm>
            <a:off x="594360" y="2679192"/>
            <a:ext cx="118872" cy="118872"/>
          </a:xfrm>
          <a:prstGeom prst="ellipse">
            <a:avLst/>
          </a:prstGeom>
          <a:solidFill>
            <a:srgbClr val="E2001A"/>
          </a:solidFill>
          <a:ln w="12700">
            <a:solidFill>
              <a:srgbClr val="E2001A"/>
            </a:solidFill>
            <a:prstDash val="solid"/>
          </a:ln>
        </p:spPr>
      </p:sp>
      <p:sp>
        <p:nvSpPr>
          <p:cNvPr id="11" name="Text 9"/>
          <p:cNvSpPr/>
          <p:nvPr/>
        </p:nvSpPr>
        <p:spPr>
          <a:xfrm>
            <a:off x="868680" y="2569464"/>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LiteLLM</a:t>
            </a:r>
            <a:endParaRPr lang="en-US" sz="1200" dirty="0"/>
          </a:p>
        </p:txBody>
      </p:sp>
      <p:sp>
        <p:nvSpPr>
          <p:cNvPr id="12" name="Text 10"/>
          <p:cNvSpPr/>
          <p:nvPr/>
        </p:nvSpPr>
        <p:spPr>
          <a:xfrm>
            <a:off x="5120640" y="2587752"/>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The only path to a model. Keys, entitlement, limits, budgets, failover, cache, cost attribution.</a:t>
            </a:r>
            <a:endParaRPr lang="en-US" sz="1150" dirty="0"/>
          </a:p>
        </p:txBody>
      </p:sp>
      <p:sp>
        <p:nvSpPr>
          <p:cNvPr id="13" name="Shape 11"/>
          <p:cNvSpPr/>
          <p:nvPr/>
        </p:nvSpPr>
        <p:spPr>
          <a:xfrm>
            <a:off x="594360" y="3209544"/>
            <a:ext cx="118872" cy="118872"/>
          </a:xfrm>
          <a:prstGeom prst="ellipse">
            <a:avLst/>
          </a:prstGeom>
          <a:solidFill>
            <a:srgbClr val="E2001A"/>
          </a:solidFill>
          <a:ln w="12700">
            <a:solidFill>
              <a:srgbClr val="E2001A"/>
            </a:solidFill>
            <a:prstDash val="solid"/>
          </a:ln>
        </p:spPr>
      </p:sp>
      <p:sp>
        <p:nvSpPr>
          <p:cNvPr id="14" name="Text 12"/>
          <p:cNvSpPr/>
          <p:nvPr/>
        </p:nvSpPr>
        <p:spPr>
          <a:xfrm>
            <a:off x="868680" y="3099816"/>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Terraform</a:t>
            </a:r>
            <a:endParaRPr lang="en-US" sz="1200" dirty="0"/>
          </a:p>
        </p:txBody>
      </p:sp>
      <p:sp>
        <p:nvSpPr>
          <p:cNvPr id="15" name="Text 13"/>
          <p:cNvSpPr/>
          <p:nvPr/>
        </p:nvSpPr>
        <p:spPr>
          <a:xfrm>
            <a:off x="5120640" y="3118104"/>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Every Azure resource, reviewed as a plan diff, applied only by the pipeline.</a:t>
            </a:r>
            <a:endParaRPr lang="en-US" sz="1150" dirty="0"/>
          </a:p>
        </p:txBody>
      </p:sp>
      <p:sp>
        <p:nvSpPr>
          <p:cNvPr id="16" name="Shape 14"/>
          <p:cNvSpPr/>
          <p:nvPr/>
        </p:nvSpPr>
        <p:spPr>
          <a:xfrm>
            <a:off x="594360" y="3739896"/>
            <a:ext cx="118872" cy="118872"/>
          </a:xfrm>
          <a:prstGeom prst="ellipse">
            <a:avLst/>
          </a:prstGeom>
          <a:solidFill>
            <a:srgbClr val="E2001A"/>
          </a:solidFill>
          <a:ln w="12700">
            <a:solidFill>
              <a:srgbClr val="E2001A"/>
            </a:solidFill>
            <a:prstDash val="solid"/>
          </a:ln>
        </p:spPr>
      </p:sp>
      <p:sp>
        <p:nvSpPr>
          <p:cNvPr id="17" name="Text 15"/>
          <p:cNvSpPr/>
          <p:nvPr/>
        </p:nvSpPr>
        <p:spPr>
          <a:xfrm>
            <a:off x="868680" y="3630168"/>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GitHub Actions</a:t>
            </a:r>
            <a:endParaRPr lang="en-US" sz="1200" dirty="0"/>
          </a:p>
        </p:txBody>
      </p:sp>
      <p:sp>
        <p:nvSpPr>
          <p:cNvPr id="18" name="Text 16"/>
          <p:cNvSpPr/>
          <p:nvPr/>
        </p:nvSpPr>
        <p:spPr>
          <a:xfrm>
            <a:off x="5120640" y="3648456"/>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The only path to production. Eval gate, plan on PR, OIDC apply, signed images, canary release.</a:t>
            </a:r>
            <a:endParaRPr lang="en-US" sz="1150" dirty="0"/>
          </a:p>
        </p:txBody>
      </p:sp>
      <p:sp>
        <p:nvSpPr>
          <p:cNvPr id="19" name="Shape 17"/>
          <p:cNvSpPr/>
          <p:nvPr/>
        </p:nvSpPr>
        <p:spPr>
          <a:xfrm>
            <a:off x="594360" y="4270248"/>
            <a:ext cx="118872" cy="118872"/>
          </a:xfrm>
          <a:prstGeom prst="ellipse">
            <a:avLst/>
          </a:prstGeom>
          <a:solidFill>
            <a:srgbClr val="E2001A"/>
          </a:solidFill>
          <a:ln w="12700">
            <a:solidFill>
              <a:srgbClr val="E2001A"/>
            </a:solidFill>
            <a:prstDash val="solid"/>
          </a:ln>
        </p:spPr>
      </p:sp>
      <p:sp>
        <p:nvSpPr>
          <p:cNvPr id="20" name="Text 18"/>
          <p:cNvSpPr/>
          <p:nvPr/>
        </p:nvSpPr>
        <p:spPr>
          <a:xfrm>
            <a:off x="868680" y="4160520"/>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OpenTelemetry · Azure Monitor · Grafana</a:t>
            </a:r>
            <a:endParaRPr lang="en-US" sz="1200" dirty="0"/>
          </a:p>
        </p:txBody>
      </p:sp>
      <p:sp>
        <p:nvSpPr>
          <p:cNvPr id="21" name="Text 19"/>
          <p:cNvSpPr/>
          <p:nvPr/>
        </p:nvSpPr>
        <p:spPr>
          <a:xfrm>
            <a:off x="5120640" y="4178808"/>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Four signal families, and one trace that serves four different readers.</a:t>
            </a:r>
            <a:endParaRPr lang="en-US" sz="1150" dirty="0"/>
          </a:p>
        </p:txBody>
      </p:sp>
      <p:sp>
        <p:nvSpPr>
          <p:cNvPr id="22" name="Shape 20"/>
          <p:cNvSpPr/>
          <p:nvPr/>
        </p:nvSpPr>
        <p:spPr>
          <a:xfrm>
            <a:off x="594360" y="4800600"/>
            <a:ext cx="118872" cy="118872"/>
          </a:xfrm>
          <a:prstGeom prst="ellipse">
            <a:avLst/>
          </a:prstGeom>
          <a:solidFill>
            <a:srgbClr val="E2001A"/>
          </a:solidFill>
          <a:ln w="12700">
            <a:solidFill>
              <a:srgbClr val="E2001A"/>
            </a:solidFill>
            <a:prstDash val="solid"/>
          </a:ln>
        </p:spPr>
      </p:sp>
      <p:sp>
        <p:nvSpPr>
          <p:cNvPr id="23" name="Text 21"/>
          <p:cNvSpPr/>
          <p:nvPr/>
        </p:nvSpPr>
        <p:spPr>
          <a:xfrm>
            <a:off x="868680" y="4690872"/>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Key Vault + Entra ID</a:t>
            </a:r>
            <a:endParaRPr lang="en-US" sz="1200" dirty="0"/>
          </a:p>
        </p:txBody>
      </p:sp>
      <p:sp>
        <p:nvSpPr>
          <p:cNvPr id="24" name="Text 22"/>
          <p:cNvSpPr/>
          <p:nvPr/>
        </p:nvSpPr>
        <p:spPr>
          <a:xfrm>
            <a:off x="5120640" y="4709160"/>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No long-lived secret exists anywhere in the chain.</a:t>
            </a:r>
            <a:endParaRPr lang="en-US" sz="1150" dirty="0"/>
          </a:p>
        </p:txBody>
      </p:sp>
      <p:sp>
        <p:nvSpPr>
          <p:cNvPr id="25" name="Shape 23"/>
          <p:cNvSpPr/>
          <p:nvPr/>
        </p:nvSpPr>
        <p:spPr>
          <a:xfrm>
            <a:off x="594360" y="5330952"/>
            <a:ext cx="118872" cy="118872"/>
          </a:xfrm>
          <a:prstGeom prst="ellipse">
            <a:avLst/>
          </a:prstGeom>
          <a:solidFill>
            <a:srgbClr val="E2001A"/>
          </a:solidFill>
          <a:ln w="12700">
            <a:solidFill>
              <a:srgbClr val="E2001A"/>
            </a:solidFill>
            <a:prstDash val="solid"/>
          </a:ln>
        </p:spPr>
      </p:sp>
      <p:sp>
        <p:nvSpPr>
          <p:cNvPr id="26" name="Text 24"/>
          <p:cNvSpPr/>
          <p:nvPr/>
        </p:nvSpPr>
        <p:spPr>
          <a:xfrm>
            <a:off x="868680" y="5221224"/>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Azure AI Search</a:t>
            </a:r>
            <a:endParaRPr lang="en-US" sz="1200" dirty="0"/>
          </a:p>
        </p:txBody>
      </p:sp>
      <p:sp>
        <p:nvSpPr>
          <p:cNvPr id="27" name="Text 25"/>
          <p:cNvSpPr/>
          <p:nvPr/>
        </p:nvSpPr>
        <p:spPr>
          <a:xfrm>
            <a:off x="5120640" y="5239512"/>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Hybrid retrieval behind grounded answers, with a versioned index.</a:t>
            </a:r>
            <a:endParaRPr lang="en-US" sz="1150" dirty="0"/>
          </a:p>
        </p:txBody>
      </p:sp>
      <p:sp>
        <p:nvSpPr>
          <p:cNvPr id="28" name="Shape 26"/>
          <p:cNvSpPr/>
          <p:nvPr/>
        </p:nvSpPr>
        <p:spPr>
          <a:xfrm>
            <a:off x="594360" y="5861304"/>
            <a:ext cx="118872" cy="118872"/>
          </a:xfrm>
          <a:prstGeom prst="ellipse">
            <a:avLst/>
          </a:prstGeom>
          <a:solidFill>
            <a:srgbClr val="E2001A"/>
          </a:solidFill>
          <a:ln w="12700">
            <a:solidFill>
              <a:srgbClr val="E2001A"/>
            </a:solidFill>
            <a:prstDash val="solid"/>
          </a:ln>
        </p:spPr>
      </p:sp>
      <p:sp>
        <p:nvSpPr>
          <p:cNvPr id="29" name="Text 27"/>
          <p:cNvSpPr/>
          <p:nvPr/>
        </p:nvSpPr>
        <p:spPr>
          <a:xfrm>
            <a:off x="868680" y="5751576"/>
            <a:ext cx="411480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OPA · Checkov · Trivy · cosign</a:t>
            </a:r>
            <a:endParaRPr lang="en-US" sz="1200" dirty="0"/>
          </a:p>
        </p:txBody>
      </p:sp>
      <p:sp>
        <p:nvSpPr>
          <p:cNvPr id="30" name="Text 28"/>
          <p:cNvSpPr/>
          <p:nvPr/>
        </p:nvSpPr>
        <p:spPr>
          <a:xfrm>
            <a:off x="5120640" y="5769864"/>
            <a:ext cx="6355080" cy="310896"/>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Policy and supply chain, enforced in the pipeline rather than reviewed at the end.</a:t>
            </a:r>
            <a:endParaRPr lang="en-US" sz="1150" dirty="0"/>
          </a:p>
        </p:txBody>
      </p:sp>
      <p:sp>
        <p:nvSpPr>
          <p:cNvPr id="31" name="Text 29"/>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7315200" cy="256032"/>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594360" y="658368"/>
            <a:ext cx="9875520" cy="658368"/>
          </a:xfrm>
          <a:prstGeom prst="rect">
            <a:avLst/>
          </a:prstGeom>
          <a:noFill/>
          <a:ln/>
        </p:spPr>
        <p:txBody>
          <a:bodyPr wrap="square" lIns="0" tIns="0" rIns="0" bIns="0" rtlCol="0" anchor="t"/>
          <a:lstStyle/>
          <a:p>
            <a:pPr indent="0" marL="0">
              <a:buNone/>
            </a:pPr>
            <a:r>
              <a:rPr lang="en-US" sz="3300" b="1" dirty="0">
                <a:solidFill>
                  <a:srgbClr val="16202E"/>
                </a:solidFill>
                <a:latin typeface="Cambria" pitchFamily="34" charset="0"/>
                <a:ea typeface="Cambria" pitchFamily="34" charset="-122"/>
                <a:cs typeface="Cambria" pitchFamily="34" charset="-120"/>
              </a:rPr>
              <a:t>First 90 days</a:t>
            </a:r>
            <a:endParaRPr lang="en-US" sz="3300" dirty="0"/>
          </a:p>
        </p:txBody>
      </p:sp>
      <p:sp>
        <p:nvSpPr>
          <p:cNvPr id="4" name="Text 2"/>
          <p:cNvSpPr/>
          <p:nvPr/>
        </p:nvSpPr>
        <p:spPr>
          <a:xfrm>
            <a:off x="594360" y="1316736"/>
            <a:ext cx="10789920" cy="365760"/>
          </a:xfrm>
          <a:prstGeom prst="rect">
            <a:avLst/>
          </a:prstGeom>
          <a:noFill/>
          <a:ln/>
        </p:spPr>
        <p:txBody>
          <a:bodyPr wrap="square" lIns="0" tIns="0" rIns="0" bIns="0" rtlCol="0" anchor="t"/>
          <a:lstStyle/>
          <a:p>
            <a:pPr indent="0" marL="0">
              <a:buNone/>
            </a:pPr>
            <a:r>
              <a:rPr lang="en-US" sz="1350" i="1" dirty="0">
                <a:solidFill>
                  <a:srgbClr val="5C6B80"/>
                </a:solidFill>
                <a:latin typeface="Calibri" pitchFamily="34" charset="0"/>
                <a:ea typeface="Calibri" pitchFamily="34" charset="-122"/>
                <a:cs typeface="Calibri" pitchFamily="34" charset="-120"/>
              </a:rPr>
              <a:t>Enforcement, then measurement, then self-service — sequenced by what unblocks the most other work, not by what demos best.</a:t>
            </a:r>
            <a:endParaRPr lang="en-US" sz="1350" dirty="0"/>
          </a:p>
        </p:txBody>
      </p:sp>
      <p:sp>
        <p:nvSpPr>
          <p:cNvPr id="5" name="Shape 3"/>
          <p:cNvSpPr/>
          <p:nvPr/>
        </p:nvSpPr>
        <p:spPr>
          <a:xfrm>
            <a:off x="594360" y="1874520"/>
            <a:ext cx="3520440" cy="3611880"/>
          </a:xfrm>
          <a:prstGeom prst="roundRect">
            <a:avLst>
              <a:gd name="adj" fmla="val 1818"/>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6" name="Text 4"/>
          <p:cNvSpPr/>
          <p:nvPr/>
        </p:nvSpPr>
        <p:spPr>
          <a:xfrm>
            <a:off x="868680" y="2048256"/>
            <a:ext cx="2926080" cy="274320"/>
          </a:xfrm>
          <a:prstGeom prst="rect">
            <a:avLst/>
          </a:prstGeom>
          <a:noFill/>
          <a:ln/>
        </p:spPr>
        <p:txBody>
          <a:bodyPr wrap="square" lIns="0" tIns="0" rIns="0" bIns="0" rtlCol="0" anchor="ctr"/>
          <a:lstStyle/>
          <a:p>
            <a:pPr indent="0" marL="0">
              <a:buNone/>
            </a:pPr>
            <a:r>
              <a:rPr lang="en-US" sz="1100" b="1" spc="180" kern="0" dirty="0">
                <a:solidFill>
                  <a:srgbClr val="E2001A"/>
                </a:solidFill>
                <a:latin typeface="Calibri" pitchFamily="34" charset="0"/>
                <a:ea typeface="Calibri" pitchFamily="34" charset="-122"/>
                <a:cs typeface="Calibri" pitchFamily="34" charset="-120"/>
              </a:rPr>
              <a:t>DAYS 1-30</a:t>
            </a:r>
            <a:endParaRPr lang="en-US" sz="1100" dirty="0"/>
          </a:p>
        </p:txBody>
      </p:sp>
      <p:sp>
        <p:nvSpPr>
          <p:cNvPr id="7" name="Text 5"/>
          <p:cNvSpPr/>
          <p:nvPr/>
        </p:nvSpPr>
        <p:spPr>
          <a:xfrm>
            <a:off x="868680" y="2359152"/>
            <a:ext cx="2971800" cy="685800"/>
          </a:xfrm>
          <a:prstGeom prst="rect">
            <a:avLst/>
          </a:prstGeom>
          <a:noFill/>
          <a:ln/>
        </p:spPr>
        <p:txBody>
          <a:bodyPr wrap="square" lIns="0" tIns="0" rIns="0" bIns="0" rtlCol="0" anchor="t"/>
          <a:lstStyle/>
          <a:p>
            <a:pPr indent="0" marL="0">
              <a:lnSpc>
                <a:spcPts val="2200"/>
              </a:lnSpc>
              <a:buNone/>
            </a:pPr>
            <a:r>
              <a:rPr lang="en-US" sz="1700" b="1" dirty="0">
                <a:solidFill>
                  <a:srgbClr val="16202E"/>
                </a:solidFill>
                <a:latin typeface="Cambria" pitchFamily="34" charset="0"/>
                <a:ea typeface="Cambria" pitchFamily="34" charset="-122"/>
                <a:cs typeface="Cambria" pitchFamily="34" charset="-120"/>
              </a:rPr>
              <a:t>Make model access safe and countable</a:t>
            </a:r>
            <a:endParaRPr lang="en-US" sz="1700" dirty="0"/>
          </a:p>
        </p:txBody>
      </p:sp>
      <p:sp>
        <p:nvSpPr>
          <p:cNvPr id="8" name="Text 6"/>
          <p:cNvSpPr/>
          <p:nvPr/>
        </p:nvSpPr>
        <p:spPr>
          <a:xfrm>
            <a:off x="868680" y="3127248"/>
            <a:ext cx="2971800" cy="141732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Stand up the gateway. Issue virtual keys to the teams already calling providers directly, then revoke their provider keys. Nothing else is enforceable until every call goes through one place.</a:t>
            </a:r>
            <a:endParaRPr lang="en-US" sz="1150" dirty="0"/>
          </a:p>
        </p:txBody>
      </p:sp>
      <p:sp>
        <p:nvSpPr>
          <p:cNvPr id="9" name="Shape 7"/>
          <p:cNvSpPr/>
          <p:nvPr/>
        </p:nvSpPr>
        <p:spPr>
          <a:xfrm>
            <a:off x="868680" y="4590288"/>
            <a:ext cx="2971800" cy="0"/>
          </a:xfrm>
          <a:prstGeom prst="line">
            <a:avLst/>
          </a:prstGeom>
          <a:noFill/>
          <a:ln w="12700">
            <a:solidFill>
              <a:srgbClr val="E1E7EF"/>
            </a:solidFill>
            <a:prstDash val="solid"/>
          </a:ln>
        </p:spPr>
      </p:sp>
      <p:sp>
        <p:nvSpPr>
          <p:cNvPr id="10" name="Text 8"/>
          <p:cNvSpPr/>
          <p:nvPr/>
        </p:nvSpPr>
        <p:spPr>
          <a:xfrm>
            <a:off x="868680" y="4681728"/>
            <a:ext cx="2971800" cy="237744"/>
          </a:xfrm>
          <a:prstGeom prst="rect">
            <a:avLst/>
          </a:prstGeom>
          <a:noFill/>
          <a:ln/>
        </p:spPr>
        <p:txBody>
          <a:bodyPr wrap="square" lIns="0" tIns="0" rIns="0" bIns="0" rtlCol="0" anchor="ctr"/>
          <a:lstStyle/>
          <a:p>
            <a:pPr indent="0" marL="0">
              <a:buNone/>
            </a:pPr>
            <a:r>
              <a:rPr lang="en-US" sz="950" b="1" spc="140" kern="0" dirty="0">
                <a:solidFill>
                  <a:srgbClr val="5C6B80"/>
                </a:solidFill>
                <a:latin typeface="Calibri" pitchFamily="34" charset="0"/>
                <a:ea typeface="Calibri" pitchFamily="34" charset="-122"/>
                <a:cs typeface="Calibri" pitchFamily="34" charset="-120"/>
              </a:rPr>
              <a:t>SUCCESS LOOKS LIKE</a:t>
            </a:r>
            <a:endParaRPr lang="en-US" sz="950" dirty="0"/>
          </a:p>
        </p:txBody>
      </p:sp>
      <p:sp>
        <p:nvSpPr>
          <p:cNvPr id="11" name="Text 9"/>
          <p:cNvSpPr/>
          <p:nvPr/>
        </p:nvSpPr>
        <p:spPr>
          <a:xfrm>
            <a:off x="868680" y="4937760"/>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16202E"/>
                </a:solidFill>
                <a:latin typeface="Calibri" pitchFamily="34" charset="0"/>
                <a:ea typeface="Calibri" pitchFamily="34" charset="-122"/>
                <a:cs typeface="Calibri" pitchFamily="34" charset="-120"/>
              </a:rPr>
              <a:t>100% of AI spend attributable to a key and a cost centre, on one dashboard.</a:t>
            </a:r>
            <a:endParaRPr lang="en-US" sz="1100" dirty="0"/>
          </a:p>
        </p:txBody>
      </p:sp>
      <p:sp>
        <p:nvSpPr>
          <p:cNvPr id="12" name="Shape 10"/>
          <p:cNvSpPr/>
          <p:nvPr/>
        </p:nvSpPr>
        <p:spPr>
          <a:xfrm>
            <a:off x="4389120" y="1874520"/>
            <a:ext cx="3520440" cy="3611880"/>
          </a:xfrm>
          <a:prstGeom prst="roundRect">
            <a:avLst>
              <a:gd name="adj" fmla="val 1818"/>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13" name="Text 11"/>
          <p:cNvSpPr/>
          <p:nvPr/>
        </p:nvSpPr>
        <p:spPr>
          <a:xfrm>
            <a:off x="4663440" y="2048256"/>
            <a:ext cx="2926080" cy="274320"/>
          </a:xfrm>
          <a:prstGeom prst="rect">
            <a:avLst/>
          </a:prstGeom>
          <a:noFill/>
          <a:ln/>
        </p:spPr>
        <p:txBody>
          <a:bodyPr wrap="square" lIns="0" tIns="0" rIns="0" bIns="0" rtlCol="0" anchor="ctr"/>
          <a:lstStyle/>
          <a:p>
            <a:pPr indent="0" marL="0">
              <a:buNone/>
            </a:pPr>
            <a:r>
              <a:rPr lang="en-US" sz="1100" b="1" spc="180" kern="0" dirty="0">
                <a:solidFill>
                  <a:srgbClr val="0F9BA8"/>
                </a:solidFill>
                <a:latin typeface="Calibri" pitchFamily="34" charset="0"/>
                <a:ea typeface="Calibri" pitchFamily="34" charset="-122"/>
                <a:cs typeface="Calibri" pitchFamily="34" charset="-120"/>
              </a:rPr>
              <a:t>DAYS 31-60</a:t>
            </a:r>
            <a:endParaRPr lang="en-US" sz="1100" dirty="0"/>
          </a:p>
        </p:txBody>
      </p:sp>
      <p:sp>
        <p:nvSpPr>
          <p:cNvPr id="14" name="Text 12"/>
          <p:cNvSpPr/>
          <p:nvPr/>
        </p:nvSpPr>
        <p:spPr>
          <a:xfrm>
            <a:off x="4663440" y="2359152"/>
            <a:ext cx="2971800" cy="685800"/>
          </a:xfrm>
          <a:prstGeom prst="rect">
            <a:avLst/>
          </a:prstGeom>
          <a:noFill/>
          <a:ln/>
        </p:spPr>
        <p:txBody>
          <a:bodyPr wrap="square" lIns="0" tIns="0" rIns="0" bIns="0" rtlCol="0" anchor="t"/>
          <a:lstStyle/>
          <a:p>
            <a:pPr indent="0" marL="0">
              <a:lnSpc>
                <a:spcPts val="2200"/>
              </a:lnSpc>
              <a:buNone/>
            </a:pPr>
            <a:r>
              <a:rPr lang="en-US" sz="1700" b="1" dirty="0">
                <a:solidFill>
                  <a:srgbClr val="16202E"/>
                </a:solidFill>
                <a:latin typeface="Cambria" pitchFamily="34" charset="0"/>
                <a:ea typeface="Cambria" pitchFamily="34" charset="-122"/>
                <a:cs typeface="Cambria" pitchFamily="34" charset="-120"/>
              </a:rPr>
              <a:t>Make quality measurable</a:t>
            </a:r>
            <a:endParaRPr lang="en-US" sz="1700" dirty="0"/>
          </a:p>
        </p:txBody>
      </p:sp>
      <p:sp>
        <p:nvSpPr>
          <p:cNvPr id="15" name="Text 13"/>
          <p:cNvSpPr/>
          <p:nvPr/>
        </p:nvSpPr>
        <p:spPr>
          <a:xfrm>
            <a:off x="4663440" y="3127248"/>
            <a:ext cx="2971800" cy="141732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Ship the eval harness and the guardrail library as platform capabilities. Make the eval gate a required check on the first tenant repo.</a:t>
            </a:r>
            <a:endParaRPr lang="en-US" sz="1150" dirty="0"/>
          </a:p>
        </p:txBody>
      </p:sp>
      <p:sp>
        <p:nvSpPr>
          <p:cNvPr id="16" name="Shape 14"/>
          <p:cNvSpPr/>
          <p:nvPr/>
        </p:nvSpPr>
        <p:spPr>
          <a:xfrm>
            <a:off x="4663440" y="4590288"/>
            <a:ext cx="2971800" cy="0"/>
          </a:xfrm>
          <a:prstGeom prst="line">
            <a:avLst/>
          </a:prstGeom>
          <a:noFill/>
          <a:ln w="12700">
            <a:solidFill>
              <a:srgbClr val="E1E7EF"/>
            </a:solidFill>
            <a:prstDash val="solid"/>
          </a:ln>
        </p:spPr>
      </p:sp>
      <p:sp>
        <p:nvSpPr>
          <p:cNvPr id="17" name="Text 15"/>
          <p:cNvSpPr/>
          <p:nvPr/>
        </p:nvSpPr>
        <p:spPr>
          <a:xfrm>
            <a:off x="4663440" y="4681728"/>
            <a:ext cx="2971800" cy="237744"/>
          </a:xfrm>
          <a:prstGeom prst="rect">
            <a:avLst/>
          </a:prstGeom>
          <a:noFill/>
          <a:ln/>
        </p:spPr>
        <p:txBody>
          <a:bodyPr wrap="square" lIns="0" tIns="0" rIns="0" bIns="0" rtlCol="0" anchor="ctr"/>
          <a:lstStyle/>
          <a:p>
            <a:pPr indent="0" marL="0">
              <a:buNone/>
            </a:pPr>
            <a:r>
              <a:rPr lang="en-US" sz="950" b="1" spc="140" kern="0" dirty="0">
                <a:solidFill>
                  <a:srgbClr val="5C6B80"/>
                </a:solidFill>
                <a:latin typeface="Calibri" pitchFamily="34" charset="0"/>
                <a:ea typeface="Calibri" pitchFamily="34" charset="-122"/>
                <a:cs typeface="Calibri" pitchFamily="34" charset="-120"/>
              </a:rPr>
              <a:t>SUCCESS LOOKS LIKE</a:t>
            </a:r>
            <a:endParaRPr lang="en-US" sz="950" dirty="0"/>
          </a:p>
        </p:txBody>
      </p:sp>
      <p:sp>
        <p:nvSpPr>
          <p:cNvPr id="18" name="Text 16"/>
          <p:cNvSpPr/>
          <p:nvPr/>
        </p:nvSpPr>
        <p:spPr>
          <a:xfrm>
            <a:off x="4663440" y="4937760"/>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16202E"/>
                </a:solidFill>
                <a:latin typeface="Calibri" pitchFamily="34" charset="0"/>
                <a:ea typeface="Calibri" pitchFamily="34" charset="-122"/>
                <a:cs typeface="Calibri" pitchFamily="34" charset="-120"/>
              </a:rPr>
              <a:t>A team physically cannot merge a change that regresses safety — and can see exactly why on the PR.</a:t>
            </a:r>
            <a:endParaRPr lang="en-US" sz="1100" dirty="0"/>
          </a:p>
        </p:txBody>
      </p:sp>
      <p:sp>
        <p:nvSpPr>
          <p:cNvPr id="19" name="Shape 17"/>
          <p:cNvSpPr/>
          <p:nvPr/>
        </p:nvSpPr>
        <p:spPr>
          <a:xfrm>
            <a:off x="8183880" y="1874520"/>
            <a:ext cx="3520440" cy="3611880"/>
          </a:xfrm>
          <a:prstGeom prst="roundRect">
            <a:avLst>
              <a:gd name="adj" fmla="val 1818"/>
            </a:avLst>
          </a:prstGeom>
          <a:solidFill>
            <a:srgbClr val="F1F4F8"/>
          </a:solidFill>
          <a:ln w="12700">
            <a:solidFill>
              <a:srgbClr val="E1E7EF"/>
            </a:solidFill>
            <a:prstDash val="solid"/>
          </a:ln>
          <a:effectLst>
            <a:outerShdw sx="100000" sy="100000" kx="0" ky="0" algn="bl" rotWithShape="0" blurRad="127000" dist="25400" dir="5400000">
              <a:srgbClr val="000000">
                <a:alpha val="14000"/>
              </a:srgbClr>
            </a:outerShdw>
          </a:effectLst>
        </p:spPr>
      </p:sp>
      <p:sp>
        <p:nvSpPr>
          <p:cNvPr id="20" name="Text 18"/>
          <p:cNvSpPr/>
          <p:nvPr/>
        </p:nvSpPr>
        <p:spPr>
          <a:xfrm>
            <a:off x="8458200" y="2048256"/>
            <a:ext cx="2926080" cy="274320"/>
          </a:xfrm>
          <a:prstGeom prst="rect">
            <a:avLst/>
          </a:prstGeom>
          <a:noFill/>
          <a:ln/>
        </p:spPr>
        <p:txBody>
          <a:bodyPr wrap="square" lIns="0" tIns="0" rIns="0" bIns="0" rtlCol="0" anchor="ctr"/>
          <a:lstStyle/>
          <a:p>
            <a:pPr indent="0" marL="0">
              <a:buNone/>
            </a:pPr>
            <a:r>
              <a:rPr lang="en-US" sz="1100" b="1" spc="180" kern="0" dirty="0">
                <a:solidFill>
                  <a:srgbClr val="B77400"/>
                </a:solidFill>
                <a:latin typeface="Calibri" pitchFamily="34" charset="0"/>
                <a:ea typeface="Calibri" pitchFamily="34" charset="-122"/>
                <a:cs typeface="Calibri" pitchFamily="34" charset="-120"/>
              </a:rPr>
              <a:t>DAYS 61-90</a:t>
            </a:r>
            <a:endParaRPr lang="en-US" sz="1100" dirty="0"/>
          </a:p>
        </p:txBody>
      </p:sp>
      <p:sp>
        <p:nvSpPr>
          <p:cNvPr id="21" name="Text 19"/>
          <p:cNvSpPr/>
          <p:nvPr/>
        </p:nvSpPr>
        <p:spPr>
          <a:xfrm>
            <a:off x="8458200" y="2359152"/>
            <a:ext cx="2971800" cy="685800"/>
          </a:xfrm>
          <a:prstGeom prst="rect">
            <a:avLst/>
          </a:prstGeom>
          <a:noFill/>
          <a:ln/>
        </p:spPr>
        <p:txBody>
          <a:bodyPr wrap="square" lIns="0" tIns="0" rIns="0" bIns="0" rtlCol="0" anchor="t"/>
          <a:lstStyle/>
          <a:p>
            <a:pPr indent="0" marL="0">
              <a:lnSpc>
                <a:spcPts val="2200"/>
              </a:lnSpc>
              <a:buNone/>
            </a:pPr>
            <a:r>
              <a:rPr lang="en-US" sz="1700" b="1" dirty="0">
                <a:solidFill>
                  <a:srgbClr val="16202E"/>
                </a:solidFill>
                <a:latin typeface="Cambria" pitchFamily="34" charset="0"/>
                <a:ea typeface="Cambria" pitchFamily="34" charset="-122"/>
                <a:cs typeface="Cambria" pitchFamily="34" charset="-120"/>
              </a:rPr>
              <a:t>Make onboarding cheap</a:t>
            </a:r>
            <a:endParaRPr lang="en-US" sz="1700" dirty="0"/>
          </a:p>
        </p:txBody>
      </p:sp>
      <p:sp>
        <p:nvSpPr>
          <p:cNvPr id="22" name="Text 20"/>
          <p:cNvSpPr/>
          <p:nvPr/>
        </p:nvSpPr>
        <p:spPr>
          <a:xfrm>
            <a:off x="8458200" y="3127248"/>
            <a:ext cx="2971800" cy="1417320"/>
          </a:xfrm>
          <a:prstGeom prst="rect">
            <a:avLst/>
          </a:prstGeom>
          <a:noFill/>
          <a:ln/>
        </p:spPr>
        <p:txBody>
          <a:bodyPr wrap="square" lIns="0" tIns="0" rIns="0" bIns="0" rtlCol="0" anchor="ctr"/>
          <a:lstStyle/>
          <a:p>
            <a:pPr indent="0" marL="0">
              <a:lnSpc>
                <a:spcPts val="1600"/>
              </a:lnSpc>
              <a:buNone/>
            </a:pPr>
            <a:r>
              <a:rPr lang="en-US" sz="1150" dirty="0">
                <a:solidFill>
                  <a:srgbClr val="5C6B80"/>
                </a:solidFill>
                <a:latin typeface="Calibri" pitchFamily="34" charset="0"/>
                <a:ea typeface="Calibri" pitchFamily="34" charset="-122"/>
                <a:cs typeface="Calibri" pitchFamily="34" charset="-120"/>
              </a:rPr>
              <a:t>Golden-path template, the agents map in Terraform, the adoption scorecard published in the internal catalogue.</a:t>
            </a:r>
            <a:endParaRPr lang="en-US" sz="1150" dirty="0"/>
          </a:p>
        </p:txBody>
      </p:sp>
      <p:sp>
        <p:nvSpPr>
          <p:cNvPr id="23" name="Shape 21"/>
          <p:cNvSpPr/>
          <p:nvPr/>
        </p:nvSpPr>
        <p:spPr>
          <a:xfrm>
            <a:off x="8458200" y="4590288"/>
            <a:ext cx="2971800" cy="0"/>
          </a:xfrm>
          <a:prstGeom prst="line">
            <a:avLst/>
          </a:prstGeom>
          <a:noFill/>
          <a:ln w="12700">
            <a:solidFill>
              <a:srgbClr val="E1E7EF"/>
            </a:solidFill>
            <a:prstDash val="solid"/>
          </a:ln>
        </p:spPr>
      </p:sp>
      <p:sp>
        <p:nvSpPr>
          <p:cNvPr id="24" name="Text 22"/>
          <p:cNvSpPr/>
          <p:nvPr/>
        </p:nvSpPr>
        <p:spPr>
          <a:xfrm>
            <a:off x="8458200" y="4681728"/>
            <a:ext cx="2971800" cy="237744"/>
          </a:xfrm>
          <a:prstGeom prst="rect">
            <a:avLst/>
          </a:prstGeom>
          <a:noFill/>
          <a:ln/>
        </p:spPr>
        <p:txBody>
          <a:bodyPr wrap="square" lIns="0" tIns="0" rIns="0" bIns="0" rtlCol="0" anchor="ctr"/>
          <a:lstStyle/>
          <a:p>
            <a:pPr indent="0" marL="0">
              <a:buNone/>
            </a:pPr>
            <a:r>
              <a:rPr lang="en-US" sz="950" b="1" spc="140" kern="0" dirty="0">
                <a:solidFill>
                  <a:srgbClr val="5C6B80"/>
                </a:solidFill>
                <a:latin typeface="Calibri" pitchFamily="34" charset="0"/>
                <a:ea typeface="Calibri" pitchFamily="34" charset="-122"/>
                <a:cs typeface="Calibri" pitchFamily="34" charset="-120"/>
              </a:rPr>
              <a:t>SUCCESS LOOKS LIKE</a:t>
            </a:r>
            <a:endParaRPr lang="en-US" sz="950" dirty="0"/>
          </a:p>
        </p:txBody>
      </p:sp>
      <p:sp>
        <p:nvSpPr>
          <p:cNvPr id="25" name="Text 23"/>
          <p:cNvSpPr/>
          <p:nvPr/>
        </p:nvSpPr>
        <p:spPr>
          <a:xfrm>
            <a:off x="8458200" y="4937760"/>
            <a:ext cx="2971800" cy="502920"/>
          </a:xfrm>
          <a:prstGeom prst="rect">
            <a:avLst/>
          </a:prstGeom>
          <a:noFill/>
          <a:ln/>
        </p:spPr>
        <p:txBody>
          <a:bodyPr wrap="square" lIns="0" tIns="0" rIns="0" bIns="0" rtlCol="0" anchor="ctr"/>
          <a:lstStyle/>
          <a:p>
            <a:pPr indent="0" marL="0">
              <a:lnSpc>
                <a:spcPts val="1400"/>
              </a:lnSpc>
              <a:buNone/>
            </a:pPr>
            <a:r>
              <a:rPr lang="en-US" sz="1100" dirty="0">
                <a:solidFill>
                  <a:srgbClr val="16202E"/>
                </a:solidFill>
                <a:latin typeface="Calibri" pitchFamily="34" charset="0"/>
                <a:ea typeface="Calibri" pitchFamily="34" charset="-122"/>
                <a:cs typeface="Calibri" pitchFamily="34" charset="-120"/>
              </a:rPr>
              <a:t>Zero to a traced, guarded, evaluated agent in dev in under a day — one platform review, not a platform project.</a:t>
            </a:r>
            <a:endParaRPr lang="en-US" sz="1100" dirty="0"/>
          </a:p>
        </p:txBody>
      </p:sp>
      <p:sp>
        <p:nvSpPr>
          <p:cNvPr id="26" name="Text 24"/>
          <p:cNvSpPr/>
          <p:nvPr/>
        </p:nvSpPr>
        <p:spPr>
          <a:xfrm>
            <a:off x="594360" y="5742432"/>
            <a:ext cx="10972800" cy="329184"/>
          </a:xfrm>
          <a:prstGeom prst="rect">
            <a:avLst/>
          </a:prstGeom>
          <a:noFill/>
          <a:ln/>
        </p:spPr>
        <p:txBody>
          <a:bodyPr wrap="square" lIns="0" tIns="0" rIns="0" bIns="0" rtlCol="0" anchor="ctr"/>
          <a:lstStyle/>
          <a:p>
            <a:pPr indent="0" marL="0">
              <a:buNone/>
            </a:pPr>
            <a:r>
              <a:rPr lang="en-US" sz="1300" i="1" dirty="0">
                <a:solidFill>
                  <a:srgbClr val="E2001A"/>
                </a:solidFill>
                <a:latin typeface="Calibri" pitchFamily="34" charset="0"/>
                <a:ea typeface="Calibri" pitchFamily="34" charset="-122"/>
                <a:cs typeface="Calibri" pitchFamily="34" charset="-120"/>
              </a:rPr>
              <a:t>Self-service built on unmeasured, unenforced access just multiplies the problem faster.</a:t>
            </a:r>
            <a:endParaRPr lang="en-US" sz="1300" dirty="0"/>
          </a:p>
        </p:txBody>
      </p:sp>
      <p:sp>
        <p:nvSpPr>
          <p:cNvPr id="27" name="Text 25"/>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AAB6C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31A"/>
        </a:solidFill>
      </p:bgPr>
    </p:bg>
    <p:spTree>
      <p:nvGrpSpPr>
        <p:cNvPr id="1" name=""/>
        <p:cNvGrpSpPr/>
        <p:nvPr/>
      </p:nvGrpSpPr>
      <p:grpSpPr>
        <a:xfrm>
          <a:off x="0" y="0"/>
          <a:ext cx="0" cy="0"/>
          <a:chOff x="0" y="0"/>
          <a:chExt cx="0" cy="0"/>
        </a:xfrm>
      </p:grpSpPr>
      <p:sp>
        <p:nvSpPr>
          <p:cNvPr id="2" name="Text 0"/>
          <p:cNvSpPr/>
          <p:nvPr/>
        </p:nvSpPr>
        <p:spPr>
          <a:xfrm>
            <a:off x="594360" y="1097280"/>
            <a:ext cx="7315200" cy="274320"/>
          </a:xfrm>
          <a:prstGeom prst="rect">
            <a:avLst/>
          </a:prstGeom>
          <a:noFill/>
          <a:ln/>
        </p:spPr>
        <p:txBody>
          <a:bodyPr wrap="square" lIns="0" tIns="0" rIns="0" bIns="0" rtlCol="0" anchor="ctr"/>
          <a:lstStyle/>
          <a:p>
            <a:pPr indent="0" marL="0">
              <a:buNone/>
            </a:pPr>
            <a:r>
              <a:rPr lang="en-US" sz="1100" b="1" spc="240" kern="0" dirty="0">
                <a:solidFill>
                  <a:srgbClr val="E2001A"/>
                </a:solidFill>
                <a:latin typeface="Calibri" pitchFamily="34" charset="0"/>
                <a:ea typeface="Calibri" pitchFamily="34" charset="-122"/>
                <a:cs typeface="Calibri" pitchFamily="34" charset="-120"/>
              </a:rPr>
              <a:t>WHAT THIS IS</a:t>
            </a:r>
            <a:endParaRPr lang="en-US" sz="1100" dirty="0"/>
          </a:p>
        </p:txBody>
      </p:sp>
      <p:sp>
        <p:nvSpPr>
          <p:cNvPr id="3" name="Text 1"/>
          <p:cNvSpPr/>
          <p:nvPr/>
        </p:nvSpPr>
        <p:spPr>
          <a:xfrm>
            <a:off x="594360" y="1481328"/>
            <a:ext cx="10881360" cy="1371600"/>
          </a:xfrm>
          <a:prstGeom prst="rect">
            <a:avLst/>
          </a:prstGeom>
          <a:noFill/>
          <a:ln/>
        </p:spPr>
        <p:txBody>
          <a:bodyPr wrap="square" lIns="0" tIns="0" rIns="0" bIns="0" rtlCol="0" anchor="ctr"/>
          <a:lstStyle/>
          <a:p>
            <a:pPr indent="0" marL="0">
              <a:lnSpc>
                <a:spcPts val="5000"/>
              </a:lnSpc>
              <a:buNone/>
            </a:pPr>
            <a:r>
              <a:rPr lang="en-US" sz="3800" b="1" dirty="0">
                <a:solidFill>
                  <a:srgbClr val="FFFFFF"/>
                </a:solidFill>
                <a:latin typeface="Cambria" pitchFamily="34" charset="0"/>
                <a:ea typeface="Cambria" pitchFamily="34" charset="-122"/>
                <a:cs typeface="Cambria" pitchFamily="34" charset="-120"/>
              </a:rPr>
              <a:t>Not a deck about a platform.</a:t>
            </a:r>
            <a:endParaRPr lang="en-US" sz="3800" dirty="0"/>
          </a:p>
          <a:p>
            <a:pPr indent="0" marL="0">
              <a:lnSpc>
                <a:spcPts val="5000"/>
              </a:lnSpc>
              <a:buNone/>
            </a:pPr>
            <a:r>
              <a:rPr lang="en-US" sz="3800" b="1" dirty="0">
                <a:solidFill>
                  <a:srgbClr val="FFFFFF"/>
                </a:solidFill>
                <a:latin typeface="Cambria" pitchFamily="34" charset="0"/>
                <a:ea typeface="Cambria" pitchFamily="34" charset="-122"/>
                <a:cs typeface="Cambria" pitchFamily="34" charset="-120"/>
              </a:rPr>
              <a:t>A platform, with a deck about it.</a:t>
            </a:r>
            <a:endParaRPr lang="en-US" sz="3800" dirty="0"/>
          </a:p>
        </p:txBody>
      </p:sp>
      <p:sp>
        <p:nvSpPr>
          <p:cNvPr id="4" name="Text 2"/>
          <p:cNvSpPr/>
          <p:nvPr/>
        </p:nvSpPr>
        <p:spPr>
          <a:xfrm>
            <a:off x="594360" y="3200400"/>
            <a:ext cx="2560320" cy="777240"/>
          </a:xfrm>
          <a:prstGeom prst="rect">
            <a:avLst/>
          </a:prstGeom>
          <a:noFill/>
          <a:ln/>
        </p:spPr>
        <p:txBody>
          <a:bodyPr wrap="square" lIns="0" tIns="0" rIns="0" bIns="0" rtlCol="0" anchor="ctr"/>
          <a:lstStyle/>
          <a:p>
            <a:pPr indent="0" marL="0">
              <a:buNone/>
            </a:pPr>
            <a:r>
              <a:rPr lang="en-US" sz="4600" b="1" dirty="0">
                <a:solidFill>
                  <a:srgbClr val="E2001A"/>
                </a:solidFill>
                <a:latin typeface="Cambria" pitchFamily="34" charset="0"/>
                <a:ea typeface="Cambria" pitchFamily="34" charset="-122"/>
                <a:cs typeface="Cambria" pitchFamily="34" charset="-120"/>
              </a:rPr>
              <a:t>76</a:t>
            </a:r>
            <a:endParaRPr lang="en-US" sz="4600" dirty="0"/>
          </a:p>
        </p:txBody>
      </p:sp>
      <p:sp>
        <p:nvSpPr>
          <p:cNvPr id="5" name="Text 3"/>
          <p:cNvSpPr/>
          <p:nvPr/>
        </p:nvSpPr>
        <p:spPr>
          <a:xfrm>
            <a:off x="594360" y="3968496"/>
            <a:ext cx="2560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tests passing</a:t>
            </a:r>
            <a:endParaRPr lang="en-US" sz="1400" dirty="0"/>
          </a:p>
        </p:txBody>
      </p:sp>
      <p:sp>
        <p:nvSpPr>
          <p:cNvPr id="6" name="Text 4"/>
          <p:cNvSpPr/>
          <p:nvPr/>
        </p:nvSpPr>
        <p:spPr>
          <a:xfrm>
            <a:off x="594360" y="4242816"/>
            <a:ext cx="2560320" cy="27432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86% coverage</a:t>
            </a:r>
            <a:endParaRPr lang="en-US" sz="1150" dirty="0"/>
          </a:p>
        </p:txBody>
      </p:sp>
      <p:sp>
        <p:nvSpPr>
          <p:cNvPr id="7" name="Text 5"/>
          <p:cNvSpPr/>
          <p:nvPr/>
        </p:nvSpPr>
        <p:spPr>
          <a:xfrm>
            <a:off x="3383280" y="3200400"/>
            <a:ext cx="2560320" cy="777240"/>
          </a:xfrm>
          <a:prstGeom prst="rect">
            <a:avLst/>
          </a:prstGeom>
          <a:noFill/>
          <a:ln/>
        </p:spPr>
        <p:txBody>
          <a:bodyPr wrap="square" lIns="0" tIns="0" rIns="0" bIns="0" rtlCol="0" anchor="ctr"/>
          <a:lstStyle/>
          <a:p>
            <a:pPr indent="0" marL="0">
              <a:buNone/>
            </a:pPr>
            <a:r>
              <a:rPr lang="en-US" sz="4600" b="1" dirty="0">
                <a:solidFill>
                  <a:srgbClr val="E2001A"/>
                </a:solidFill>
                <a:latin typeface="Cambria" pitchFamily="34" charset="0"/>
                <a:ea typeface="Cambria" pitchFamily="34" charset="-122"/>
                <a:cs typeface="Cambria" pitchFamily="34" charset="-120"/>
              </a:rPr>
              <a:t>16</a:t>
            </a:r>
            <a:endParaRPr lang="en-US" sz="4600" dirty="0"/>
          </a:p>
        </p:txBody>
      </p:sp>
      <p:sp>
        <p:nvSpPr>
          <p:cNvPr id="8" name="Text 6"/>
          <p:cNvSpPr/>
          <p:nvPr/>
        </p:nvSpPr>
        <p:spPr>
          <a:xfrm>
            <a:off x="3383280" y="3968496"/>
            <a:ext cx="2560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 cases</a:t>
            </a:r>
            <a:endParaRPr lang="en-US" sz="1400" dirty="0"/>
          </a:p>
        </p:txBody>
      </p:sp>
      <p:sp>
        <p:nvSpPr>
          <p:cNvPr id="9" name="Text 7"/>
          <p:cNvSpPr/>
          <p:nvPr/>
        </p:nvSpPr>
        <p:spPr>
          <a:xfrm>
            <a:off x="3383280" y="4242816"/>
            <a:ext cx="2560320" cy="27432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all four scorers at 100%</a:t>
            </a:r>
            <a:endParaRPr lang="en-US" sz="1150" dirty="0"/>
          </a:p>
        </p:txBody>
      </p:sp>
      <p:sp>
        <p:nvSpPr>
          <p:cNvPr id="10" name="Text 8"/>
          <p:cNvSpPr/>
          <p:nvPr/>
        </p:nvSpPr>
        <p:spPr>
          <a:xfrm>
            <a:off x="6172200" y="3200400"/>
            <a:ext cx="2560320" cy="777240"/>
          </a:xfrm>
          <a:prstGeom prst="rect">
            <a:avLst/>
          </a:prstGeom>
          <a:noFill/>
          <a:ln/>
        </p:spPr>
        <p:txBody>
          <a:bodyPr wrap="square" lIns="0" tIns="0" rIns="0" bIns="0" rtlCol="0" anchor="ctr"/>
          <a:lstStyle/>
          <a:p>
            <a:pPr indent="0" marL="0">
              <a:buNone/>
            </a:pPr>
            <a:r>
              <a:rPr lang="en-US" sz="4600" b="1" dirty="0">
                <a:solidFill>
                  <a:srgbClr val="E2001A"/>
                </a:solidFill>
                <a:latin typeface="Cambria" pitchFamily="34" charset="0"/>
                <a:ea typeface="Cambria" pitchFamily="34" charset="-122"/>
                <a:cs typeface="Cambria" pitchFamily="34" charset="-120"/>
              </a:rPr>
              <a:t>2,561</a:t>
            </a:r>
            <a:endParaRPr lang="en-US" sz="4600" dirty="0"/>
          </a:p>
        </p:txBody>
      </p:sp>
      <p:sp>
        <p:nvSpPr>
          <p:cNvPr id="11" name="Text 9"/>
          <p:cNvSpPr/>
          <p:nvPr/>
        </p:nvSpPr>
        <p:spPr>
          <a:xfrm>
            <a:off x="6172200" y="3968496"/>
            <a:ext cx="2560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lines of Terraform</a:t>
            </a:r>
            <a:endParaRPr lang="en-US" sz="1400" dirty="0"/>
          </a:p>
        </p:txBody>
      </p:sp>
      <p:sp>
        <p:nvSpPr>
          <p:cNvPr id="12" name="Text 10"/>
          <p:cNvSpPr/>
          <p:nvPr/>
        </p:nvSpPr>
        <p:spPr>
          <a:xfrm>
            <a:off x="6172200" y="4242816"/>
            <a:ext cx="2560320" cy="27432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8 modules, 2 environments</a:t>
            </a:r>
            <a:endParaRPr lang="en-US" sz="1150" dirty="0"/>
          </a:p>
        </p:txBody>
      </p:sp>
      <p:sp>
        <p:nvSpPr>
          <p:cNvPr id="13" name="Text 11"/>
          <p:cNvSpPr/>
          <p:nvPr/>
        </p:nvSpPr>
        <p:spPr>
          <a:xfrm>
            <a:off x="8961120" y="3200400"/>
            <a:ext cx="2560320" cy="777240"/>
          </a:xfrm>
          <a:prstGeom prst="rect">
            <a:avLst/>
          </a:prstGeom>
          <a:noFill/>
          <a:ln/>
        </p:spPr>
        <p:txBody>
          <a:bodyPr wrap="square" lIns="0" tIns="0" rIns="0" bIns="0" rtlCol="0" anchor="ctr"/>
          <a:lstStyle/>
          <a:p>
            <a:pPr indent="0" marL="0">
              <a:buNone/>
            </a:pPr>
            <a:r>
              <a:rPr lang="en-US" sz="4600" b="1" dirty="0">
                <a:solidFill>
                  <a:srgbClr val="E2001A"/>
                </a:solidFill>
                <a:latin typeface="Cambria" pitchFamily="34" charset="0"/>
                <a:ea typeface="Cambria" pitchFamily="34" charset="-122"/>
                <a:cs typeface="Cambria" pitchFamily="34" charset="-120"/>
              </a:rPr>
              <a:t>21</a:t>
            </a:r>
            <a:endParaRPr lang="en-US" sz="4600" dirty="0"/>
          </a:p>
        </p:txBody>
      </p:sp>
      <p:sp>
        <p:nvSpPr>
          <p:cNvPr id="14" name="Text 12"/>
          <p:cNvSpPr/>
          <p:nvPr/>
        </p:nvSpPr>
        <p:spPr>
          <a:xfrm>
            <a:off x="8961120" y="3968496"/>
            <a:ext cx="256032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policy rules</a:t>
            </a:r>
            <a:endParaRPr lang="en-US" sz="1400" dirty="0"/>
          </a:p>
        </p:txBody>
      </p:sp>
      <p:sp>
        <p:nvSpPr>
          <p:cNvPr id="15" name="Text 13"/>
          <p:cNvSpPr/>
          <p:nvPr/>
        </p:nvSpPr>
        <p:spPr>
          <a:xfrm>
            <a:off x="8961120" y="4242816"/>
            <a:ext cx="2560320" cy="274320"/>
          </a:xfrm>
          <a:prstGeom prst="rect">
            <a:avLst/>
          </a:prstGeom>
          <a:noFill/>
          <a:ln/>
        </p:spPr>
        <p:txBody>
          <a:bodyPr wrap="square" lIns="0" tIns="0" rIns="0" bIns="0" rtlCol="0" anchor="ctr"/>
          <a:lstStyle/>
          <a:p>
            <a:pPr indent="0" marL="0">
              <a:buNone/>
            </a:pPr>
            <a:r>
              <a:rPr lang="en-US" sz="1150" dirty="0">
                <a:solidFill>
                  <a:srgbClr val="9BAABF"/>
                </a:solidFill>
                <a:latin typeface="Calibri" pitchFamily="34" charset="0"/>
                <a:ea typeface="Calibri" pitchFamily="34" charset="-122"/>
                <a:cs typeface="Calibri" pitchFamily="34" charset="-120"/>
              </a:rPr>
              <a:t>OPA, against the plan JSON</a:t>
            </a:r>
            <a:endParaRPr lang="en-US" sz="1150" dirty="0"/>
          </a:p>
        </p:txBody>
      </p:sp>
      <p:sp>
        <p:nvSpPr>
          <p:cNvPr id="16" name="Shape 14"/>
          <p:cNvSpPr/>
          <p:nvPr/>
        </p:nvSpPr>
        <p:spPr>
          <a:xfrm>
            <a:off x="594360" y="4846320"/>
            <a:ext cx="10881360" cy="0"/>
          </a:xfrm>
          <a:prstGeom prst="line">
            <a:avLst/>
          </a:prstGeom>
          <a:noFill/>
          <a:ln w="12700">
            <a:solidFill>
              <a:srgbClr val="2B3547"/>
            </a:solidFill>
            <a:prstDash val="solid"/>
          </a:ln>
        </p:spPr>
      </p:sp>
      <p:sp>
        <p:nvSpPr>
          <p:cNvPr id="17" name="Text 15"/>
          <p:cNvSpPr/>
          <p:nvPr/>
        </p:nvSpPr>
        <p:spPr>
          <a:xfrm>
            <a:off x="594360" y="5074920"/>
            <a:ext cx="10881360" cy="1005840"/>
          </a:xfrm>
          <a:prstGeom prst="rect">
            <a:avLst/>
          </a:prstGeom>
          <a:noFill/>
          <a:ln/>
        </p:spPr>
        <p:txBody>
          <a:bodyPr wrap="square" lIns="0" tIns="0" rIns="0" bIns="0" rtlCol="0" anchor="ctr"/>
          <a:lstStyle/>
          <a:p>
            <a:pPr indent="0" marL="0">
              <a:lnSpc>
                <a:spcPts val="2200"/>
              </a:lnSpc>
              <a:buNone/>
            </a:pPr>
            <a:r>
              <a:rPr lang="en-US" sz="1400" b="1" dirty="0">
                <a:solidFill>
                  <a:srgbClr val="FFFFFF"/>
                </a:solidFill>
                <a:latin typeface="Calibri" pitchFamily="34" charset="0"/>
                <a:ea typeface="Calibri" pitchFamily="34" charset="-122"/>
                <a:cs typeface="Calibri" pitchFamily="34" charset="-120"/>
              </a:rPr>
              <a:t>The hardest part of this role  </a:t>
            </a:r>
            <a:pPr indent="0" marL="0">
              <a:lnSpc>
                <a:spcPts val="2200"/>
              </a:lnSpc>
              <a:buNone/>
            </a:pPr>
            <a:r>
              <a:rPr lang="en-US" sz="1400" dirty="0">
                <a:solidFill>
                  <a:srgbClr val="9BAABF"/>
                </a:solidFill>
                <a:latin typeface="Calibri" pitchFamily="34" charset="0"/>
                <a:ea typeface="Calibri" pitchFamily="34" charset="-122"/>
                <a:cs typeface="Calibri" pitchFamily="34" charset="-120"/>
              </a:rPr>
              <a:t>is holding enablement against control without collapsing into either. Collapse toward control and nobody adopts it, so the AI happens anyway where you cannot see it. Collapse toward enablement and you get speed until the first incident, then a freeze that costs more than the caution would have.</a:t>
            </a:r>
            <a:endParaRPr lang="en-US" sz="1400" dirty="0"/>
          </a:p>
        </p:txBody>
      </p:sp>
      <p:sp>
        <p:nvSpPr>
          <p:cNvPr id="18" name="Text 16"/>
          <p:cNvSpPr/>
          <p:nvPr/>
        </p:nvSpPr>
        <p:spPr>
          <a:xfrm>
            <a:off x="594360" y="6108192"/>
            <a:ext cx="10881360" cy="329184"/>
          </a:xfrm>
          <a:prstGeom prst="rect">
            <a:avLst/>
          </a:prstGeom>
          <a:noFill/>
          <a:ln/>
        </p:spPr>
        <p:txBody>
          <a:bodyPr wrap="square" lIns="0" tIns="0" rIns="0" bIns="0" rtlCol="0" anchor="ctr"/>
          <a:lstStyle/>
          <a:p>
            <a:pPr indent="0" marL="0">
              <a:buNone/>
            </a:pPr>
            <a:r>
              <a:rPr lang="en-US" sz="1400" b="1" i="1" dirty="0">
                <a:solidFill>
                  <a:srgbClr val="E2001A"/>
                </a:solidFill>
                <a:latin typeface="Calibri" pitchFamily="34" charset="0"/>
                <a:ea typeface="Calibri" pitchFamily="34" charset="-122"/>
                <a:cs typeface="Calibri" pitchFamily="34" charset="-120"/>
              </a:rPr>
              <a:t>The way through is to make the safe path the fast path.</a:t>
            </a:r>
            <a:endParaRPr lang="en-US" sz="1400" dirty="0"/>
          </a:p>
        </p:txBody>
      </p:sp>
      <p:sp>
        <p:nvSpPr>
          <p:cNvPr id="19" name="Text 17"/>
          <p:cNvSpPr/>
          <p:nvPr/>
        </p:nvSpPr>
        <p:spPr>
          <a:xfrm>
            <a:off x="11018520" y="6382512"/>
            <a:ext cx="548640" cy="274320"/>
          </a:xfrm>
          <a:prstGeom prst="rect">
            <a:avLst/>
          </a:prstGeom>
          <a:noFill/>
          <a:ln/>
        </p:spPr>
        <p:txBody>
          <a:bodyPr wrap="square" lIns="0" tIns="0" rIns="0" bIns="0" rtlCol="0" anchor="ctr"/>
          <a:lstStyle/>
          <a:p>
            <a:pPr algn="r" indent="0" marL="0">
              <a:buNone/>
            </a:pPr>
            <a:r>
              <a:rPr lang="en-US" sz="1000" dirty="0">
                <a:solidFill>
                  <a:srgbClr val="4A587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Redcare Agentic AI Platform</dc:title>
  <dc:subject>PptxGenJS Presentation</dc:subject>
  <dc:creator>Mehreen Himani</dc:creator>
  <cp:lastModifiedBy>Mehreen Himani</cp:lastModifiedBy>
  <cp:revision>1</cp:revision>
  <dcterms:created xsi:type="dcterms:W3CDTF">2026-08-21T11:03:14Z</dcterms:created>
  <dcterms:modified xsi:type="dcterms:W3CDTF">2026-08-21T11:03:14Z</dcterms:modified>
</cp:coreProperties>
</file>