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6B7C93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6B7C93"/>
                </a:solidFill>
                <a:latin typeface="Calibri"/>
              </a:rPr>
              <a:t>Illustrative — same traffic mix, levers applied in order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1,000 turns (USD)</c:v>
                </c:pt>
              </c:strCache>
            </c:strRef>
          </c:tx>
          <c:spPr>
            <a:solidFill>
              <a:srgbClr val="A85B00"/>
            </a:solidFill>
            <a:effectLst/>
          </c:spPr>
          <c:invertIfNegative val="0"/>
          <c:dLbls>
            <c:numFmt formatCode="&quot;$&quot;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levers</c:v>
                  </c:pt>
                  <c:pt idx="1">
                    <c:v>+ tier routing</c:v>
                  </c:pt>
                  <c:pt idx="2">
                    <c:v>+ semantic cache</c:v>
                  </c:pt>
                  <c:pt idx="3">
                    <c:v>+ bounded context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12.4</c:v>
                </c:pt>
                <c:pt idx="2">
                  <c:v>8.6</c:v>
                </c:pt>
                <c:pt idx="3">
                  <c:v>7.1</c:v>
                </c:pt>
              </c:numCache>
            </c:numRef>
          </c:val>
        </c:ser>
        <c:dLbls>
          <c:numFmt formatCode="&quot;$&quot;0.0" sourceLinked="0"/>
          <c:txPr>
            <a:bodyPr/>
            <a:lstStyle/>
            <a:p>
              <a:pPr>
                <a:defRPr b="0" i="0" strike="noStrike" sz="1100" u="none">
                  <a:solidFill>
                    <a:srgbClr val="111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9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C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the architecture document turned into pictures. Same content, arranged so it can be studied rather than read. The one thing to hold onto is the colour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nothing else, remember that the gateway is the only path from any workload to any model. Every other guarantee the platform makes is enforced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right: customer, edge, agent, gateway, models. Then the two rails underneath — observability watching everything, governance constraining it. The agent's subnet denies internet egress, so the gateway is not a convention, it is the only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is the argument. Anyone can list these seven stages; being able to say why each sits where it does is the difference between describing a design and having made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vs buy: LiteLLM because it is open source — no lock-in on the most load-bearing component — genuinely multi-provider, has virtual keys and spend tracking built in, and self-hosts inside our VNet, which for Art. 9 health data is a requirement rather than a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routing decision you cannot explain is one you cannot debug and cannot defend in a cost review. The reason chain is returned on every turn and rendered in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console you can mark a deployment unhealthy and send another turn — the trace shows the failover hop and the reason. It is a ten-second reliability drill.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private DNS zone point is the one worth landing in an interview. A private endpoint without its zone still resolves publicly, so you believe you are private and you are not — and nothing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way to protect a credential is for it not to exist. That sentence covers OIDC federation, managed identity and virtual keys all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best 'tell me about a technical mistake' story in the whole project: a dependency cycle is usually a boundary drawn in the wrong place, and the fix belongs in the design rather than in a workaround.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Nightly drift detection runs a plan against both environments and opens an issue if it is not empty. Drift means something changed outside the pipeline — either an incident or a bug, and both are worth closing.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is a confused deputy with a credential. Design for the day it is fully persuaded — which is why least privilege on the tool surface matters more than any single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Redaction happens at the collector, not in each service — prompts can carry health data and a trace backend is not an approved store for it. Doing it at the collector means the guarantee holds for every service that ever exports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SLO without an error budget is a wish. Guardrail coverage is the one hard objective with a zero budget, and it is achievable because it is a property of the code path rather than of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Human-in-the-loop placement is the design decision: gate the side effect, not the reasoning. A rubber-stamp queue at 400 approvals an hour satisfies Art. 14 on paper and nothing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Budgets are enforced at the gateway before the provider is called, and mirrored in the app so a runaway loop stops itself. When the budget is gone the agent degrades to a human handover rather than an error page — a deliberate product decision about who absorbs the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able to say why you are not building something, in one sentence, is a stronger signal of product judgement than anything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console: ten minutes clicking through it does more than any slide, because they can see the guardrail refuse and the approval gate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REDCARE PHARMACY  · 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AI Platform,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drawn rather than described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diagram uses the same six-colour layer key. Learn it once on the next page and the rest of the deck reads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29968" y="4443984"/>
            <a:ext cx="237744" cy="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86000" y="41605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67328" y="4443984"/>
            <a:ext cx="237744" cy="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41605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4443984"/>
            <a:ext cx="237744" cy="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41605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5B34AF"/>
          </a:solidFill>
          <a:ln w="12700">
            <a:solidFill>
              <a:srgbClr val="5B34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56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4956048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4956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Mehreen Himani  ·  Product Manager, Agentic AI Platform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six colours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in this deck carries one of these colours. It tells you which layer owns the thing, and therefore who is accountable for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48256"/>
            <a:ext cx="146304" cy="146304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37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112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Door, WAF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80360" y="18379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hostile arrives here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0" y="1837944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with a WAF terminates TLS, filters OWASP and geo, and absorbs DDoS before anything reaches the VNet.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CEDEF"/>
          </a:solidFill>
          <a:ln w="12700">
            <a:solidFill>
              <a:srgbClr val="FCE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807208"/>
            <a:ext cx="146304" cy="146304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5968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Apps, the loop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80360" y="25968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reasoning happens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60720" y="2596896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running the plan/act loop. Holds no provider key and cannot reach the internet.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00984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566160"/>
            <a:ext cx="146304" cy="146304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355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80360" y="3355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to a model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60720" y="3355848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LiteLLM. Owns virtual keys, entitlement, rate limits, budgets, failover, caching and cost attribution.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59936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4325112"/>
            <a:ext cx="146304" cy="146304"/>
          </a:xfrm>
          <a:prstGeom prst="ellipse">
            <a:avLst/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OpenAI, Search, Postgres, Redis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8036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knowledge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760720" y="4114800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in two EU regions, AI Search for retrieval, Postgres for spend and transcripts, Redis for cache.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1888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0EBFA"/>
          </a:solidFill>
          <a:ln w="12700">
            <a:solidFill>
              <a:srgbClr val="F0E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5084064"/>
            <a:ext cx="146304" cy="146304"/>
          </a:xfrm>
          <a:prstGeom prst="ellipse">
            <a:avLst/>
          </a:prstGeom>
          <a:solidFill>
            <a:srgbClr val="5B34AF"/>
          </a:solidFill>
          <a:ln w="12700">
            <a:solidFill>
              <a:srgbClr val="5B34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873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OTel, Monitor, Grafana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8036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sees itself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760720" y="4873752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to Azure Monitor and Grafana. Four signal families, one trace per turn, an append-only audit table.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5843016"/>
            <a:ext cx="146304" cy="146304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5632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" y="5907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Entra, Key Vault, policy, HITL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80360" y="56327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defensible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760720" y="5632704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Key Vault, policy as code, and the human-approval gate on anything irreversible.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lines carry a request. Dotted lines carry telemetry. Nothing in the AI plane is reachable from the internet.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44546A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539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" y="252831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21488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EF1F5"/>
          </a:solidFill>
          <a:ln w="12700">
            <a:solidFill>
              <a:srgbClr val="44546A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22539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21992" y="252831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DDoS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874520"/>
            <a:ext cx="2286000" cy="1325880"/>
          </a:xfrm>
          <a:prstGeom prst="roundRect">
            <a:avLst>
              <a:gd name="adj" fmla="val 4138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2539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CareCopilot agent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13632" y="252831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verify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187452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BF1E3"/>
          </a:solidFill>
          <a:ln w="12700">
            <a:solidFill>
              <a:srgbClr val="A85B0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2539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25283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· budgets · failover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1572768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15727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88552" y="1847088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 Central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8567928" y="1856232"/>
            <a:ext cx="329184" cy="685800"/>
          </a:xfrm>
          <a:prstGeom prst="line">
            <a:avLst/>
          </a:prstGeom>
          <a:noFill/>
          <a:ln w="15875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2231136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22311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88552" y="2505456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Europe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V="1">
            <a:off x="8567928" y="2514600"/>
            <a:ext cx="329184" cy="27432"/>
          </a:xfrm>
          <a:prstGeom prst="line">
            <a:avLst/>
          </a:prstGeom>
          <a:noFill/>
          <a:ln w="15875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15400" y="2889504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06840" y="28895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88552" y="316382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inference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67928" y="2542032"/>
            <a:ext cx="329184" cy="630936"/>
          </a:xfrm>
          <a:prstGeom prst="line">
            <a:avLst/>
          </a:prstGeom>
          <a:noFill/>
          <a:ln w="15875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3977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SAP-OMS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H="1">
            <a:off x="1252728" y="3218688"/>
            <a:ext cx="3730752" cy="740664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121408" y="3977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12848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H="1">
            <a:off x="2825496" y="3218688"/>
            <a:ext cx="2157984" cy="740664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694176" y="3977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ABDA-DACON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 flipH="1">
            <a:off x="4398264" y="3218688"/>
            <a:ext cx="585216" cy="740664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266944" y="3977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58384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Search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218688"/>
            <a:ext cx="987552" cy="740664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839712" y="39776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3977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83480" y="3218688"/>
            <a:ext cx="2560320" cy="740664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48640" y="447141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— every tool declares what it touches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915400" y="379476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0EBFA"/>
          </a:solidFill>
          <a:ln w="12700">
            <a:solidFill>
              <a:srgbClr val="5B34AF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006840" y="39456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988552" y="4219956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Azure Monitor · Grafana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 table (7y)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83480" y="3218688"/>
            <a:ext cx="3904488" cy="804672"/>
          </a:xfrm>
          <a:prstGeom prst="line">
            <a:avLst/>
          </a:prstGeom>
          <a:noFill/>
          <a:ln w="15875">
            <a:solidFill>
              <a:srgbClr val="5B34AF"/>
            </a:solidFill>
            <a:prstDash val="dash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98080" y="3218688"/>
            <a:ext cx="1389888" cy="941832"/>
          </a:xfrm>
          <a:prstGeom prst="line">
            <a:avLst/>
          </a:prstGeom>
          <a:noFill/>
          <a:ln w="15875">
            <a:solidFill>
              <a:srgbClr val="5B34AF"/>
            </a:solidFill>
            <a:prstDash val="dash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8640" y="50749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5120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· Entra ID · managed identity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21792" y="5394960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secret exists anywhere in the chain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26480" y="507492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17920" y="5120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on side-effecting tools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199632" y="5394960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pharmacist ticket does not exist until someone approves 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38528" y="2542032"/>
            <a:ext cx="192024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538728" y="2542032"/>
            <a:ext cx="283464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144768" y="2542032"/>
            <a:ext cx="283464" cy="0"/>
          </a:xfrm>
          <a:prstGeom prst="line">
            <a:avLst/>
          </a:prstGeom>
          <a:noFill/>
          <a:ln w="20320">
            <a:solidFill>
              <a:srgbClr val="A85B00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48640" y="6044184"/>
            <a:ext cx="118872" cy="11887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989320"/>
            <a:ext cx="161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392680" y="6044184"/>
            <a:ext cx="118872" cy="118872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75560" y="5989320"/>
            <a:ext cx="161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236720" y="6044184"/>
            <a:ext cx="118872" cy="118872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19600" y="5989320"/>
            <a:ext cx="161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0760" y="6044184"/>
            <a:ext cx="118872" cy="118872"/>
          </a:xfrm>
          <a:prstGeom prst="ellipse">
            <a:avLst/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63640" y="5989320"/>
            <a:ext cx="161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924800" y="6044184"/>
            <a:ext cx="118872" cy="118872"/>
          </a:xfrm>
          <a:prstGeom prst="ellipse">
            <a:avLst/>
          </a:prstGeom>
          <a:solidFill>
            <a:srgbClr val="5B34AF"/>
          </a:solidFill>
          <a:ln w="12700">
            <a:solidFill>
              <a:srgbClr val="5B34A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07680" y="5989320"/>
            <a:ext cx="161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768840" y="6044184"/>
            <a:ext cx="118872" cy="118872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51720" y="5989320"/>
            <a:ext cx="161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PATH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every hop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take ibuprofen with warfarin?” — and what happens to it, in order.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120793" y="2514600"/>
            <a:ext cx="310896" cy="310896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793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0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costs $0.0001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classifier scores the turn trivial, standard or complex.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2130" y="2084832"/>
            <a:ext cx="109728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0146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1586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22299" y="2514600"/>
            <a:ext cx="310896" cy="310896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2299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50146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balanced tier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146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Entitlement, then tier, then health. The router returns the reason.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23637" y="2084832"/>
            <a:ext cx="109728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51653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3093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23806" y="2514600"/>
            <a:ext cx="310896" cy="31089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3806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51653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pre-flight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51653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daily cap and session ceiling checked before anything is spent.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25143" y="2084832"/>
            <a:ext cx="109728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53159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4599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25312" y="2514600"/>
            <a:ext cx="310896" cy="31089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53159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checks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53159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→ scope → PII redaction, before the model reads a word.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26649" y="2084832"/>
            <a:ext cx="109728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954665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6105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/ act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26818" y="2514600"/>
            <a:ext cx="310896" cy="310896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26818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54665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0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6 steps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54665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a tool, the tool runs, the result comes back. Repeat, bounded.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28155" y="2084832"/>
            <a:ext cx="109728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56171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7611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out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28325" y="2514600"/>
            <a:ext cx="310896" cy="31089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28325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56171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checks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56171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→ grounding → medical-advice policy → PII egress → disclosure.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029662" y="2084832"/>
            <a:ext cx="109728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57678" y="1783080"/>
            <a:ext cx="1455202" cy="603504"/>
          </a:xfrm>
          <a:prstGeom prst="roundRect">
            <a:avLst>
              <a:gd name="adj" fmla="val 9091"/>
            </a:avLst>
          </a:prstGeom>
          <a:solidFill>
            <a:srgbClr val="5B34AF"/>
          </a:solidFill>
          <a:ln w="12700">
            <a:solidFill>
              <a:srgbClr val="5B34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9118" y="1783080"/>
            <a:ext cx="12723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729831" y="2514600"/>
            <a:ext cx="310896" cy="310896"/>
          </a:xfrm>
          <a:prstGeom prst="ellipse">
            <a:avLst/>
          </a:prstGeom>
          <a:solidFill>
            <a:srgbClr val="5B34AF"/>
          </a:solidFill>
          <a:ln w="12700">
            <a:solidFill>
              <a:srgbClr val="5B34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29831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157678" y="2926080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3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trace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157678" y="3200400"/>
            <a:ext cx="14552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ledger, four metric families, append-only audit record.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709160"/>
            <a:ext cx="3611880" cy="1572768"/>
          </a:xfrm>
          <a:prstGeom prst="roundRect">
            <a:avLst>
              <a:gd name="adj" fmla="val 2907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873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before guardrails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49808" y="5175504"/>
            <a:ext cx="3246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cost CPU. A tenant already over budget should be refused before the platform spends anything on them — including its own compute.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361688" y="4709160"/>
            <a:ext cx="3611880" cy="1572768"/>
          </a:xfrm>
          <a:prstGeom prst="roundRect">
            <a:avLst>
              <a:gd name="adj" fmla="val 2907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62856" y="4873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before the model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62856" y="5175504"/>
            <a:ext cx="3246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has to be caught before the model reads it, and PII removed before the prompt leaves the VNet. An output-only guardrail already lost.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174736" y="4709160"/>
            <a:ext cx="3611880" cy="1572768"/>
          </a:xfrm>
          <a:prstGeom prst="roundRect">
            <a:avLst>
              <a:gd name="adj" fmla="val 2907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75904" y="4873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before the side effect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375904" y="5175504"/>
            <a:ext cx="3246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may read and draft freely. It stops before changing a system of record. That is EU AI Act Art. 14 as a code path.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CHOKE POINT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 call goes through one door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N codebases holding provider keys, N retry policies, no cost story, no way to revoke a team's access today.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care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1488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sk-carecopilot-prod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2157984"/>
            <a:ext cx="950976" cy="1133856"/>
          </a:xfrm>
          <a:prstGeom prst="line">
            <a:avLst/>
          </a:prstGeom>
          <a:noFill/>
          <a:ln w="12700">
            <a:solidFill>
              <a:srgbClr val="C9001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87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8620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sk-marketing-dev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62656" y="2871216"/>
            <a:ext cx="950976" cy="420624"/>
          </a:xfrm>
          <a:prstGeom prst="line">
            <a:avLst/>
          </a:prstGeom>
          <a:noFill/>
          <a:ln w="12700">
            <a:solidFill>
              <a:srgbClr val="C9001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300984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009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5753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sk-supply-dev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V="1">
            <a:off x="2962656" y="3291840"/>
            <a:ext cx="950976" cy="292608"/>
          </a:xfrm>
          <a:prstGeom prst="line">
            <a:avLst/>
          </a:prstGeom>
          <a:noFill/>
          <a:ln w="12700">
            <a:solidFill>
              <a:srgbClr val="C9001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01421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42885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sk-clinical-dev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2962656" y="3291840"/>
            <a:ext cx="950976" cy="1005840"/>
          </a:xfrm>
          <a:prstGeom prst="line">
            <a:avLst/>
          </a:prstGeom>
          <a:noFill/>
          <a:ln w="12700">
            <a:solidFill>
              <a:srgbClr val="C9001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77640" y="1874520"/>
            <a:ext cx="2331720" cy="2788920"/>
          </a:xfrm>
          <a:prstGeom prst="roundRect">
            <a:avLst>
              <a:gd name="adj" fmla="val 2353"/>
            </a:avLst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69080" y="20025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050792" y="227685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 · no bypass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0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virtual keys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30495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entitlement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rpm / tpm limits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34427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budgets, pre-call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retries + failover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38359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semantic cache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0" y="40325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cost attribution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0" y="42291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guardrail hooks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4425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OTel callbacks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95160" y="1874520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86600" y="18288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carecopilot-fast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68312" y="2103120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 · Sweden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V="1">
            <a:off x="6336792" y="2112264"/>
            <a:ext cx="630936" cy="1179576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995160" y="2450592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86600" y="24048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carecopilot-balanced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68312" y="267919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· Sweden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V="1">
            <a:off x="6336792" y="2688336"/>
            <a:ext cx="630936" cy="603504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995160" y="3026664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86600" y="2980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carecopilot-balanced-westeu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68312" y="325526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· West Europe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flipV="1">
            <a:off x="6336792" y="3264408"/>
            <a:ext cx="630936" cy="27432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995160" y="3602736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086600" y="35570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carecopilot-deep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68312" y="3831336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claude-sonnet-4-5 · EU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36792" y="3291840"/>
            <a:ext cx="630936" cy="548640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995160" y="4178808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086600" y="413308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carecopilot-embed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68312" y="4407408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text-embedding-3-large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36792" y="3291840"/>
            <a:ext cx="630936" cy="1124712"/>
          </a:xfrm>
          <a:prstGeom prst="line">
            <a:avLst/>
          </a:prstGeom>
          <a:noFill/>
          <a:ln w="1270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it is not a policy — it is a network property. The agent subnet denies internet egress and the agent holds no provider key, so it has exactly one route to a model. Tenants ask for 'carecopilot-balanced', never 'gpt-4o-2024-11-20', which is what makes swapping the model underneath a config change rather than a migration.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gates, in this order, always explained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first, cost second, reliability third. Reversing any two of these is a different platform.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Entitlement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key allowed this model?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798064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question, so it goes first. No performance consideration may override it — that is what makes the entitlement real rather than advisory.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87952" y="2057400"/>
            <a:ext cx="146304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1688" y="178308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783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Complexity tier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2450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model that can do the job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53128" y="2798064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scores the turn trivial / standard / complex. The mini tier is ~16× cheaper per token; the classifier that decides costs $0.0001 and pays for itself the first time it keeps a greeting off the deep model.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057400"/>
            <a:ext cx="146304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74736" y="178308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783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Health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74736" y="2450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chosen deployment cooling down?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66176" y="2798064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in the second EU region first. A different provider is the last resort, because a provider switch changes behaviour and behaviour changes need an eval run.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1572768"/>
          </a:xfrm>
          <a:prstGeom prst="roundRect">
            <a:avLst>
              <a:gd name="adj" fmla="val 3488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the trace can explain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59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 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F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trivial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59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 greeting with no information need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59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  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carecopilot-fast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59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azure/gpt-4o-mini @ swedencentral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59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     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5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scored the turn 'trivial' → downshift to fast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region goes 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EU regions and two providers. The second region is failover and a second quota pool — quota is allocated per region.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34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300837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26517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FBF1E3"/>
          </a:solidFill>
          <a:ln w="12700">
            <a:solidFill>
              <a:srgbClr val="A85B0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734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70632" y="300837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latency-based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4288" y="3017520"/>
            <a:ext cx="365760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178308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828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 Central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68112" y="21031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primary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V="1">
            <a:off x="4636008" y="2112264"/>
            <a:ext cx="731520" cy="905256"/>
          </a:xfrm>
          <a:prstGeom prst="line">
            <a:avLst/>
          </a:prstGeom>
          <a:noFill/>
          <a:ln w="22860">
            <a:solidFill>
              <a:srgbClr val="0E6E8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32104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269748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2743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Europe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68112" y="30175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same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36008" y="3017520"/>
            <a:ext cx="731520" cy="9144"/>
          </a:xfrm>
          <a:prstGeom prst="line">
            <a:avLst/>
          </a:prstGeom>
          <a:noFill/>
          <a:ln w="12700">
            <a:solidFill>
              <a:srgbClr val="0E6E80"/>
            </a:solidFill>
            <a:prstDash val="dash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3210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failover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361188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EU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68112" y="39319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36008" y="3017520"/>
            <a:ext cx="731520" cy="923544"/>
          </a:xfrm>
          <a:prstGeom prst="line">
            <a:avLst/>
          </a:prstGeom>
          <a:noFill/>
          <a:ln w="12700">
            <a:solidFill>
              <a:srgbClr val="0E6E80"/>
            </a:solidFill>
            <a:prstDash val="dash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321040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failover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before provider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828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in a second region keeps behaviour identical. A provider switch does not — so it is last, and it needs an eval run behind it.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61688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failures, 60s cooldown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4828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that fails three times is taken out of rotation for a minute, then probed again. 429s do not count: backpressure is not ill health.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74736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content fallbacks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74736" y="4828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too long for 128k routes to the 200k model. A provider content-filter block gets a second opinion rather than an error.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region is a single point of failure for every AI feature in the company. That is the whole argument for the second one — and it is also where the extra quota comes from.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public ingress, no unmonitored egress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shapes every other Azure decision. For a workload handling Art. 9 health data this is the baseline a DPO signs, not hardening.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4F8FB"/>
          </a:solidFill>
          <a:ln w="19050">
            <a:solidFill>
              <a:srgbClr val="0E6E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49808" y="1819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VNet  10.44.0.0/16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157984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58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snet-apps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1832" y="2514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/23 · delegated to Container Apps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1832" y="2825496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825496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carecopilot-agent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41832" y="3140964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140964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litellm-gateway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2157984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258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snet-private-endpoints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5152" y="2514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· one NIC per PaaS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45152" y="2825496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825496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Vault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3140964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140964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3456432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456432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45152" y="3771900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771900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4087368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408736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83880" y="2157984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2258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snet-data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48472" y="2514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· delegated to Postgres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48472" y="2825496"/>
            <a:ext cx="3145536" cy="265176"/>
          </a:xfrm>
          <a:prstGeom prst="roundRect">
            <a:avLst>
              <a:gd name="adj" fmla="val 2069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2825496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postgres-flexible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28016" cy="12801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47731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inbound from the internet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" y="5029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only from the Front Door subnet, on 443.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4846320"/>
            <a:ext cx="128016" cy="12801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47731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outbound to the internet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74536" y="5029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allowed to the AzureCloud service tag only — a compromised agent has nowhere to send data.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596128"/>
            <a:ext cx="128016" cy="128016"/>
          </a:xfrm>
          <a:prstGeom prst="ellipse">
            <a:avLst/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5522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 per dependency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68096" y="5779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Vault, OpenAI, Search, Redis, Postgres, ACR, Storage, Monitor.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5596128"/>
            <a:ext cx="128016" cy="128016"/>
          </a:xfrm>
          <a:prstGeom prst="ellipse">
            <a:avLst/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4536" y="5522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DNS zone for each one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74536" y="5779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the endpoint resolves to its public IP and traffic silently leaves the VNet — the most commonly missed control in Azure private networking, and it fails quietly.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long-lived secret anywhere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flows, and neither of them ends in a password sitting in a settings page.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Azure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run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65376" y="2468880"/>
            <a:ext cx="146304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29968" y="2194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219456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token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6704" y="2468880"/>
            <a:ext cx="146304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11296" y="2194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19456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2468880"/>
            <a:ext cx="146304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92624" y="2194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219456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852928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checks the token's subject against an exact federated credential — a different branch, environment or fork does not match and is rejected before any Azure call. The token lives minutes. Nothing exists to leak or rotate.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 → its secrets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1945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1945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73568" y="2468880"/>
            <a:ext cx="146304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21945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1945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56648" y="2468880"/>
            <a:ext cx="146304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21945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21945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285292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holds nothing. It presents a managed identity and Key Vault decides. The gateway and the agent have separate identities, so “the agent was compromised” and “the provider keys were compromised” stay different sentences.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187952"/>
            <a:ext cx="137160" cy="137160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identity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2416" y="4425696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on one resource group. Explicitly barred from granting Owner or User Access Administrator — no privilege-escalation path.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26280" y="4187952"/>
            <a:ext cx="137160" cy="137160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45736" y="4425696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Secrets User · AcrPull · Search Index Data Reader. Cannot read a provider key. Cannot change infrastructure.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4187952"/>
            <a:ext cx="137160" cy="137160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identity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49056" y="4425696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identity in the platform permitted to call the model endpoints. That is what makes the gateway's governance non-optional.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tenant holds a virtual key, not a provider key: revocable, budgeted, scoped, and rotatable without redeploying anything.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 graph is a design signal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modules, two environments, one dependency rule — and the bug that proved the rule.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17627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VNet, subnets, NSGs, 8 DNS zones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92608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identities, RBAC, OIDC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E8F4EC"/>
          </a:solidFill>
          <a:ln w="12700">
            <a:solidFill>
              <a:srgbClr val="15703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401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67588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Vault, secret slots, Defender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0" y="1874520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217627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Analytics, App Insights, alerts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66160" y="2624328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39312" y="292608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×2, Search, Postgres, Redis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3374136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E6F2F5"/>
          </a:solidFill>
          <a:ln w="12700">
            <a:solidFill>
              <a:srgbClr val="0E6E80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0" y="3401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39312" y="367588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env + ACR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0" y="1874520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56832" y="217627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LiteLLM container app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2624328"/>
            <a:ext cx="2788920" cy="621792"/>
          </a:xfrm>
          <a:prstGeom prst="roundRect">
            <a:avLst>
              <a:gd name="adj" fmla="val 8824"/>
            </a:avLst>
          </a:prstGeom>
          <a:solidFill>
            <a:srgbClr val="FCEDEF"/>
          </a:solidFill>
          <a:ln w="12700">
            <a:solidFill>
              <a:srgbClr val="C9001B"/>
            </a:solidFill>
            <a:prstDash val="solid"/>
          </a:ln>
          <a:effectLst>
            <a:outerShdw sx="100000" sy="100000" kx="0" ky="0" algn="bl" rotWithShape="0" blurRad="114300" dist="25400" dir="5400000">
              <a:srgbClr val="8FA0B5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292608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agents, as a map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64992" y="2487168"/>
            <a:ext cx="182880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2487168"/>
            <a:ext cx="182880" cy="0"/>
          </a:xfrm>
          <a:prstGeom prst="line">
            <a:avLst/>
          </a:prstGeom>
          <a:noFill/>
          <a:ln w="12700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48640" y="41605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41605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fabric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41605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5669280" cy="1554480"/>
          </a:xfrm>
          <a:prstGeom prst="roundRect">
            <a:avLst>
              <a:gd name="adj" fmla="val 3529"/>
            </a:avLst>
          </a:prstGeom>
          <a:solidFill>
            <a:srgbClr val="FCEDEF"/>
          </a:solidFill>
          <a:ln w="12700">
            <a:solidFill>
              <a:srgbClr val="FCED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718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that taught the boundary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" y="501091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needs a registry to pull from; the agents need the gateway's URL. Put the registry in compute and the environment in gateway and the two modules depend on each other — Terraform refuses to build a graph at all. The fix was not a workaround: the compute fabric is shared infrastructure both sit on, so it became its own module. Module boundaries follow ownership, not usage.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0" y="4572000"/>
            <a:ext cx="5120640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4718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and prod are the same code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48272" y="501091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differs is size and cost: smaller SKUs, no zone redundancy, scale-to-zero. What never differs is posture — private networking, managed identity, no public data access, guardrails on, audit on. If a control had to be switched on for production, dev would be the weak link an attacker uses.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path to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holds standing write access to the Azure subscriptions. The pipeline gets minutes of it, via OIDC.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26030" cy="548640"/>
          </a:xfrm>
          <a:prstGeom prst="roundRect">
            <a:avLst>
              <a:gd name="adj" fmla="val 10000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lint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test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3227832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538728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terraform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3849624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security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29534" y="2148840"/>
            <a:ext cx="219456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94710" y="1874520"/>
            <a:ext cx="2526030" cy="548640"/>
          </a:xfrm>
          <a:prstGeom prst="roundRect">
            <a:avLst>
              <a:gd name="adj" fmla="val 10000"/>
            </a:avLst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6150" y="187452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 PR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4438" y="2606040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terraform plan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4438" y="2916936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Checkov + tfsec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04438" y="3227832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OPA on plan JSON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04438" y="3538728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posted as a comment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75604" y="2148840"/>
            <a:ext cx="219456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40780" y="1874520"/>
            <a:ext cx="2526030" cy="548640"/>
          </a:xfrm>
          <a:prstGeom prst="roundRect">
            <a:avLst>
              <a:gd name="adj" fmla="val 10000"/>
            </a:avLst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2220" y="187452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main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0508" y="2606040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build + SBOM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0508" y="2916936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Trivy scan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0508" y="3227832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cosign sign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0508" y="3538728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dev deploy + smoke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21674" y="2148840"/>
            <a:ext cx="219456" cy="0"/>
          </a:xfrm>
          <a:prstGeom prst="line">
            <a:avLst/>
          </a:prstGeom>
          <a:noFill/>
          <a:ln w="15875">
            <a:solidFill>
              <a:srgbClr val="9AAAB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86850" y="1874520"/>
            <a:ext cx="2526030" cy="548640"/>
          </a:xfrm>
          <a:prstGeom prst="roundRect">
            <a:avLst>
              <a:gd name="adj" fmla="val 10000"/>
            </a:avLst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8290" y="1874520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96578" y="2606040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canary at 10%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96578" y="2916936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bake 15 min vs SLOs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96578" y="3227832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promote or roll back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96578" y="3538728"/>
            <a:ext cx="2306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2 approvers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279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eval job is a required check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" y="47731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non-deterministic system, unit tests prove the plumbing and evals prove the behaviour. Safety is thresholded at 1.00 — one miss fails the build.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61688" y="411480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62856" y="4279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the review artefact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62856" y="47731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approves a diff of resources, not a diff of HCL. Those are different things, and the gap between them is where production surprises live.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74736" y="411480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75904" y="4279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a traffic weight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75904" y="47731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no rebuild. A rollback that needs a rebuild is not a rollback, it is a hope.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pipelines the tenant never writes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so a team does not have to reimplement PII redaction to ship. They get it by adopting the paved road.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2880360"/>
          </a:xfrm>
          <a:prstGeom prst="roundRect">
            <a:avLst>
              <a:gd name="adj" fmla="val 1905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pipeline — before the model reads a word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checks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prompt_injection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9476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override, exfiltration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topic_policy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743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9476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pharmacy support scope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pii_redaction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3200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redact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9476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IBAN, email, phone, card, DOB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5532120" cy="2880360"/>
          </a:xfrm>
          <a:prstGeom prst="roundRect">
            <a:avLst>
              <a:gd name="adj" fmla="val 1905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pipeline — before the customer sees 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1955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checks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secret_leak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41080" y="2286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509760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credential-shaped strings in the answer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41080" y="2743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50976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traced to a tool observation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medical_advice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41080" y="3200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0976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individualised clinical instruction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pii_egress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41080" y="3657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redact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09760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on the way back out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4114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41080" y="4114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09760" y="4114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Art. 50, on every reply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CEDEF"/>
          </a:solidFill>
          <a:ln w="12700">
            <a:solidFill>
              <a:srgbClr val="FCE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boundary that matters most in an agentic system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2960" y="5321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is data, never instruction. A policy document, an order note or a product description can carry text engineered to look like a system prompt — that is indirect prompt injection, and it is the hard one. There is no complete defence, so the strategy is layered: detect it, treat tool content as data, and constrain the agent so a successful injection has nowhere to go.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families, and one trace with four readers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be fast, return 200, and still be wrong, ungrounded, unaffordable or looping. Classic APM covers only the first row.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02536"/>
            <a:ext cx="155448" cy="155448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1929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service up?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225856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agent_requests_total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agent_request_duration_seconds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agent_errors_total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5321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002536"/>
            <a:ext cx="155448" cy="155448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23960" y="1929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behaving?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30568" y="225856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agent_steps_per_turn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agent_tool_calls_total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agent_loop_termination_total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5321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19856"/>
            <a:ext cx="155448" cy="155448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310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346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15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right?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24128" y="367588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agent_groundedness_ratio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guardrail_firings_total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agent_eval_score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3200400"/>
            <a:ext cx="55321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419856"/>
            <a:ext cx="155448" cy="155448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3310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3960" y="3346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A8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affordable?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30568" y="367588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llm_cost_usd_per_turn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llm_cache_events_total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llm_budget_remaining_usd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0EBFA"/>
          </a:solidFill>
          <a:ln w="12700">
            <a:solidFill>
              <a:srgbClr val="F0E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91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trace, four readers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138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394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debugging artefact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11880" y="5138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11880" y="5394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signal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5138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0" y="5394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line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89720" y="5138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89720" y="5394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record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SLOs when the output is not deterministic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promise any individual answer is right. You can promise a rate, measure it, and put an error budget behind it.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03920" y="1828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11064240" cy="9144"/>
          </a:xfrm>
          <a:prstGeom prst="rect">
            <a:avLst/>
          </a:prstGeom>
          <a:solidFill>
            <a:srgbClr val="E3E9F1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128016" cy="128016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194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availability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1945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2194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43.2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11064240" cy="9144"/>
          </a:xfrm>
          <a:prstGeom prst="rect">
            <a:avLst/>
          </a:prstGeom>
          <a:solidFill>
            <a:srgbClr val="E3E9F1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71216"/>
            <a:ext cx="128016" cy="128016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761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turn latency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&lt; 4.0s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43.2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55264"/>
            <a:ext cx="11064240" cy="9144"/>
          </a:xfrm>
          <a:prstGeom prst="rect">
            <a:avLst/>
          </a:prstGeom>
          <a:solidFill>
            <a:srgbClr val="E3E9F1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438144"/>
            <a:ext cx="128016" cy="12801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328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33284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97% grounded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3284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33284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302.4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822192"/>
            <a:ext cx="11064240" cy="9144"/>
          </a:xfrm>
          <a:prstGeom prst="rect">
            <a:avLst/>
          </a:prstGeom>
          <a:solidFill>
            <a:srgbClr val="E3E9F1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05072"/>
            <a:ext cx="128016" cy="128016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3895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coverage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of turns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8953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38953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4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37360" y="4846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14.4× burn over 1 hour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7240" y="515721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the 30-day budget gone within the hour. Somebody wakes up.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470916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43800" y="4846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burn over 6 hours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83680" y="515721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that will exhaust the budget this week. A single threshold catches one of these and misses the other.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articles, four code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that exists only in a document drifts. Each of these is a runtime object the service exposes.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85800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1874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guardrails.ensure_disclaimer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carries an AI disclosure and a non-advice notice.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85800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79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Record-keeping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telemetry.record_audit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990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table, 7-year retention in the archive tier.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685800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021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 HITL gate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813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Side-effecting tools blocked behind an explicit human approval.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685800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robustness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4343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7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evals.suite.THRESHOLDS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636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scorer plus a CI eval gate at 0.95.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1783080"/>
            <a:ext cx="3931920" cy="3273552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36992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7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risk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936992" y="2724912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customer-facing informational assistant. Not a medical device and not diagnostic, because every clinical judgement is routed to a registered pharmacist — which keeps it out of Annex III.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36992" y="3931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is a decision, made on the record. The moment the agent could give a dose, it is a different tier with a conformity assessment attached.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Art. 9 special-category data · basis 6(1)(b) + 9(2)(h) · EU-only residency enforced twice, by a Terraform variable validation and an OPA policy · redaction before the model call · transcripts 90 days, audit 7 years.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turn is the number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 proxy for it. Four levers, in the order I would pull them.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801368"/>
            <a:ext cx="292608" cy="292608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9516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95160" y="20756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greeting on the mini tier is ~16× cheaper per token than the flagship. The classifier that decides costs $0.0001.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83680" y="2807208"/>
            <a:ext cx="292608" cy="292608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9516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95160" y="30815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my order”, “order status?” and “has it shipped” are one question. 25-35% hit rates are ordinary in support.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0" y="3813048"/>
            <a:ext cx="292608" cy="292608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9516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95160" y="40873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window stops prompt growth across a long session — the quiet cause of most cost regressions.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0" y="4818888"/>
            <a:ext cx="292608" cy="292608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4818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9516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95160" y="50932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request, per session, per tenant per day. A runaway loop stops itself; the gateway is the backstop.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resolved conversation, not per call — an agent that is cheap per call and never resolves anything is expensive. The reflex to resist in a cost incident is “move everyone to a cheaper model”: that trades a cost problem you can see for a quality problem you cannot.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deliberately not 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“not yet” with a stated trigger, not a “never”. Knowing what you are not building is most of platform product management.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56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framework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that need to coordinate usually mean one workflow was decomposed wrong. Earn it with a real case.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56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pipeline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prompting exhaust their headroom long before fine-tuning is the cheapest next move — and it brings a permanent lifecycle with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284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models on GPUs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only work at a volume Redcare does not have yet, and it moves a large operational burden onto a small team.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320040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3284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 vector database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covers hybrid retrieval and is already inside the security perimeter.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00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covers the requirements. AKS is a second product to operate, and the exit stays cheap because the unit of deployment is a plain OCI image.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57200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700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protocols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5029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standards are still moving. Committing early is expensive to undo.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9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SIXTY-SECOND 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remember eight things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A85B00"/>
          </a:solidFill>
          <a:ln w="12700">
            <a:solidFill>
              <a:srgbClr val="A85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28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 the whole thesis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213969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path to a model, which is what makes budgets, entitlement, failover, caching, cost attribution and audit enforceable rather than advisory.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911096"/>
            <a:ext cx="146304" cy="146304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828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is the argument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1112" y="213969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before guardrails. Guardrails before the model. Approval before the side effect.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146304" cy="146304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44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side effect, not the reasoning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255264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draft freely; stop before changing a system of record. Art. 14 as a code path.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3026664"/>
            <a:ext cx="146304" cy="146304"/>
          </a:xfrm>
          <a:prstGeom prst="ellipse">
            <a:avLst/>
          </a:prstGeom>
          <a:solidFill>
            <a:srgbClr val="15703C"/>
          </a:solidFill>
          <a:ln w="12700">
            <a:solidFill>
              <a:srgbClr val="157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2944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are the release gate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1112" y="3255264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prove the plumbing, evals prove the behaviour. Safety thresholded at 1.00.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146304" cy="146304"/>
          </a:xfrm>
          <a:prstGeom prst="ellipse">
            <a:avLst/>
          </a:prstGeom>
          <a:solidFill>
            <a:srgbClr val="5B34AF"/>
          </a:solidFill>
          <a:ln w="12700">
            <a:solidFill>
              <a:srgbClr val="5B34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599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 families, not one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4672" y="437083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Up, behaving, right, affordable. A platform that ships only RED is trusted until the first bad answer.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4142232"/>
            <a:ext cx="146304" cy="146304"/>
          </a:xfrm>
          <a:prstGeom prst="ellipse">
            <a:avLst/>
          </a:prstGeom>
          <a:solidFill>
            <a:srgbClr val="0E6E80"/>
          </a:solidFill>
          <a:ln w="12700">
            <a:solidFill>
              <a:srgbClr val="0E6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40599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before provider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11112" y="437083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keeps behaviour identical first. A provider switch changes behaviour and needs an eval run.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46304" cy="146304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1755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ingress, no unmonitored egress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54864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private DNS zone for every private endpoint, or the traffic quietly leaves the VNet.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5257800"/>
            <a:ext cx="146304" cy="146304"/>
          </a:xfrm>
          <a:prstGeom prst="ellipse">
            <a:avLst/>
          </a:prstGeom>
          <a:solidFill>
            <a:srgbClr val="C9001B"/>
          </a:solidFill>
          <a:ln w="12700">
            <a:solidFill>
              <a:srgbClr val="C900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51755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resolved conversation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11112" y="54864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C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 call. An agent that is cheap per call and never resolves anything is expensive.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Redcare Agentic AI Platform — Architecture</dc:title>
  <dc:subject>PptxGenJS Presentation</dc:subject>
  <dc:creator>Mehreen Himani</dc:creator>
  <cp:lastModifiedBy>Mehreen Himani</cp:lastModifiedBy>
  <cp:revision>1</cp:revision>
  <dcterms:created xsi:type="dcterms:W3CDTF">2026-08-22T08:16:16Z</dcterms:created>
  <dcterms:modified xsi:type="dcterms:W3CDTF">2026-08-22T08:16:16Z</dcterms:modified>
</cp:coreProperties>
</file>